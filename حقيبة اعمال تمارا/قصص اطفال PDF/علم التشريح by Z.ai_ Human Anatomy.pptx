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قدّم نفسك بإيجاز وافٍ في البداية
- صعّد العرض كرحلة بصرية عبر بنية الجسم
- ذكر أن العرض يتكوّن من 14 شريحة
- ادعُ الجمهور لطرح الأسئلة في النهاية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ميّز بين علم التشريح (البنية) وعلم الوظائف (الفسيولوجيا)
- اذكر أندرياس فيزاليوس 1543 كأب للتشريح الحديث
- اشرح لماذا التشريح أساس كل العلوم الطبية
- وضّح أن الفروع الأربعة تتكامل ولا تنفصل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شدّد على مبدأ "البنية تحدد الوظيفة"
- ذكر رقم 37 تريليون خلية في جسم الإنسان
- وضّح أن كل مستوى ينبثق من سابقه
- اربط المثال: خلية → نسيج → عضل → جهاز → كائن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الخلية هي أصغر وحدة حية في الجسم
- للجسم أربعة أنواع من الأنسجة: طلائي، ضام، عضلي، عصبي
- كل الأعضاء هي تركيبات من هذه الأنسجة الأربعة
- اربط الرقم 200+ نوع خلوي بالتخصص الوظيفي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انتقال من المستوى المجهري (الخلايا) إلى المستوى الكلي (الأجهزة)
- الجسم يحوي 11 جهازاً حيوياً متكاملاً
- سنغطي في هذا القسم 6 أجهزة رئيسية
- مهّد لفكرة أن الأجهزة تتكامل لا تعزل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الأطفال يولدون بـ 270 عظمة تندمج تدريجياً لتصبح 206 عند البالغين.
 • أصغر عظمة في الجسم هي الركابية في الأذن الوسطى (~3 ملم).
 • أكبر عظمة هي عظمة الفخذ (الورك)، الأقوى والأطول.
 • العظام تشكّل نحو 15% من وزن الجسم الكلي.
 • يُجدّد الهيكل العظمي بالكامل كل ~10 سنوات عبر إعادة التشكّل.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العضلات تُولّد نحو 85% من حرارة الجسم أثناء النشاط.
 • الابتسامة تستخدم 17 عضلة، مقابل 43 عضلة للعبوس.
 • العضلة القلبية لا تتعب أبداً — تعمل دون توقف مدى الحياة.
 • يستغرق الشعور بالألم العضلي 24-72 ساعة للظهور بعد التمرين.
 • أكثر من 600 عضلة هيكلية في جسم الإنسان البالغ.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ينبض القلب نحو 2.5 مليار مرة خلال 70 سنة من العمر.
 • تكمل الدورة الدموية الكاملة دورتها في الجسم خلال ~60 ثانية.
 • خلايا الدم الحمراء تعيش نحو 120 يوماً ثم تُستبدل.
 • القلب يضخ ~7,500 لتر من الدم يومياً عبر الجسم.
 • الشعيرات الدموية هي الأوعية الأكثر عدداً والأرفع جداً.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الرئة اليمنى تحتوي على 3 فصوص، واليسرى على فصّين لإفساح مكان للقلب.
 • مساحة سطح الحويصلات الهوائية (~70 م²) تعادل ملعب تنس تقريباً.
 • نتنفّس نحو 11,000 لتر من الهواء يومياً دون وعي.
 • التنهيدة تجمع بين التنفس والتعبير الانفعالي.
 • تبدأ الرئتان في التطور في الأسبوع الرابع من الحمل.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يستهلك الدماغ ~20% من طاقة الجسم رغم أنه يمثّل 2% فقط من وزنه.
 • تصل سرعة الإشارة العصبية إلى 268 ميل/ساعة في الأعصاب السريعة.
 • لكل خلية عصبية 1,000+ مشترك (روابط) مع خلايا أخرى.
 • الدماغ يُنشّط نحو 86 مليار خلية عصبية وتريليونات الروابط.
 • يستطيع الدماغ معالجة المعلومات في ~13 مللي ثانية فقط.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بطانة المعدة تتجدد كل 3-4 أيام وإلا هضمت المعدة نفسها.
 • الكبد أكبر غدة داخلية في الجسم (~1.5 كغ).
 • الزغابات المعوية تكبّر سطح الامتصاص نحو 600 مرة.
 • ذكّر بأن الرحلة تستغرق 24-72 ساعة من الفم للنهاية.
 • أكّد أن 90% من الامتصاص يتم في الأمعاء الدقيقة.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عرّف الاستتباب: حفظ بيئة داخلية مستقرة رغم التغيرات الخارجية.
 • اذكر آلية التغذية الراجعة السلبية كأساس للاستتباب.
 • استخدم تشبيه منظم الحرارة (الثرموستات) لتبسيط الفكرة.
 • مرض السكري مثال واضح لفشل الاستتباب (سكر الدم).
 • أكّد أن الجهاز العصبي سريع والهرموني بطيء لكن أطول أثراً.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ألقِ حقيقة ممتعة واحدة لكل بطاقة لإبقاء الحضور منتبهين.
 • ذكّر بأن طول الأوعية يلف حول الأرض 2.5 مرة.
 • القلب ينبض 2.5 مليار مرة في 70 سنة دون توقف.
 • لكل خلية عصبية 1000-10000 اتصال = تريليونات الروابط.
 • أشر إلى أن DNA الخلية الواحدة بطول ~2 متر، وشدّه كله يصل للنظام الشمسي ذهاباً وإياباً.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ادعُ الحضور لطرح أسئلتهم بصراحة.
 • اذكر موضوع الجلسة القادمة: وظائف الأعضاء (Physiology).
 • اشكر الحضور على حسن الإصغاء والصبر.
 • وجّه لقراءة Gray's Anatomy for Students للتعمق.
 • ذكّر بمصادر الصور الموثوقة المعتمدة في العرض.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5F9"/>
        </a:solidFill>
      </p:bgPr>
    </p:bg>
    <p:spTree>
      <p:nvGrpSpPr>
        <p:cNvPr id="1" name=""/>
        <p:cNvGrpSpPr/>
        <p:nvPr/>
      </p:nvGrpSpPr>
      <p:grpSpPr>
        <a:xfrm>
          <a:off x="0" y="0"/>
          <a:ext cx="0" cy="0"/>
          <a:chOff x="0" y="0"/>
          <a:chExt cx="0" cy="0"/>
        </a:xfrm>
      </p:grpSpPr>
      <p:sp>
        <p:nvSpPr>
          <p:cNvPr id="2" name="Text 0"/>
          <p:cNvSpPr/>
          <p:nvPr/>
        </p:nvSpPr>
        <p:spPr>
          <a:xfrm>
            <a:off x="3840547" y="0"/>
            <a:ext cx="5303453" cy="5143500"/>
          </a:xfrm>
          <a:prstGeom prst="rect">
            <a:avLst/>
          </a:prstGeom>
          <a:solidFill>
            <a:srgbClr val="F1F5F9"/>
          </a:solidFill>
          <a:ln/>
        </p:spPr>
        <p:txBody>
          <a:bodyPr wrap="square" rtlCol="0" anchor="ctr"/>
          <a:lstStyle/>
          <a:p>
            <a:pPr indent="0" marL="0">
              <a:buNone/>
            </a:pPr>
            <a:endParaRPr lang="en-US" dirty="0"/>
          </a:p>
        </p:txBody>
      </p:sp>
      <p:sp>
        <p:nvSpPr>
          <p:cNvPr id="3" name="Text 1"/>
          <p:cNvSpPr/>
          <p:nvPr/>
        </p:nvSpPr>
        <p:spPr>
          <a:xfrm>
            <a:off x="7483547" y="629131"/>
            <a:ext cx="1168963" cy="264919"/>
          </a:xfrm>
          <a:prstGeom prst="roundRect">
            <a:avLst>
              <a:gd name="adj" fmla="val 3591843"/>
            </a:avLst>
          </a:prstGeom>
          <a:solidFill>
            <a:srgbClr val="FEE2E2"/>
          </a:solidFill>
          <a:ln w="7144">
            <a:solidFill>
              <a:srgbClr val="DC2626"/>
            </a:solidFill>
            <a:prstDash val="solid"/>
          </a:ln>
        </p:spPr>
        <p:txBody>
          <a:bodyPr wrap="square" rtlCol="0" anchor="ctr"/>
          <a:lstStyle/>
          <a:p>
            <a:pPr indent="0" marL="0">
              <a:buNone/>
            </a:pPr>
            <a:endParaRPr lang="en-US" dirty="0"/>
          </a:p>
        </p:txBody>
      </p:sp>
      <p:sp>
        <p:nvSpPr>
          <p:cNvPr id="4" name="Text 2"/>
          <p:cNvSpPr/>
          <p:nvPr/>
        </p:nvSpPr>
        <p:spPr>
          <a:xfrm>
            <a:off x="8393906" y="697297"/>
            <a:ext cx="128588" cy="128588"/>
          </a:xfrm>
          <a:prstGeom prst="rect">
            <a:avLst/>
          </a:prstGeom>
          <a:noFill/>
          <a:ln/>
        </p:spPr>
        <p:txBody>
          <a:bodyPr wrap="none" lIns="0" tIns="0" rIns="0" bIns="0" rtlCol="0" anchor="ctr"/>
          <a:lstStyle/>
          <a:p>
            <a:pPr algn="ctr" indent="0" marL="0">
              <a:buNone/>
            </a:pPr>
            <a:r>
              <a:rPr lang="en-US" sz="1266" dirty="0">
                <a:solidFill>
                  <a:srgbClr val="DC2626"/>
                </a:solidFill>
                <a:latin typeface="Segoe UI Symbol" pitchFamily="34" charset="0"/>
                <a:ea typeface="Segoe UI Symbol" pitchFamily="34" charset="-122"/>
                <a:cs typeface="Segoe UI Symbol" pitchFamily="34" charset="-120"/>
              </a:rPr>
              <a:t>✚</a:t>
            </a:r>
            <a:endParaRPr lang="en-US" sz="1266" dirty="0"/>
          </a:p>
        </p:txBody>
      </p:sp>
      <p:sp>
        <p:nvSpPr>
          <p:cNvPr id="5" name="Text 3"/>
          <p:cNvSpPr/>
          <p:nvPr/>
        </p:nvSpPr>
        <p:spPr>
          <a:xfrm>
            <a:off x="7613563" y="691939"/>
            <a:ext cx="908931" cy="139303"/>
          </a:xfrm>
          <a:prstGeom prst="rect">
            <a:avLst/>
          </a:prstGeom>
          <a:noFill/>
          <a:ln/>
        </p:spPr>
        <p:txBody>
          <a:bodyPr wrap="none" lIns="0" tIns="0" rIns="0" bIns="0" rtlCol="0" anchor="t"/>
          <a:lstStyle/>
          <a:p>
            <a:pPr algn="l" indent="0" marL="0">
              <a:lnSpc>
                <a:spcPts val="1097"/>
              </a:lnSpc>
              <a:buNone/>
            </a:pPr>
            <a:r>
              <a:rPr lang="en-US" sz="800" dirty="0">
                <a:solidFill>
                  <a:srgbClr val="DC2626"/>
                </a:solidFill>
                <a:latin typeface="Carlito" pitchFamily="34" charset="0"/>
                <a:ea typeface="Carlito" pitchFamily="34" charset="-122"/>
                <a:cs typeface="Carlito" pitchFamily="34" charset="-120"/>
              </a:rPr>
              <a:t>عرض طبي تعليمي</a:t>
            </a:r>
            <a:endParaRPr lang="en-US" sz="800" dirty="0"/>
          </a:p>
        </p:txBody>
      </p:sp>
      <p:sp>
        <p:nvSpPr>
          <p:cNvPr id="6" name="Text 4"/>
          <p:cNvSpPr/>
          <p:nvPr/>
        </p:nvSpPr>
        <p:spPr>
          <a:xfrm>
            <a:off x="4354897" y="1038411"/>
            <a:ext cx="4274753" cy="1228305"/>
          </a:xfrm>
          <a:prstGeom prst="rect">
            <a:avLst/>
          </a:prstGeom>
          <a:noFill/>
          <a:ln/>
        </p:spPr>
        <p:txBody>
          <a:bodyPr wrap="none" lIns="0" tIns="0" rIns="0" bIns="0" rtlCol="0" anchor="t">
            <a:normAutofit/>
          </a:bodyPr>
          <a:lstStyle/>
          <a:p>
            <a:pPr algn="l" indent="0" marL="0">
              <a:lnSpc>
                <a:spcPts val="4607"/>
              </a:lnSpc>
              <a:buNone/>
            </a:pPr>
            <a:r>
              <a:rPr lang="en-US" sz="4388" b="1" spc="-44" kern="0" dirty="0">
                <a:solidFill>
                  <a:srgbClr val="1E40AF"/>
                </a:solidFill>
                <a:latin typeface="Carlito" pitchFamily="34" charset="0"/>
                <a:ea typeface="Carlito" pitchFamily="34" charset="-122"/>
                <a:cs typeface="Carlito" pitchFamily="34" charset="-120"/>
              </a:rPr>
              <a:t>علم التشريح البشري</a:t>
            </a:r>
            <a:endParaRPr lang="en-US" sz="4388" dirty="0"/>
          </a:p>
        </p:txBody>
      </p:sp>
      <p:sp>
        <p:nvSpPr>
          <p:cNvPr id="7" name="Text 5"/>
          <p:cNvSpPr/>
          <p:nvPr/>
        </p:nvSpPr>
        <p:spPr>
          <a:xfrm>
            <a:off x="4354897" y="2294148"/>
            <a:ext cx="4384481" cy="208312"/>
          </a:xfrm>
          <a:prstGeom prst="rect">
            <a:avLst/>
          </a:prstGeom>
          <a:noFill/>
          <a:ln/>
        </p:spPr>
        <p:txBody>
          <a:bodyPr wrap="square" lIns="0" tIns="0" rIns="0" bIns="0" rtlCol="0" anchor="t"/>
          <a:lstStyle/>
          <a:p>
            <a:pPr algn="l" indent="0" marL="0">
              <a:lnSpc>
                <a:spcPts val="1519"/>
              </a:lnSpc>
              <a:buNone/>
            </a:pPr>
            <a:r>
              <a:rPr lang="en-US" sz="1013" i="1" spc="10" kern="0" dirty="0">
                <a:solidFill>
                  <a:srgbClr val="64748B"/>
                </a:solidFill>
                <a:latin typeface="Carlito" pitchFamily="34" charset="0"/>
                <a:ea typeface="Carlito" pitchFamily="34" charset="-122"/>
                <a:cs typeface="Carlito" pitchFamily="34" charset="-120"/>
              </a:rPr>
              <a:t>Human Anatomy — A Visual Journey Through the Body</a:t>
            </a:r>
            <a:endParaRPr lang="en-US" sz="1013" dirty="0"/>
          </a:p>
        </p:txBody>
      </p:sp>
      <p:sp>
        <p:nvSpPr>
          <p:cNvPr id="8" name="Text 6"/>
          <p:cNvSpPr/>
          <p:nvPr/>
        </p:nvSpPr>
        <p:spPr>
          <a:xfrm>
            <a:off x="8229600" y="2644192"/>
            <a:ext cx="400050" cy="28575"/>
          </a:xfrm>
          <a:prstGeom prst="roundRect">
            <a:avLst>
              <a:gd name="adj" fmla="val 66667"/>
            </a:avLst>
          </a:prstGeom>
          <a:solidFill>
            <a:srgbClr val="DC2626"/>
          </a:solidFill>
          <a:ln/>
        </p:spPr>
        <p:txBody>
          <a:bodyPr wrap="square" rtlCol="0" anchor="ctr"/>
          <a:lstStyle/>
          <a:p>
            <a:pPr indent="0" marL="0">
              <a:buNone/>
            </a:pPr>
            <a:endParaRPr lang="en-US" dirty="0"/>
          </a:p>
        </p:txBody>
      </p:sp>
      <p:sp>
        <p:nvSpPr>
          <p:cNvPr id="9" name="Text 7"/>
          <p:cNvSpPr/>
          <p:nvPr/>
        </p:nvSpPr>
        <p:spPr>
          <a:xfrm>
            <a:off x="4486275" y="2829930"/>
            <a:ext cx="4143375" cy="729091"/>
          </a:xfrm>
          <a:prstGeom prst="rect">
            <a:avLst/>
          </a:prstGeom>
          <a:noFill/>
          <a:ln/>
        </p:spPr>
        <p:txBody>
          <a:bodyPr wrap="square" lIns="0" tIns="0" rIns="0" bIns="0" rtlCol="0" anchor="t"/>
          <a:lstStyle/>
          <a:p>
            <a:pPr algn="l" indent="0" marL="0">
              <a:lnSpc>
                <a:spcPts val="1772"/>
              </a:lnSpc>
              <a:buNone/>
            </a:pPr>
            <a:r>
              <a:rPr lang="en-US" sz="1013" dirty="0">
                <a:solidFill>
                  <a:srgbClr val="334155"/>
                </a:solidFill>
                <a:latin typeface="Carlito" pitchFamily="34" charset="0"/>
                <a:ea typeface="Carlito" pitchFamily="34" charset="-122"/>
                <a:cs typeface="Carlito" pitchFamily="34" charset="-120"/>
              </a:rPr>
              <a:t>رحلة شاملة عبر بنية جسم الإنسان وأجهزته العظيمة — من الخلية الواحدة إلى الأجهزة المتكاملة التي تبقيك على قيد الحياة.</a:t>
            </a:r>
            <a:endParaRPr lang="en-US" sz="1013" dirty="0"/>
          </a:p>
        </p:txBody>
      </p:sp>
      <p:sp>
        <p:nvSpPr>
          <p:cNvPr id="10" name="Text 8"/>
          <p:cNvSpPr/>
          <p:nvPr/>
        </p:nvSpPr>
        <p:spPr>
          <a:xfrm>
            <a:off x="7556188" y="3747901"/>
            <a:ext cx="1088533" cy="200597"/>
          </a:xfrm>
          <a:prstGeom prst="rect">
            <a:avLst/>
          </a:prstGeom>
          <a:noFill/>
          <a:ln/>
        </p:spPr>
        <p:txBody>
          <a:bodyPr wrap="none" lIns="0" tIns="0" rIns="0" bIns="0" rtlCol="0" anchor="t"/>
          <a:lstStyle/>
          <a:p>
            <a:pPr algn="l" indent="0" marL="0">
              <a:lnSpc>
                <a:spcPts val="1463"/>
              </a:lnSpc>
              <a:buNone/>
            </a:pPr>
            <a:r>
              <a:rPr lang="en-US" sz="1463" b="1" dirty="0">
                <a:solidFill>
                  <a:srgbClr val="1E40AF"/>
                </a:solidFill>
                <a:latin typeface="Carlito" pitchFamily="34" charset="0"/>
                <a:ea typeface="Carlito" pitchFamily="34" charset="-122"/>
                <a:cs typeface="Carlito" pitchFamily="34" charset="-120"/>
              </a:rPr>
              <a:t>37 تريليون</a:t>
            </a:r>
            <a:endParaRPr lang="en-US" sz="1463" dirty="0"/>
          </a:p>
        </p:txBody>
      </p:sp>
      <p:sp>
        <p:nvSpPr>
          <p:cNvPr id="11" name="Text 9"/>
          <p:cNvSpPr/>
          <p:nvPr/>
        </p:nvSpPr>
        <p:spPr>
          <a:xfrm>
            <a:off x="7571259" y="3976501"/>
            <a:ext cx="1058391" cy="164592"/>
          </a:xfrm>
          <a:prstGeom prst="rect">
            <a:avLst/>
          </a:prstGeom>
          <a:noFill/>
          <a:ln/>
        </p:spPr>
        <p:txBody>
          <a:bodyPr wrap="none" lIns="0" tIns="0" rIns="0" bIns="0" rtlCol="0" anchor="t"/>
          <a:lstStyle/>
          <a:p>
            <a:pPr algn="l" indent="0" marL="0">
              <a:lnSpc>
                <a:spcPts val="1097"/>
              </a:lnSpc>
              <a:buNone/>
            </a:pPr>
            <a:r>
              <a:rPr lang="en-US" sz="800" dirty="0">
                <a:solidFill>
                  <a:srgbClr val="64748B"/>
                </a:solidFill>
                <a:latin typeface="Carlito" pitchFamily="34" charset="0"/>
                <a:ea typeface="Carlito" pitchFamily="34" charset="-122"/>
                <a:cs typeface="Carlito" pitchFamily="34" charset="-120"/>
              </a:rPr>
              <a:t>خلية في جسمك</a:t>
            </a:r>
            <a:endParaRPr lang="en-US" sz="800" dirty="0"/>
          </a:p>
        </p:txBody>
      </p:sp>
      <p:sp>
        <p:nvSpPr>
          <p:cNvPr id="12" name="Text 10"/>
          <p:cNvSpPr/>
          <p:nvPr/>
        </p:nvSpPr>
        <p:spPr>
          <a:xfrm>
            <a:off x="7406953" y="3796122"/>
            <a:ext cx="7144" cy="271463"/>
          </a:xfrm>
          <a:prstGeom prst="rect">
            <a:avLst/>
          </a:prstGeom>
          <a:solidFill>
            <a:srgbClr val="E2E8F0"/>
          </a:solidFill>
          <a:ln/>
        </p:spPr>
        <p:txBody>
          <a:bodyPr wrap="square" rtlCol="0" anchor="ctr"/>
          <a:lstStyle/>
          <a:p>
            <a:pPr indent="0" marL="0">
              <a:buNone/>
            </a:pPr>
            <a:endParaRPr lang="en-US" dirty="0"/>
          </a:p>
        </p:txBody>
      </p:sp>
      <p:sp>
        <p:nvSpPr>
          <p:cNvPr id="13" name="Text 11"/>
          <p:cNvSpPr/>
          <p:nvPr/>
        </p:nvSpPr>
        <p:spPr>
          <a:xfrm>
            <a:off x="6534299" y="3747901"/>
            <a:ext cx="915829" cy="200597"/>
          </a:xfrm>
          <a:prstGeom prst="rect">
            <a:avLst/>
          </a:prstGeom>
          <a:noFill/>
          <a:ln/>
        </p:spPr>
        <p:txBody>
          <a:bodyPr wrap="none" lIns="0" tIns="0" rIns="0" bIns="0" rtlCol="0" anchor="t"/>
          <a:lstStyle/>
          <a:p>
            <a:pPr algn="l" indent="0" marL="0">
              <a:lnSpc>
                <a:spcPts val="1463"/>
              </a:lnSpc>
              <a:buNone/>
            </a:pPr>
            <a:r>
              <a:rPr lang="en-US" sz="1463" b="1" dirty="0">
                <a:solidFill>
                  <a:srgbClr val="1E40AF"/>
                </a:solidFill>
                <a:latin typeface="Carlito" pitchFamily="34" charset="0"/>
                <a:ea typeface="Carlito" pitchFamily="34" charset="-122"/>
                <a:cs typeface="Carlito" pitchFamily="34" charset="-120"/>
              </a:rPr>
              <a:t>11 جهاز</a:t>
            </a:r>
            <a:endParaRPr lang="en-US" sz="1463" dirty="0"/>
          </a:p>
        </p:txBody>
      </p:sp>
      <p:sp>
        <p:nvSpPr>
          <p:cNvPr id="14" name="Text 12"/>
          <p:cNvSpPr/>
          <p:nvPr/>
        </p:nvSpPr>
        <p:spPr>
          <a:xfrm>
            <a:off x="6534299" y="3976501"/>
            <a:ext cx="838556" cy="164592"/>
          </a:xfrm>
          <a:prstGeom prst="rect">
            <a:avLst/>
          </a:prstGeom>
          <a:noFill/>
          <a:ln/>
        </p:spPr>
        <p:txBody>
          <a:bodyPr wrap="none" lIns="0" tIns="0" rIns="0" bIns="0" rtlCol="0" anchor="t"/>
          <a:lstStyle/>
          <a:p>
            <a:pPr algn="l" indent="0" marL="0">
              <a:lnSpc>
                <a:spcPts val="1097"/>
              </a:lnSpc>
              <a:buNone/>
            </a:pPr>
            <a:r>
              <a:rPr lang="en-US" sz="800" dirty="0">
                <a:solidFill>
                  <a:srgbClr val="64748B"/>
                </a:solidFill>
                <a:latin typeface="Carlito" pitchFamily="34" charset="0"/>
                <a:ea typeface="Carlito" pitchFamily="34" charset="-122"/>
                <a:cs typeface="Carlito" pitchFamily="34" charset="-120"/>
              </a:rPr>
              <a:t>حيوي متكامل</a:t>
            </a:r>
            <a:endParaRPr lang="en-US" sz="800" dirty="0"/>
          </a:p>
        </p:txBody>
      </p:sp>
      <p:sp>
        <p:nvSpPr>
          <p:cNvPr id="15" name="Text 13"/>
          <p:cNvSpPr/>
          <p:nvPr/>
        </p:nvSpPr>
        <p:spPr>
          <a:xfrm>
            <a:off x="4354897" y="4430130"/>
            <a:ext cx="4384481" cy="164592"/>
          </a:xfrm>
          <a:prstGeom prst="rect">
            <a:avLst/>
          </a:prstGeom>
          <a:noFill/>
          <a:ln/>
        </p:spPr>
        <p:txBody>
          <a:bodyPr wrap="square" lIns="0" tIns="0" rIns="0" bIns="0" rtlCol="0" anchor="t"/>
          <a:lstStyle/>
          <a:p>
            <a:pPr algn="l" indent="0" marL="0">
              <a:lnSpc>
                <a:spcPts val="1013"/>
              </a:lnSpc>
              <a:buNone/>
            </a:pPr>
            <a:r>
              <a:rPr lang="en-US" sz="800" spc="14" kern="0" dirty="0">
                <a:solidFill>
                  <a:srgbClr val="64748B"/>
                </a:solidFill>
                <a:latin typeface="Carlito" pitchFamily="34" charset="0"/>
                <a:ea typeface="Carlito" pitchFamily="34" charset="-122"/>
                <a:cs typeface="Carlito" pitchFamily="34" charset="-120"/>
              </a:rPr>
              <a:t>إعداد: قسم التشريح الطبي · 2026</a:t>
            </a:r>
            <a:endParaRPr lang="en-US" sz="800" dirty="0"/>
          </a:p>
        </p:txBody>
      </p:sp>
      <p:sp>
        <p:nvSpPr>
          <p:cNvPr id="16" name="Text 14"/>
          <p:cNvSpPr/>
          <p:nvPr/>
        </p:nvSpPr>
        <p:spPr>
          <a:xfrm>
            <a:off x="112" y="0"/>
            <a:ext cx="3840435" cy="5143500"/>
          </a:xfrm>
          <a:prstGeom prst="rect">
            <a:avLst/>
          </a:prstGeom>
          <a:solidFill>
            <a:srgbClr val="E2E8F0"/>
          </a:solidFill>
          <a:ln/>
        </p:spPr>
        <p:txBody>
          <a:bodyPr wrap="square" rtlCol="0" anchor="ctr"/>
          <a:lstStyle/>
          <a:p>
            <a:pPr indent="0" marL="0">
              <a:buNone/>
            </a:pPr>
            <a:endParaRPr lang="en-US" dirty="0"/>
          </a:p>
        </p:txBody>
      </p:sp>
      <p:pic>
        <p:nvPicPr>
          <p:cNvPr id="17" name="Image 0" descr="/tmp/h2p-fit-1789634203659-68g5er.png">    </p:cNvPr>
          <p:cNvPicPr>
            <a:picLocks noChangeAspect="1"/>
          </p:cNvPicPr>
          <p:nvPr/>
        </p:nvPicPr>
        <p:blipFill>
          <a:blip r:embed="rId1"/>
          <a:stretch>
            <a:fillRect/>
          </a:stretch>
        </p:blipFill>
        <p:spPr>
          <a:xfrm>
            <a:off x="112" y="0"/>
            <a:ext cx="3840435" cy="5143500"/>
          </a:xfrm>
          <a:prstGeom prst="rect">
            <a:avLst/>
          </a:prstGeom>
        </p:spPr>
      </p:pic>
      <p:pic>
        <p:nvPicPr>
          <p:cNvPr id="18" name="Image 1" descr="preencoded.png">    </p:cNvPr>
          <p:cNvPicPr>
            <a:picLocks noChangeAspect="1"/>
          </p:cNvPicPr>
          <p:nvPr/>
        </p:nvPicPr>
        <p:blipFill>
          <a:blip r:embed="rId2"/>
          <a:stretch>
            <a:fillRect/>
          </a:stretch>
        </p:blipFill>
        <p:spPr>
          <a:xfrm>
            <a:off x="112" y="0"/>
            <a:ext cx="3840435" cy="5143500"/>
          </a:xfrm>
          <a:prstGeom prst="rect">
            <a:avLst/>
          </a:prstGeom>
        </p:spPr>
      </p:pic>
      <p:sp>
        <p:nvSpPr>
          <p:cNvPr id="19" name="Text 15"/>
          <p:cNvSpPr/>
          <p:nvPr/>
        </p:nvSpPr>
        <p:spPr>
          <a:xfrm>
            <a:off x="3811972" y="0"/>
            <a:ext cx="28575" cy="5143500"/>
          </a:xfrm>
          <a:prstGeom prst="rect">
            <a:avLst/>
          </a:prstGeom>
          <a:solidFill>
            <a:srgbClr val="DC2626"/>
          </a:solidFill>
          <a:ln/>
        </p:spPr>
        <p:txBody>
          <a:bodyPr wrap="square" rtlCol="0" anchor="ctr"/>
          <a:lstStyle/>
          <a:p>
            <a:pPr indent="0" marL="0">
              <a:buNone/>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5F9"/>
        </a:solidFill>
      </p:bgPr>
    </p:bg>
    <p:spTree>
      <p:nvGrpSpPr>
        <p:cNvPr id="1" name=""/>
        <p:cNvGrpSpPr/>
        <p:nvPr/>
      </p:nvGrpSpPr>
      <p:grpSpPr>
        <a:xfrm>
          <a:off x="0" y="0"/>
          <a:ext cx="0" cy="0"/>
          <a:chOff x="0" y="0"/>
          <a:chExt cx="0" cy="0"/>
        </a:xfrm>
      </p:grpSpPr>
      <p:sp>
        <p:nvSpPr>
          <p:cNvPr id="2" name="Text 0"/>
          <p:cNvSpPr/>
          <p:nvPr/>
        </p:nvSpPr>
        <p:spPr>
          <a:xfrm>
            <a:off x="4160565" y="400050"/>
            <a:ext cx="4526235" cy="225028"/>
          </a:xfrm>
          <a:prstGeom prst="roundRect">
            <a:avLst>
              <a:gd name="adj" fmla="val 4228574"/>
            </a:avLst>
          </a:prstGeom>
          <a:solidFill>
            <a:srgbClr val="DBEAFE"/>
          </a:solidFill>
          <a:ln/>
        </p:spPr>
        <p:txBody>
          <a:bodyPr wrap="square" rtlCol="0" anchor="ctr"/>
          <a:lstStyle/>
          <a:p>
            <a:pPr indent="0" marL="0">
              <a:buNone/>
            </a:pPr>
            <a:endParaRPr lang="en-US" dirty="0"/>
          </a:p>
        </p:txBody>
      </p:sp>
      <p:sp>
        <p:nvSpPr>
          <p:cNvPr id="3" name="Text 1"/>
          <p:cNvSpPr/>
          <p:nvPr/>
        </p:nvSpPr>
        <p:spPr>
          <a:xfrm>
            <a:off x="8458200" y="448270"/>
            <a:ext cx="128588" cy="128588"/>
          </a:xfrm>
          <a:prstGeom prst="rect">
            <a:avLst/>
          </a:prstGeom>
          <a:noFill/>
          <a:ln/>
        </p:spPr>
        <p:txBody>
          <a:bodyPr wrap="none" lIns="0" tIns="0" rIns="0" bIns="0" rtlCol="0" anchor="ctr"/>
          <a:lstStyle/>
          <a:p>
            <a:pPr algn="ctr" indent="0" marL="0">
              <a:buNone/>
            </a:pPr>
            <a:r>
              <a:rPr lang="en-US" sz="1266" dirty="0">
                <a:solidFill>
                  <a:srgbClr val="1E40AF"/>
                </a:solidFill>
                <a:latin typeface="Segoe UI Symbol" pitchFamily="34" charset="0"/>
                <a:ea typeface="Segoe UI Symbol" pitchFamily="34" charset="-122"/>
                <a:cs typeface="Segoe UI Symbol" pitchFamily="34" charset="-120"/>
              </a:rPr>
              <a:t>▤</a:t>
            </a:r>
            <a:endParaRPr lang="en-US" sz="1266" dirty="0"/>
          </a:p>
        </p:txBody>
      </p:sp>
      <p:sp>
        <p:nvSpPr>
          <p:cNvPr id="4" name="Text 2"/>
          <p:cNvSpPr/>
          <p:nvPr/>
        </p:nvSpPr>
        <p:spPr>
          <a:xfrm>
            <a:off x="7760791" y="442913"/>
            <a:ext cx="818183" cy="139303"/>
          </a:xfrm>
          <a:prstGeom prst="rect">
            <a:avLst/>
          </a:prstGeom>
          <a:noFill/>
          <a:ln/>
        </p:spPr>
        <p:txBody>
          <a:bodyPr wrap="none" lIns="0" tIns="0" rIns="0" bIns="0" rtlCol="0" anchor="t"/>
          <a:lstStyle/>
          <a:p>
            <a:pPr algn="l" indent="0" marL="0">
              <a:lnSpc>
                <a:spcPts val="1097"/>
              </a:lnSpc>
              <a:buNone/>
            </a:pPr>
            <a:r>
              <a:rPr lang="en-US" sz="800" dirty="0">
                <a:solidFill>
                  <a:srgbClr val="1E40AF"/>
                </a:solidFill>
                <a:latin typeface="Carlito" pitchFamily="34" charset="0"/>
                <a:ea typeface="Carlito" pitchFamily="34" charset="-122"/>
                <a:cs typeface="Carlito" pitchFamily="34" charset="-120"/>
              </a:rPr>
              <a:t>تعريف ومقدمة</a:t>
            </a:r>
            <a:endParaRPr lang="en-US" sz="800" dirty="0"/>
          </a:p>
        </p:txBody>
      </p:sp>
      <p:sp>
        <p:nvSpPr>
          <p:cNvPr id="5" name="Text 3"/>
          <p:cNvSpPr/>
          <p:nvPr/>
        </p:nvSpPr>
        <p:spPr>
          <a:xfrm>
            <a:off x="4160565" y="725091"/>
            <a:ext cx="4752547" cy="390343"/>
          </a:xfrm>
          <a:prstGeom prst="rect">
            <a:avLst/>
          </a:prstGeom>
          <a:noFill/>
          <a:ln/>
        </p:spPr>
        <p:txBody>
          <a:bodyPr wrap="none" lIns="0" tIns="0" rIns="0" bIns="0" rtlCol="0" anchor="t"/>
          <a:lstStyle/>
          <a:p>
            <a:pPr algn="l" indent="0" marL="0">
              <a:lnSpc>
                <a:spcPts val="2846"/>
              </a:lnSpc>
              <a:buNone/>
            </a:pPr>
            <a:r>
              <a:rPr lang="en-US" sz="2475" b="1" dirty="0">
                <a:solidFill>
                  <a:srgbClr val="1E40AF"/>
                </a:solidFill>
                <a:latin typeface="Carlito" pitchFamily="34" charset="0"/>
                <a:ea typeface="Carlito" pitchFamily="34" charset="-122"/>
                <a:cs typeface="Carlito" pitchFamily="34" charset="-120"/>
              </a:rPr>
              <a:t>ما هو علم التشريح؟</a:t>
            </a:r>
            <a:endParaRPr lang="en-US" sz="2475" dirty="0"/>
          </a:p>
        </p:txBody>
      </p:sp>
      <p:sp>
        <p:nvSpPr>
          <p:cNvPr id="6" name="Text 4"/>
          <p:cNvSpPr/>
          <p:nvPr/>
        </p:nvSpPr>
        <p:spPr>
          <a:xfrm>
            <a:off x="8286750" y="1172245"/>
            <a:ext cx="400050" cy="28575"/>
          </a:xfrm>
          <a:prstGeom prst="roundRect">
            <a:avLst>
              <a:gd name="adj" fmla="val 66667"/>
            </a:avLst>
          </a:prstGeom>
          <a:solidFill>
            <a:srgbClr val="DC2626"/>
          </a:solidFill>
          <a:ln/>
        </p:spPr>
        <p:txBody>
          <a:bodyPr wrap="square" rtlCol="0" anchor="ctr"/>
          <a:lstStyle/>
          <a:p>
            <a:pPr indent="0" marL="0">
              <a:buNone/>
            </a:pPr>
            <a:endParaRPr lang="en-US" dirty="0"/>
          </a:p>
        </p:txBody>
      </p:sp>
      <p:sp>
        <p:nvSpPr>
          <p:cNvPr id="7" name="Text 5"/>
          <p:cNvSpPr/>
          <p:nvPr/>
        </p:nvSpPr>
        <p:spPr>
          <a:xfrm>
            <a:off x="4160565" y="1315120"/>
            <a:ext cx="4526235" cy="688586"/>
          </a:xfrm>
          <a:prstGeom prst="rect">
            <a:avLst/>
          </a:prstGeom>
          <a:noFill/>
          <a:ln/>
        </p:spPr>
        <p:txBody>
          <a:bodyPr wrap="square" lIns="0" tIns="0" rIns="0" bIns="0" rtlCol="0" anchor="t"/>
          <a:lstStyle/>
          <a:p>
            <a:pPr algn="l" indent="0" marL="0">
              <a:lnSpc>
                <a:spcPts val="1673"/>
              </a:lnSpc>
              <a:buNone/>
            </a:pPr>
            <a:r>
              <a:rPr lang="en-US" sz="956" dirty="0">
                <a:solidFill>
                  <a:srgbClr val="334155"/>
                </a:solidFill>
                <a:latin typeface="Carlito" pitchFamily="34" charset="0"/>
                <a:ea typeface="Carlito" pitchFamily="34" charset="-122"/>
                <a:cs typeface="Carlito" pitchFamily="34" charset="-120"/>
              </a:rPr>
              <a:t>علم التشريح (Anatomy) هو فرع علم الأحياء الذي يدرس بنية وتركيب الكائنات الحية وأجزائها. يُعدّ من أقدم العلوم الطبية، يعود لأكثر من 2500 سنة، ويُمثّل الأساس الذي تُبنى عليه جميع العلوم الطبية الحديثة.</a:t>
            </a:r>
            <a:endParaRPr lang="en-US" sz="956" dirty="0"/>
          </a:p>
        </p:txBody>
      </p:sp>
      <p:sp>
        <p:nvSpPr>
          <p:cNvPr id="8" name="Text 6"/>
          <p:cNvSpPr/>
          <p:nvPr/>
        </p:nvSpPr>
        <p:spPr>
          <a:xfrm>
            <a:off x="4160565" y="2081287"/>
            <a:ext cx="4752547" cy="231458"/>
          </a:xfrm>
          <a:prstGeom prst="rect">
            <a:avLst/>
          </a:prstGeom>
          <a:noFill/>
          <a:ln/>
        </p:spPr>
        <p:txBody>
          <a:bodyPr wrap="none" lIns="0" tIns="0" rIns="0" bIns="0" rtlCol="0" anchor="t"/>
          <a:lstStyle/>
          <a:p>
            <a:pPr algn="l" indent="0" marL="0">
              <a:lnSpc>
                <a:spcPts val="1688"/>
              </a:lnSpc>
              <a:buNone/>
            </a:pPr>
            <a:r>
              <a:rPr lang="en-US" sz="1125" b="1" dirty="0">
                <a:solidFill>
                  <a:srgbClr val="1E40AF"/>
                </a:solidFill>
                <a:latin typeface="Carlito" pitchFamily="34" charset="0"/>
                <a:ea typeface="Carlito" pitchFamily="34" charset="-122"/>
                <a:cs typeface="Carlito" pitchFamily="34" charset="-120"/>
              </a:rPr>
              <a:t>الفروع الرئيسية:</a:t>
            </a:r>
            <a:endParaRPr lang="en-US" sz="1125" dirty="0"/>
          </a:p>
        </p:txBody>
      </p:sp>
      <p:sp>
        <p:nvSpPr>
          <p:cNvPr id="9" name="Text 7"/>
          <p:cNvSpPr/>
          <p:nvPr/>
        </p:nvSpPr>
        <p:spPr>
          <a:xfrm>
            <a:off x="6466545" y="2381324"/>
            <a:ext cx="2220255" cy="844190"/>
          </a:xfrm>
          <a:prstGeom prst="roundRect">
            <a:avLst>
              <a:gd name="adj" fmla="val 13540"/>
            </a:avLst>
          </a:prstGeom>
          <a:solidFill>
            <a:srgbClr val="F8FAFC"/>
          </a:solidFill>
          <a:ln/>
        </p:spPr>
        <p:txBody>
          <a:bodyPr wrap="square" rtlCol="0" anchor="ctr"/>
          <a:lstStyle/>
          <a:p>
            <a:pPr indent="0" marL="0">
              <a:buNone/>
            </a:pPr>
            <a:endParaRPr lang="en-US" dirty="0"/>
          </a:p>
        </p:txBody>
      </p:sp>
      <p:sp>
        <p:nvSpPr>
          <p:cNvPr id="10" name="Shape 8"/>
          <p:cNvSpPr/>
          <p:nvPr/>
        </p:nvSpPr>
        <p:spPr>
          <a:xfrm>
            <a:off x="6466545" y="2384896"/>
            <a:ext cx="2220255" cy="0"/>
          </a:xfrm>
          <a:prstGeom prst="line">
            <a:avLst/>
          </a:prstGeom>
          <a:noFill/>
          <a:ln w="7144">
            <a:solidFill>
              <a:srgbClr val="E2E8F0"/>
            </a:solidFill>
            <a:prstDash val="solid"/>
          </a:ln>
        </p:spPr>
      </p:sp>
      <p:sp>
        <p:nvSpPr>
          <p:cNvPr id="11" name="Shape 9"/>
          <p:cNvSpPr/>
          <p:nvPr/>
        </p:nvSpPr>
        <p:spPr>
          <a:xfrm>
            <a:off x="8672513" y="2381324"/>
            <a:ext cx="0" cy="844190"/>
          </a:xfrm>
          <a:prstGeom prst="line">
            <a:avLst/>
          </a:prstGeom>
          <a:noFill/>
          <a:ln w="28575">
            <a:solidFill>
              <a:srgbClr val="DC2626"/>
            </a:solidFill>
            <a:prstDash val="solid"/>
          </a:ln>
        </p:spPr>
      </p:sp>
      <p:sp>
        <p:nvSpPr>
          <p:cNvPr id="12" name="Shape 10"/>
          <p:cNvSpPr/>
          <p:nvPr/>
        </p:nvSpPr>
        <p:spPr>
          <a:xfrm>
            <a:off x="6466545" y="3221943"/>
            <a:ext cx="2220255" cy="0"/>
          </a:xfrm>
          <a:prstGeom prst="line">
            <a:avLst/>
          </a:prstGeom>
          <a:noFill/>
          <a:ln w="7144">
            <a:solidFill>
              <a:srgbClr val="E2E8F0"/>
            </a:solidFill>
            <a:prstDash val="solid"/>
          </a:ln>
        </p:spPr>
      </p:sp>
      <p:sp>
        <p:nvSpPr>
          <p:cNvPr id="13" name="Shape 11"/>
          <p:cNvSpPr/>
          <p:nvPr/>
        </p:nvSpPr>
        <p:spPr>
          <a:xfrm>
            <a:off x="6470117" y="2381324"/>
            <a:ext cx="0" cy="844190"/>
          </a:xfrm>
          <a:prstGeom prst="line">
            <a:avLst/>
          </a:prstGeom>
          <a:noFill/>
          <a:ln w="7144">
            <a:solidFill>
              <a:srgbClr val="E2E8F0"/>
            </a:solidFill>
            <a:prstDash val="solid"/>
          </a:ln>
        </p:spPr>
      </p:sp>
      <p:sp>
        <p:nvSpPr>
          <p:cNvPr id="14" name="Text 12"/>
          <p:cNvSpPr/>
          <p:nvPr/>
        </p:nvSpPr>
        <p:spPr>
          <a:xfrm>
            <a:off x="8286750" y="2488481"/>
            <a:ext cx="257175" cy="257175"/>
          </a:xfrm>
          <a:prstGeom prst="roundRect">
            <a:avLst>
              <a:gd name="adj" fmla="val 37037"/>
            </a:avLst>
          </a:prstGeom>
          <a:solidFill>
            <a:srgbClr val="FEE2E2"/>
          </a:solidFill>
          <a:ln/>
        </p:spPr>
        <p:txBody>
          <a:bodyPr wrap="square" rtlCol="0" anchor="ctr"/>
          <a:lstStyle/>
          <a:p>
            <a:pPr indent="0" marL="0">
              <a:buNone/>
            </a:pPr>
            <a:endParaRPr lang="en-US" dirty="0"/>
          </a:p>
        </p:txBody>
      </p:sp>
      <p:sp>
        <p:nvSpPr>
          <p:cNvPr id="15" name="Text 13"/>
          <p:cNvSpPr/>
          <p:nvPr/>
        </p:nvSpPr>
        <p:spPr>
          <a:xfrm>
            <a:off x="8301395" y="2503125"/>
            <a:ext cx="227886" cy="227886"/>
          </a:xfrm>
          <a:prstGeom prst="rect">
            <a:avLst/>
          </a:prstGeom>
          <a:noFill/>
          <a:ln/>
        </p:spPr>
        <p:txBody>
          <a:bodyPr wrap="none" lIns="0" tIns="0" rIns="0" bIns="0" rtlCol="0" anchor="ctr"/>
          <a:lstStyle/>
          <a:p>
            <a:pPr algn="ctr" indent="0" marL="0">
              <a:buNone/>
            </a:pPr>
            <a:r>
              <a:rPr lang="en-US" sz="1547" dirty="0">
                <a:solidFill>
                  <a:srgbClr val="DC2626"/>
                </a:solidFill>
                <a:latin typeface="Segoe UI Symbol" pitchFamily="34" charset="0"/>
                <a:ea typeface="Segoe UI Symbol" pitchFamily="34" charset="-122"/>
                <a:cs typeface="Segoe UI Symbol" pitchFamily="34" charset="-120"/>
              </a:rPr>
              <a:t>◉</a:t>
            </a:r>
            <a:endParaRPr lang="en-US" sz="1547" dirty="0"/>
          </a:p>
        </p:txBody>
      </p:sp>
      <p:sp>
        <p:nvSpPr>
          <p:cNvPr id="16" name="Text 14"/>
          <p:cNvSpPr/>
          <p:nvPr/>
        </p:nvSpPr>
        <p:spPr>
          <a:xfrm>
            <a:off x="6587989" y="2788518"/>
            <a:ext cx="1955936" cy="160453"/>
          </a:xfrm>
          <a:prstGeom prst="rect">
            <a:avLst/>
          </a:prstGeom>
          <a:noFill/>
          <a:ln/>
        </p:spPr>
        <p:txBody>
          <a:bodyPr wrap="none" lIns="0" tIns="0" rIns="0" bIns="0" rtlCol="0" anchor="t"/>
          <a:lstStyle/>
          <a:p>
            <a:pPr algn="l" indent="0" marL="0">
              <a:lnSpc>
                <a:spcPts val="1170"/>
              </a:lnSpc>
              <a:buNone/>
            </a:pPr>
            <a:r>
              <a:rPr lang="en-US" sz="900" b="1" dirty="0">
                <a:solidFill>
                  <a:srgbClr val="0F172A"/>
                </a:solidFill>
                <a:latin typeface="Carlito" pitchFamily="34" charset="0"/>
                <a:ea typeface="Carlito" pitchFamily="34" charset="-122"/>
                <a:cs typeface="Carlito" pitchFamily="34" charset="-120"/>
              </a:rPr>
              <a:t>التشريح الوصفي</a:t>
            </a:r>
            <a:endParaRPr lang="en-US" sz="900" dirty="0"/>
          </a:p>
        </p:txBody>
      </p:sp>
      <p:sp>
        <p:nvSpPr>
          <p:cNvPr id="17" name="Text 15"/>
          <p:cNvSpPr/>
          <p:nvPr/>
        </p:nvSpPr>
        <p:spPr>
          <a:xfrm>
            <a:off x="6587989" y="2979948"/>
            <a:ext cx="2065664" cy="138410"/>
          </a:xfrm>
          <a:prstGeom prst="rect">
            <a:avLst/>
          </a:prstGeom>
          <a:noFill/>
          <a:ln/>
        </p:spPr>
        <p:txBody>
          <a:bodyPr wrap="square" lIns="0" tIns="0" rIns="0" bIns="0" rtlCol="0" anchor="t"/>
          <a:lstStyle/>
          <a:p>
            <a:pPr algn="l" indent="0" marL="0">
              <a:lnSpc>
                <a:spcPts val="1090"/>
              </a:lnSpc>
              <a:buNone/>
            </a:pPr>
            <a:r>
              <a:rPr lang="en-US" sz="800" dirty="0">
                <a:solidFill>
                  <a:srgbClr val="334155"/>
                </a:solidFill>
                <a:latin typeface="Carlito" pitchFamily="34" charset="0"/>
                <a:ea typeface="Carlito" pitchFamily="34" charset="-122"/>
                <a:cs typeface="Carlito" pitchFamily="34" charset="-120"/>
              </a:rPr>
              <a:t>دراسة البنى المرئية بالعين المجردة</a:t>
            </a:r>
            <a:endParaRPr lang="en-US" sz="800" dirty="0"/>
          </a:p>
        </p:txBody>
      </p:sp>
      <p:sp>
        <p:nvSpPr>
          <p:cNvPr id="18" name="Text 16"/>
          <p:cNvSpPr/>
          <p:nvPr/>
        </p:nvSpPr>
        <p:spPr>
          <a:xfrm>
            <a:off x="4160565" y="2381324"/>
            <a:ext cx="2220255" cy="844190"/>
          </a:xfrm>
          <a:prstGeom prst="roundRect">
            <a:avLst>
              <a:gd name="adj" fmla="val 13540"/>
            </a:avLst>
          </a:prstGeom>
          <a:solidFill>
            <a:srgbClr val="F8FAFC"/>
          </a:solidFill>
          <a:ln/>
        </p:spPr>
        <p:txBody>
          <a:bodyPr wrap="square" rtlCol="0" anchor="ctr"/>
          <a:lstStyle/>
          <a:p>
            <a:pPr indent="0" marL="0">
              <a:buNone/>
            </a:pPr>
            <a:endParaRPr lang="en-US" dirty="0"/>
          </a:p>
        </p:txBody>
      </p:sp>
      <p:sp>
        <p:nvSpPr>
          <p:cNvPr id="19" name="Shape 17"/>
          <p:cNvSpPr/>
          <p:nvPr/>
        </p:nvSpPr>
        <p:spPr>
          <a:xfrm>
            <a:off x="4160565" y="2384896"/>
            <a:ext cx="2220255" cy="0"/>
          </a:xfrm>
          <a:prstGeom prst="line">
            <a:avLst/>
          </a:prstGeom>
          <a:noFill/>
          <a:ln w="7144">
            <a:solidFill>
              <a:srgbClr val="E2E8F0"/>
            </a:solidFill>
            <a:prstDash val="solid"/>
          </a:ln>
        </p:spPr>
      </p:sp>
      <p:sp>
        <p:nvSpPr>
          <p:cNvPr id="20" name="Shape 18"/>
          <p:cNvSpPr/>
          <p:nvPr/>
        </p:nvSpPr>
        <p:spPr>
          <a:xfrm>
            <a:off x="6366532" y="2381324"/>
            <a:ext cx="0" cy="844190"/>
          </a:xfrm>
          <a:prstGeom prst="line">
            <a:avLst/>
          </a:prstGeom>
          <a:noFill/>
          <a:ln w="28575">
            <a:solidFill>
              <a:srgbClr val="DC2626"/>
            </a:solidFill>
            <a:prstDash val="solid"/>
          </a:ln>
        </p:spPr>
      </p:sp>
      <p:sp>
        <p:nvSpPr>
          <p:cNvPr id="21" name="Shape 19"/>
          <p:cNvSpPr/>
          <p:nvPr/>
        </p:nvSpPr>
        <p:spPr>
          <a:xfrm>
            <a:off x="4160565" y="3221943"/>
            <a:ext cx="2220255" cy="0"/>
          </a:xfrm>
          <a:prstGeom prst="line">
            <a:avLst/>
          </a:prstGeom>
          <a:noFill/>
          <a:ln w="7144">
            <a:solidFill>
              <a:srgbClr val="E2E8F0"/>
            </a:solidFill>
            <a:prstDash val="solid"/>
          </a:ln>
        </p:spPr>
      </p:sp>
      <p:sp>
        <p:nvSpPr>
          <p:cNvPr id="22" name="Shape 20"/>
          <p:cNvSpPr/>
          <p:nvPr/>
        </p:nvSpPr>
        <p:spPr>
          <a:xfrm>
            <a:off x="4164137" y="2381324"/>
            <a:ext cx="0" cy="844190"/>
          </a:xfrm>
          <a:prstGeom prst="line">
            <a:avLst/>
          </a:prstGeom>
          <a:noFill/>
          <a:ln w="7144">
            <a:solidFill>
              <a:srgbClr val="E2E8F0"/>
            </a:solidFill>
            <a:prstDash val="solid"/>
          </a:ln>
        </p:spPr>
      </p:sp>
      <p:sp>
        <p:nvSpPr>
          <p:cNvPr id="23" name="Text 21"/>
          <p:cNvSpPr/>
          <p:nvPr/>
        </p:nvSpPr>
        <p:spPr>
          <a:xfrm>
            <a:off x="5980770" y="2488481"/>
            <a:ext cx="257175" cy="257175"/>
          </a:xfrm>
          <a:prstGeom prst="roundRect">
            <a:avLst>
              <a:gd name="adj" fmla="val 37037"/>
            </a:avLst>
          </a:prstGeom>
          <a:solidFill>
            <a:srgbClr val="FEE2E2"/>
          </a:solidFill>
          <a:ln/>
        </p:spPr>
        <p:txBody>
          <a:bodyPr wrap="square" rtlCol="0" anchor="ctr"/>
          <a:lstStyle/>
          <a:p>
            <a:pPr indent="0" marL="0">
              <a:buNone/>
            </a:pPr>
            <a:endParaRPr lang="en-US" dirty="0"/>
          </a:p>
        </p:txBody>
      </p:sp>
      <p:sp>
        <p:nvSpPr>
          <p:cNvPr id="24" name="Text 22"/>
          <p:cNvSpPr/>
          <p:nvPr/>
        </p:nvSpPr>
        <p:spPr>
          <a:xfrm>
            <a:off x="5995415" y="2503125"/>
            <a:ext cx="227886" cy="227886"/>
          </a:xfrm>
          <a:prstGeom prst="rect">
            <a:avLst/>
          </a:prstGeom>
          <a:noFill/>
          <a:ln/>
        </p:spPr>
        <p:txBody>
          <a:bodyPr wrap="none" lIns="0" tIns="0" rIns="0" bIns="0" rtlCol="0" anchor="ctr"/>
          <a:lstStyle/>
          <a:p>
            <a:pPr algn="ctr" indent="0" marL="0">
              <a:buNone/>
            </a:pPr>
            <a:r>
              <a:rPr lang="en-US" sz="1547" dirty="0">
                <a:solidFill>
                  <a:srgbClr val="DC2626"/>
                </a:solidFill>
                <a:latin typeface="Segoe UI Symbol" pitchFamily="34" charset="0"/>
                <a:ea typeface="Segoe UI Symbol" pitchFamily="34" charset="-122"/>
                <a:cs typeface="Segoe UI Symbol" pitchFamily="34" charset="-120"/>
              </a:rPr>
              <a:t>⚗</a:t>
            </a:r>
            <a:endParaRPr lang="en-US" sz="1547" dirty="0"/>
          </a:p>
        </p:txBody>
      </p:sp>
      <p:sp>
        <p:nvSpPr>
          <p:cNvPr id="25" name="Text 23"/>
          <p:cNvSpPr/>
          <p:nvPr/>
        </p:nvSpPr>
        <p:spPr>
          <a:xfrm>
            <a:off x="4282008" y="2788518"/>
            <a:ext cx="1955936" cy="160453"/>
          </a:xfrm>
          <a:prstGeom prst="rect">
            <a:avLst/>
          </a:prstGeom>
          <a:noFill/>
          <a:ln/>
        </p:spPr>
        <p:txBody>
          <a:bodyPr wrap="none" lIns="0" tIns="0" rIns="0" bIns="0" rtlCol="0" anchor="t"/>
          <a:lstStyle/>
          <a:p>
            <a:pPr algn="l" indent="0" marL="0">
              <a:lnSpc>
                <a:spcPts val="1170"/>
              </a:lnSpc>
              <a:buNone/>
            </a:pPr>
            <a:r>
              <a:rPr lang="en-US" sz="900" b="1" dirty="0">
                <a:solidFill>
                  <a:srgbClr val="0F172A"/>
                </a:solidFill>
                <a:latin typeface="Carlito" pitchFamily="34" charset="0"/>
                <a:ea typeface="Carlito" pitchFamily="34" charset="-122"/>
                <a:cs typeface="Carlito" pitchFamily="34" charset="-120"/>
              </a:rPr>
              <a:t>التشريح المجهري</a:t>
            </a:r>
            <a:endParaRPr lang="en-US" sz="900" dirty="0"/>
          </a:p>
        </p:txBody>
      </p:sp>
      <p:sp>
        <p:nvSpPr>
          <p:cNvPr id="26" name="Text 24"/>
          <p:cNvSpPr/>
          <p:nvPr/>
        </p:nvSpPr>
        <p:spPr>
          <a:xfrm>
            <a:off x="4282008" y="2979948"/>
            <a:ext cx="2065664" cy="138410"/>
          </a:xfrm>
          <a:prstGeom prst="rect">
            <a:avLst/>
          </a:prstGeom>
          <a:noFill/>
          <a:ln/>
        </p:spPr>
        <p:txBody>
          <a:bodyPr wrap="square" lIns="0" tIns="0" rIns="0" bIns="0" rtlCol="0" anchor="t"/>
          <a:lstStyle/>
          <a:p>
            <a:pPr algn="l" indent="0" marL="0">
              <a:lnSpc>
                <a:spcPts val="1090"/>
              </a:lnSpc>
              <a:buNone/>
            </a:pPr>
            <a:r>
              <a:rPr lang="en-US" sz="800" dirty="0">
                <a:solidFill>
                  <a:srgbClr val="334155"/>
                </a:solidFill>
                <a:latin typeface="Carlito" pitchFamily="34" charset="0"/>
                <a:ea typeface="Carlito" pitchFamily="34" charset="-122"/>
                <a:cs typeface="Carlito" pitchFamily="34" charset="-120"/>
              </a:rPr>
              <a:t>فحص الأنسجة والخلايا بالمجهر</a:t>
            </a:r>
            <a:endParaRPr lang="en-US" sz="800" dirty="0"/>
          </a:p>
        </p:txBody>
      </p:sp>
      <p:sp>
        <p:nvSpPr>
          <p:cNvPr id="27" name="Text 25"/>
          <p:cNvSpPr/>
          <p:nvPr/>
        </p:nvSpPr>
        <p:spPr>
          <a:xfrm>
            <a:off x="6466545" y="3311240"/>
            <a:ext cx="2220255" cy="844190"/>
          </a:xfrm>
          <a:prstGeom prst="roundRect">
            <a:avLst>
              <a:gd name="adj" fmla="val 13540"/>
            </a:avLst>
          </a:prstGeom>
          <a:solidFill>
            <a:srgbClr val="F8FAFC"/>
          </a:solidFill>
          <a:ln/>
        </p:spPr>
        <p:txBody>
          <a:bodyPr wrap="square" rtlCol="0" anchor="ctr"/>
          <a:lstStyle/>
          <a:p>
            <a:pPr indent="0" marL="0">
              <a:buNone/>
            </a:pPr>
            <a:endParaRPr lang="en-US" dirty="0"/>
          </a:p>
        </p:txBody>
      </p:sp>
      <p:sp>
        <p:nvSpPr>
          <p:cNvPr id="28" name="Shape 26"/>
          <p:cNvSpPr/>
          <p:nvPr/>
        </p:nvSpPr>
        <p:spPr>
          <a:xfrm>
            <a:off x="6466545" y="3314812"/>
            <a:ext cx="2220255" cy="0"/>
          </a:xfrm>
          <a:prstGeom prst="line">
            <a:avLst/>
          </a:prstGeom>
          <a:noFill/>
          <a:ln w="7144">
            <a:solidFill>
              <a:srgbClr val="E2E8F0"/>
            </a:solidFill>
            <a:prstDash val="solid"/>
          </a:ln>
        </p:spPr>
      </p:sp>
      <p:sp>
        <p:nvSpPr>
          <p:cNvPr id="29" name="Shape 27"/>
          <p:cNvSpPr/>
          <p:nvPr/>
        </p:nvSpPr>
        <p:spPr>
          <a:xfrm>
            <a:off x="8672513" y="3311240"/>
            <a:ext cx="0" cy="844190"/>
          </a:xfrm>
          <a:prstGeom prst="line">
            <a:avLst/>
          </a:prstGeom>
          <a:noFill/>
          <a:ln w="28575">
            <a:solidFill>
              <a:srgbClr val="DC2626"/>
            </a:solidFill>
            <a:prstDash val="solid"/>
          </a:ln>
        </p:spPr>
      </p:sp>
      <p:sp>
        <p:nvSpPr>
          <p:cNvPr id="30" name="Shape 28"/>
          <p:cNvSpPr/>
          <p:nvPr/>
        </p:nvSpPr>
        <p:spPr>
          <a:xfrm>
            <a:off x="6466545" y="4151858"/>
            <a:ext cx="2220255" cy="0"/>
          </a:xfrm>
          <a:prstGeom prst="line">
            <a:avLst/>
          </a:prstGeom>
          <a:noFill/>
          <a:ln w="7144">
            <a:solidFill>
              <a:srgbClr val="E2E8F0"/>
            </a:solidFill>
            <a:prstDash val="solid"/>
          </a:ln>
        </p:spPr>
      </p:sp>
      <p:sp>
        <p:nvSpPr>
          <p:cNvPr id="31" name="Shape 29"/>
          <p:cNvSpPr/>
          <p:nvPr/>
        </p:nvSpPr>
        <p:spPr>
          <a:xfrm>
            <a:off x="6470117" y="3311240"/>
            <a:ext cx="0" cy="844190"/>
          </a:xfrm>
          <a:prstGeom prst="line">
            <a:avLst/>
          </a:prstGeom>
          <a:noFill/>
          <a:ln w="7144">
            <a:solidFill>
              <a:srgbClr val="E2E8F0"/>
            </a:solidFill>
            <a:prstDash val="solid"/>
          </a:ln>
        </p:spPr>
      </p:sp>
      <p:sp>
        <p:nvSpPr>
          <p:cNvPr id="32" name="Text 30"/>
          <p:cNvSpPr/>
          <p:nvPr/>
        </p:nvSpPr>
        <p:spPr>
          <a:xfrm>
            <a:off x="8286750" y="3418396"/>
            <a:ext cx="257175" cy="257175"/>
          </a:xfrm>
          <a:prstGeom prst="roundRect">
            <a:avLst>
              <a:gd name="adj" fmla="val 37037"/>
            </a:avLst>
          </a:prstGeom>
          <a:solidFill>
            <a:srgbClr val="FEE2E2"/>
          </a:solidFill>
          <a:ln/>
        </p:spPr>
        <p:txBody>
          <a:bodyPr wrap="square" rtlCol="0" anchor="ctr"/>
          <a:lstStyle/>
          <a:p>
            <a:pPr indent="0" marL="0">
              <a:buNone/>
            </a:pPr>
            <a:endParaRPr lang="en-US" dirty="0"/>
          </a:p>
        </p:txBody>
      </p:sp>
      <p:sp>
        <p:nvSpPr>
          <p:cNvPr id="33" name="Text 31"/>
          <p:cNvSpPr/>
          <p:nvPr/>
        </p:nvSpPr>
        <p:spPr>
          <a:xfrm>
            <a:off x="8301395" y="3433041"/>
            <a:ext cx="227886" cy="227886"/>
          </a:xfrm>
          <a:prstGeom prst="rect">
            <a:avLst/>
          </a:prstGeom>
          <a:noFill/>
          <a:ln/>
        </p:spPr>
        <p:txBody>
          <a:bodyPr wrap="none" lIns="0" tIns="0" rIns="0" bIns="0" rtlCol="0" anchor="ctr"/>
          <a:lstStyle/>
          <a:p>
            <a:pPr algn="ctr" indent="0" marL="0">
              <a:buNone/>
            </a:pPr>
            <a:r>
              <a:rPr lang="en-US" sz="1547" dirty="0">
                <a:solidFill>
                  <a:srgbClr val="DC2626"/>
                </a:solidFill>
                <a:latin typeface="Segoe UI Symbol" pitchFamily="34" charset="0"/>
                <a:ea typeface="Segoe UI Symbol" pitchFamily="34" charset="-122"/>
                <a:cs typeface="Segoe UI Symbol" pitchFamily="34" charset="-120"/>
              </a:rPr>
              <a:t>✦</a:t>
            </a:r>
            <a:endParaRPr lang="en-US" sz="1547" dirty="0"/>
          </a:p>
        </p:txBody>
      </p:sp>
      <p:sp>
        <p:nvSpPr>
          <p:cNvPr id="34" name="Text 32"/>
          <p:cNvSpPr/>
          <p:nvPr/>
        </p:nvSpPr>
        <p:spPr>
          <a:xfrm>
            <a:off x="6587989" y="3718433"/>
            <a:ext cx="1955936" cy="160453"/>
          </a:xfrm>
          <a:prstGeom prst="rect">
            <a:avLst/>
          </a:prstGeom>
          <a:noFill/>
          <a:ln/>
        </p:spPr>
        <p:txBody>
          <a:bodyPr wrap="none" lIns="0" tIns="0" rIns="0" bIns="0" rtlCol="0" anchor="t"/>
          <a:lstStyle/>
          <a:p>
            <a:pPr algn="l" indent="0" marL="0">
              <a:lnSpc>
                <a:spcPts val="1170"/>
              </a:lnSpc>
              <a:buNone/>
            </a:pPr>
            <a:r>
              <a:rPr lang="en-US" sz="900" b="1" dirty="0">
                <a:solidFill>
                  <a:srgbClr val="0F172A"/>
                </a:solidFill>
                <a:latin typeface="Carlito" pitchFamily="34" charset="0"/>
                <a:ea typeface="Carlito" pitchFamily="34" charset="-122"/>
                <a:cs typeface="Carlito" pitchFamily="34" charset="-120"/>
              </a:rPr>
              <a:t>التشريح التطوري</a:t>
            </a:r>
            <a:endParaRPr lang="en-US" sz="900" dirty="0"/>
          </a:p>
        </p:txBody>
      </p:sp>
      <p:sp>
        <p:nvSpPr>
          <p:cNvPr id="35" name="Text 33"/>
          <p:cNvSpPr/>
          <p:nvPr/>
        </p:nvSpPr>
        <p:spPr>
          <a:xfrm>
            <a:off x="6587989" y="3909864"/>
            <a:ext cx="1955936" cy="138410"/>
          </a:xfrm>
          <a:prstGeom prst="rect">
            <a:avLst/>
          </a:prstGeom>
          <a:noFill/>
          <a:ln/>
        </p:spPr>
        <p:txBody>
          <a:bodyPr wrap="none" lIns="0" tIns="0" rIns="0" bIns="0" rtlCol="0" anchor="t"/>
          <a:lstStyle/>
          <a:p>
            <a:pPr algn="l" indent="0" marL="0">
              <a:lnSpc>
                <a:spcPts val="1090"/>
              </a:lnSpc>
              <a:buNone/>
            </a:pPr>
            <a:r>
              <a:rPr lang="en-US" sz="800" dirty="0">
                <a:solidFill>
                  <a:srgbClr val="334155"/>
                </a:solidFill>
                <a:latin typeface="Carlito" pitchFamily="34" charset="0"/>
                <a:ea typeface="Carlito" pitchFamily="34" charset="-122"/>
                <a:cs typeface="Carlito" pitchFamily="34" charset="-120"/>
              </a:rPr>
              <a:t>مراحل نمو الجنين والتكوّن</a:t>
            </a:r>
            <a:endParaRPr lang="en-US" sz="800" dirty="0"/>
          </a:p>
        </p:txBody>
      </p:sp>
      <p:sp>
        <p:nvSpPr>
          <p:cNvPr id="36" name="Text 34"/>
          <p:cNvSpPr/>
          <p:nvPr/>
        </p:nvSpPr>
        <p:spPr>
          <a:xfrm>
            <a:off x="4160565" y="3311240"/>
            <a:ext cx="2220255" cy="844190"/>
          </a:xfrm>
          <a:prstGeom prst="roundRect">
            <a:avLst>
              <a:gd name="adj" fmla="val 13540"/>
            </a:avLst>
          </a:prstGeom>
          <a:solidFill>
            <a:srgbClr val="F8FAFC"/>
          </a:solidFill>
          <a:ln/>
        </p:spPr>
        <p:txBody>
          <a:bodyPr wrap="square" rtlCol="0" anchor="ctr"/>
          <a:lstStyle/>
          <a:p>
            <a:pPr indent="0" marL="0">
              <a:buNone/>
            </a:pPr>
            <a:endParaRPr lang="en-US" dirty="0"/>
          </a:p>
        </p:txBody>
      </p:sp>
      <p:sp>
        <p:nvSpPr>
          <p:cNvPr id="37" name="Shape 35"/>
          <p:cNvSpPr/>
          <p:nvPr/>
        </p:nvSpPr>
        <p:spPr>
          <a:xfrm>
            <a:off x="4160565" y="3314812"/>
            <a:ext cx="2220255" cy="0"/>
          </a:xfrm>
          <a:prstGeom prst="line">
            <a:avLst/>
          </a:prstGeom>
          <a:noFill/>
          <a:ln w="7144">
            <a:solidFill>
              <a:srgbClr val="E2E8F0"/>
            </a:solidFill>
            <a:prstDash val="solid"/>
          </a:ln>
        </p:spPr>
      </p:sp>
      <p:sp>
        <p:nvSpPr>
          <p:cNvPr id="38" name="Shape 36"/>
          <p:cNvSpPr/>
          <p:nvPr/>
        </p:nvSpPr>
        <p:spPr>
          <a:xfrm>
            <a:off x="6366532" y="3311240"/>
            <a:ext cx="0" cy="844190"/>
          </a:xfrm>
          <a:prstGeom prst="line">
            <a:avLst/>
          </a:prstGeom>
          <a:noFill/>
          <a:ln w="28575">
            <a:solidFill>
              <a:srgbClr val="DC2626"/>
            </a:solidFill>
            <a:prstDash val="solid"/>
          </a:ln>
        </p:spPr>
      </p:sp>
      <p:sp>
        <p:nvSpPr>
          <p:cNvPr id="39" name="Shape 37"/>
          <p:cNvSpPr/>
          <p:nvPr/>
        </p:nvSpPr>
        <p:spPr>
          <a:xfrm>
            <a:off x="4160565" y="4151858"/>
            <a:ext cx="2220255" cy="0"/>
          </a:xfrm>
          <a:prstGeom prst="line">
            <a:avLst/>
          </a:prstGeom>
          <a:noFill/>
          <a:ln w="7144">
            <a:solidFill>
              <a:srgbClr val="E2E8F0"/>
            </a:solidFill>
            <a:prstDash val="solid"/>
          </a:ln>
        </p:spPr>
      </p:sp>
      <p:sp>
        <p:nvSpPr>
          <p:cNvPr id="40" name="Shape 38"/>
          <p:cNvSpPr/>
          <p:nvPr/>
        </p:nvSpPr>
        <p:spPr>
          <a:xfrm>
            <a:off x="4164137" y="3311240"/>
            <a:ext cx="0" cy="844190"/>
          </a:xfrm>
          <a:prstGeom prst="line">
            <a:avLst/>
          </a:prstGeom>
          <a:noFill/>
          <a:ln w="7144">
            <a:solidFill>
              <a:srgbClr val="E2E8F0"/>
            </a:solidFill>
            <a:prstDash val="solid"/>
          </a:ln>
        </p:spPr>
      </p:sp>
      <p:sp>
        <p:nvSpPr>
          <p:cNvPr id="41" name="Text 39"/>
          <p:cNvSpPr/>
          <p:nvPr/>
        </p:nvSpPr>
        <p:spPr>
          <a:xfrm>
            <a:off x="5980770" y="3418396"/>
            <a:ext cx="257175" cy="257175"/>
          </a:xfrm>
          <a:prstGeom prst="roundRect">
            <a:avLst>
              <a:gd name="adj" fmla="val 37037"/>
            </a:avLst>
          </a:prstGeom>
          <a:solidFill>
            <a:srgbClr val="FEE2E2"/>
          </a:solidFill>
          <a:ln/>
        </p:spPr>
        <p:txBody>
          <a:bodyPr wrap="square" rtlCol="0" anchor="ctr"/>
          <a:lstStyle/>
          <a:p>
            <a:pPr indent="0" marL="0">
              <a:buNone/>
            </a:pPr>
            <a:endParaRPr lang="en-US" dirty="0"/>
          </a:p>
        </p:txBody>
      </p:sp>
      <p:sp>
        <p:nvSpPr>
          <p:cNvPr id="42" name="Text 40"/>
          <p:cNvSpPr/>
          <p:nvPr/>
        </p:nvSpPr>
        <p:spPr>
          <a:xfrm>
            <a:off x="5995415" y="3433041"/>
            <a:ext cx="227886" cy="227886"/>
          </a:xfrm>
          <a:prstGeom prst="rect">
            <a:avLst/>
          </a:prstGeom>
          <a:noFill/>
          <a:ln/>
        </p:spPr>
        <p:txBody>
          <a:bodyPr wrap="none" lIns="0" tIns="0" rIns="0" bIns="0" rtlCol="0" anchor="ctr"/>
          <a:lstStyle/>
          <a:p>
            <a:pPr algn="ctr" indent="0" marL="0">
              <a:buNone/>
            </a:pPr>
            <a:r>
              <a:rPr lang="en-US" sz="1547" dirty="0">
                <a:solidFill>
                  <a:srgbClr val="DC2626"/>
                </a:solidFill>
                <a:latin typeface="Segoe UI Symbol" pitchFamily="34" charset="0"/>
                <a:ea typeface="Segoe UI Symbol" pitchFamily="34" charset="-122"/>
                <a:cs typeface="Segoe UI Symbol" pitchFamily="34" charset="-120"/>
              </a:rPr>
              <a:t>⇄</a:t>
            </a:r>
            <a:endParaRPr lang="en-US" sz="1547" dirty="0"/>
          </a:p>
        </p:txBody>
      </p:sp>
      <p:sp>
        <p:nvSpPr>
          <p:cNvPr id="43" name="Text 41"/>
          <p:cNvSpPr/>
          <p:nvPr/>
        </p:nvSpPr>
        <p:spPr>
          <a:xfrm>
            <a:off x="4282008" y="3718433"/>
            <a:ext cx="1955936" cy="160453"/>
          </a:xfrm>
          <a:prstGeom prst="rect">
            <a:avLst/>
          </a:prstGeom>
          <a:noFill/>
          <a:ln/>
        </p:spPr>
        <p:txBody>
          <a:bodyPr wrap="none" lIns="0" tIns="0" rIns="0" bIns="0" rtlCol="0" anchor="t"/>
          <a:lstStyle/>
          <a:p>
            <a:pPr algn="l" indent="0" marL="0">
              <a:lnSpc>
                <a:spcPts val="1170"/>
              </a:lnSpc>
              <a:buNone/>
            </a:pPr>
            <a:r>
              <a:rPr lang="en-US" sz="900" b="1" dirty="0">
                <a:solidFill>
                  <a:srgbClr val="0F172A"/>
                </a:solidFill>
                <a:latin typeface="Carlito" pitchFamily="34" charset="0"/>
                <a:ea typeface="Carlito" pitchFamily="34" charset="-122"/>
                <a:cs typeface="Carlito" pitchFamily="34" charset="-120"/>
              </a:rPr>
              <a:t>التشريح المقارن</a:t>
            </a:r>
            <a:endParaRPr lang="en-US" sz="900" dirty="0"/>
          </a:p>
        </p:txBody>
      </p:sp>
      <p:sp>
        <p:nvSpPr>
          <p:cNvPr id="44" name="Text 42"/>
          <p:cNvSpPr/>
          <p:nvPr/>
        </p:nvSpPr>
        <p:spPr>
          <a:xfrm>
            <a:off x="4282008" y="3909864"/>
            <a:ext cx="1955936" cy="138410"/>
          </a:xfrm>
          <a:prstGeom prst="rect">
            <a:avLst/>
          </a:prstGeom>
          <a:noFill/>
          <a:ln/>
        </p:spPr>
        <p:txBody>
          <a:bodyPr wrap="none" lIns="0" tIns="0" rIns="0" bIns="0" rtlCol="0" anchor="t"/>
          <a:lstStyle/>
          <a:p>
            <a:pPr algn="l" indent="0" marL="0">
              <a:lnSpc>
                <a:spcPts val="1090"/>
              </a:lnSpc>
              <a:buNone/>
            </a:pPr>
            <a:r>
              <a:rPr lang="en-US" sz="800" dirty="0">
                <a:solidFill>
                  <a:srgbClr val="334155"/>
                </a:solidFill>
                <a:latin typeface="Carlito" pitchFamily="34" charset="0"/>
                <a:ea typeface="Carlito" pitchFamily="34" charset="-122"/>
                <a:cs typeface="Carlito" pitchFamily="34" charset="-120"/>
              </a:rPr>
              <a:t>مقارنة البنى بين الكائنات</a:t>
            </a:r>
            <a:endParaRPr lang="en-US" sz="800" dirty="0"/>
          </a:p>
        </p:txBody>
      </p:sp>
      <p:sp>
        <p:nvSpPr>
          <p:cNvPr id="45" name="Text 43"/>
          <p:cNvSpPr/>
          <p:nvPr/>
        </p:nvSpPr>
        <p:spPr>
          <a:xfrm>
            <a:off x="460772" y="403622"/>
            <a:ext cx="3496196" cy="4336256"/>
          </a:xfrm>
          <a:prstGeom prst="roundRect">
            <a:avLst>
              <a:gd name="adj" fmla="val 4359"/>
            </a:avLst>
          </a:prstGeom>
          <a:solidFill>
            <a:srgbClr val="F8FAFC"/>
          </a:solidFill>
          <a:ln w="7144">
            <a:solidFill>
              <a:srgbClr val="E2E8F0"/>
            </a:solidFill>
            <a:prstDash val="solid"/>
          </a:ln>
        </p:spPr>
        <p:txBody>
          <a:bodyPr wrap="square" rtlCol="0" anchor="ctr"/>
          <a:lstStyle/>
          <a:p>
            <a:pPr indent="0" marL="0">
              <a:buNone/>
            </a:pPr>
            <a:endParaRPr lang="en-US" dirty="0"/>
          </a:p>
        </p:txBody>
      </p:sp>
      <p:pic>
        <p:nvPicPr>
          <p:cNvPr id="46" name="Image 0" descr="/tmp/h2p-fit-1789634203646-l7fd1d.png">    </p:cNvPr>
          <p:cNvPicPr>
            <a:picLocks noChangeAspect="1"/>
          </p:cNvPicPr>
          <p:nvPr/>
        </p:nvPicPr>
        <p:blipFill>
          <a:blip r:embed="rId1"/>
          <a:stretch>
            <a:fillRect/>
          </a:stretch>
        </p:blipFill>
        <p:spPr>
          <a:xfrm>
            <a:off x="457200" y="400050"/>
            <a:ext cx="3503340" cy="4343400"/>
          </a:xfrm>
          <a:prstGeom prst="rect">
            <a:avLst/>
          </a:prstGeom>
        </p:spPr>
      </p:pic>
      <p:sp>
        <p:nvSpPr>
          <p:cNvPr id="47" name="Text 44"/>
          <p:cNvSpPr/>
          <p:nvPr/>
        </p:nvSpPr>
        <p:spPr>
          <a:xfrm>
            <a:off x="1123243" y="4375547"/>
            <a:ext cx="2719425" cy="250031"/>
          </a:xfrm>
          <a:prstGeom prst="roundRect">
            <a:avLst>
              <a:gd name="adj" fmla="val 38095"/>
            </a:avLst>
          </a:prstGeom>
          <a:solidFill>
            <a:srgbClr val="FFFFFF">
              <a:alpha val="92000"/>
            </a:srgbClr>
          </a:solidFill>
          <a:ln w="7144">
            <a:solidFill>
              <a:srgbClr val="E2E8F0"/>
            </a:solidFill>
            <a:prstDash val="solid"/>
          </a:ln>
        </p:spPr>
        <p:txBody>
          <a:bodyPr wrap="square" rtlCol="0" anchor="ctr"/>
          <a:lstStyle/>
          <a:p>
            <a:pPr indent="0" marL="0">
              <a:buNone/>
            </a:pPr>
            <a:endParaRPr lang="en-US" dirty="0"/>
          </a:p>
        </p:txBody>
      </p:sp>
      <p:sp>
        <p:nvSpPr>
          <p:cNvPr id="48" name="Text 45"/>
          <p:cNvSpPr/>
          <p:nvPr/>
        </p:nvSpPr>
        <p:spPr>
          <a:xfrm>
            <a:off x="3610496" y="4436269"/>
            <a:ext cx="128588" cy="128588"/>
          </a:xfrm>
          <a:prstGeom prst="rect">
            <a:avLst/>
          </a:prstGeom>
          <a:noFill/>
          <a:ln/>
        </p:spPr>
        <p:txBody>
          <a:bodyPr wrap="none" lIns="0" tIns="0" rIns="0" bIns="0" rtlCol="0" anchor="ctr"/>
          <a:lstStyle/>
          <a:p>
            <a:pPr algn="ctr" indent="0" marL="0">
              <a:buNone/>
            </a:pPr>
            <a:r>
              <a:rPr lang="en-US" sz="1266" dirty="0">
                <a:solidFill>
                  <a:srgbClr val="1E40AF"/>
                </a:solidFill>
                <a:latin typeface="Segoe UI Symbol" pitchFamily="34" charset="0"/>
                <a:ea typeface="Segoe UI Symbol" pitchFamily="34" charset="-122"/>
                <a:cs typeface="Segoe UI Symbol" pitchFamily="34" charset="-120"/>
              </a:rPr>
              <a:t>⚗</a:t>
            </a:r>
            <a:endParaRPr lang="en-US" sz="1266" dirty="0"/>
          </a:p>
        </p:txBody>
      </p:sp>
      <p:sp>
        <p:nvSpPr>
          <p:cNvPr id="49" name="Text 46"/>
          <p:cNvSpPr/>
          <p:nvPr/>
        </p:nvSpPr>
        <p:spPr>
          <a:xfrm>
            <a:off x="1226827" y="4436269"/>
            <a:ext cx="2512640" cy="128588"/>
          </a:xfrm>
          <a:prstGeom prst="rect">
            <a:avLst/>
          </a:prstGeom>
          <a:noFill/>
          <a:ln/>
        </p:spPr>
        <p:txBody>
          <a:bodyPr wrap="none" lIns="0" tIns="0" rIns="0" bIns="0" rtlCol="0" anchor="t"/>
          <a:lstStyle/>
          <a:p>
            <a:pPr algn="l" indent="0" marL="0">
              <a:lnSpc>
                <a:spcPts val="1013"/>
              </a:lnSpc>
              <a:buNone/>
            </a:pPr>
            <a:r>
              <a:rPr lang="en-US" sz="800" dirty="0">
                <a:solidFill>
                  <a:srgbClr val="0F172A"/>
                </a:solidFill>
                <a:latin typeface="Carlito" pitchFamily="34" charset="0"/>
                <a:ea typeface="Carlito" pitchFamily="34" charset="-122"/>
                <a:cs typeface="Carlito" pitchFamily="34" charset="-120"/>
              </a:rPr>
              <a:t>علم التشريح يبدأ في المختبر — المجهر والبحث العلمي</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5F9"/>
        </a:solidFill>
      </p:bgPr>
    </p:bg>
    <p:spTree>
      <p:nvGrpSpPr>
        <p:cNvPr id="1" name=""/>
        <p:cNvGrpSpPr/>
        <p:nvPr/>
      </p:nvGrpSpPr>
      <p:grpSpPr>
        <a:xfrm>
          <a:off x="0" y="0"/>
          <a:ext cx="0" cy="0"/>
          <a:chOff x="0" y="0"/>
          <a:chExt cx="0" cy="0"/>
        </a:xfrm>
      </p:grpSpPr>
      <p:sp>
        <p:nvSpPr>
          <p:cNvPr id="2" name="Text 0"/>
          <p:cNvSpPr/>
          <p:nvPr/>
        </p:nvSpPr>
        <p:spPr>
          <a:xfrm>
            <a:off x="7695069" y="330098"/>
            <a:ext cx="1014591" cy="250631"/>
          </a:xfrm>
          <a:prstGeom prst="roundRect">
            <a:avLst>
              <a:gd name="adj" fmla="val 3796607"/>
            </a:avLst>
          </a:prstGeom>
          <a:solidFill>
            <a:srgbClr val="DBEAFE"/>
          </a:solidFill>
          <a:ln/>
        </p:spPr>
        <p:txBody>
          <a:bodyPr wrap="square" rtlCol="0" anchor="ctr"/>
          <a:lstStyle/>
          <a:p>
            <a:pPr indent="0" marL="0">
              <a:buNone/>
            </a:pPr>
            <a:endParaRPr lang="en-US" dirty="0"/>
          </a:p>
        </p:txBody>
      </p:sp>
      <p:sp>
        <p:nvSpPr>
          <p:cNvPr id="3" name="Text 1"/>
          <p:cNvSpPr/>
          <p:nvPr/>
        </p:nvSpPr>
        <p:spPr>
          <a:xfrm>
            <a:off x="8458200" y="391120"/>
            <a:ext cx="128588" cy="128588"/>
          </a:xfrm>
          <a:prstGeom prst="rect">
            <a:avLst/>
          </a:prstGeom>
          <a:noFill/>
          <a:ln/>
        </p:spPr>
        <p:txBody>
          <a:bodyPr wrap="none" lIns="0" tIns="0" rIns="0" bIns="0" rtlCol="0" anchor="ctr"/>
          <a:lstStyle/>
          <a:p>
            <a:pPr algn="ctr" indent="0" marL="0">
              <a:buNone/>
            </a:pPr>
            <a:r>
              <a:rPr lang="en-US" sz="1266" dirty="0">
                <a:solidFill>
                  <a:srgbClr val="1E40AF"/>
                </a:solidFill>
                <a:latin typeface="Segoe UI Symbol" pitchFamily="34" charset="0"/>
                <a:ea typeface="Segoe UI Symbol" pitchFamily="34" charset="-122"/>
                <a:cs typeface="Segoe UI Symbol" pitchFamily="34" charset="-120"/>
              </a:rPr>
              <a:t>✦</a:t>
            </a:r>
            <a:endParaRPr lang="en-US" sz="1266" dirty="0"/>
          </a:p>
        </p:txBody>
      </p:sp>
      <p:sp>
        <p:nvSpPr>
          <p:cNvPr id="4" name="Text 2"/>
          <p:cNvSpPr/>
          <p:nvPr/>
        </p:nvSpPr>
        <p:spPr>
          <a:xfrm>
            <a:off x="7817941" y="385763"/>
            <a:ext cx="746745" cy="139303"/>
          </a:xfrm>
          <a:prstGeom prst="rect">
            <a:avLst/>
          </a:prstGeom>
          <a:noFill/>
          <a:ln/>
        </p:spPr>
        <p:txBody>
          <a:bodyPr wrap="none" lIns="0" tIns="0" rIns="0" bIns="0" rtlCol="0" anchor="t"/>
          <a:lstStyle/>
          <a:p>
            <a:pPr algn="l" indent="0" marL="0">
              <a:lnSpc>
                <a:spcPts val="1097"/>
              </a:lnSpc>
              <a:buNone/>
            </a:pPr>
            <a:r>
              <a:rPr lang="en-US" sz="800" dirty="0">
                <a:solidFill>
                  <a:srgbClr val="1E40AF"/>
                </a:solidFill>
                <a:latin typeface="Carlito" pitchFamily="34" charset="0"/>
                <a:ea typeface="Carlito" pitchFamily="34" charset="-122"/>
                <a:cs typeface="Carlito" pitchFamily="34" charset="-120"/>
              </a:rPr>
              <a:t>مفهوم أساسي</a:t>
            </a:r>
            <a:endParaRPr lang="en-US" sz="800" dirty="0"/>
          </a:p>
        </p:txBody>
      </p:sp>
      <p:sp>
        <p:nvSpPr>
          <p:cNvPr id="5" name="Text 3"/>
          <p:cNvSpPr/>
          <p:nvPr/>
        </p:nvSpPr>
        <p:spPr>
          <a:xfrm>
            <a:off x="457200" y="653653"/>
            <a:ext cx="8636000" cy="344043"/>
          </a:xfrm>
          <a:prstGeom prst="rect">
            <a:avLst/>
          </a:prstGeom>
          <a:noFill/>
          <a:ln/>
        </p:spPr>
        <p:txBody>
          <a:bodyPr wrap="none" lIns="0" tIns="0" rIns="0" bIns="0" rtlCol="0" anchor="t">
            <a:normAutofit/>
          </a:bodyPr>
          <a:lstStyle/>
          <a:p>
            <a:pPr algn="l" indent="0" marL="0">
              <a:lnSpc>
                <a:spcPts val="2588"/>
              </a:lnSpc>
              <a:buNone/>
            </a:pPr>
            <a:r>
              <a:rPr lang="en-US" sz="2250" b="1" dirty="0">
                <a:solidFill>
                  <a:srgbClr val="1E40AF"/>
                </a:solidFill>
                <a:latin typeface="Carlito" pitchFamily="34" charset="0"/>
                <a:ea typeface="Carlito" pitchFamily="34" charset="-122"/>
                <a:cs typeface="Carlito" pitchFamily="34" charset="-120"/>
              </a:rPr>
              <a:t>مستويات التنظيم في الجسم</a:t>
            </a:r>
            <a:endParaRPr lang="en-US" sz="2250" dirty="0"/>
          </a:p>
        </p:txBody>
      </p:sp>
      <p:sp>
        <p:nvSpPr>
          <p:cNvPr id="6" name="Text 4"/>
          <p:cNvSpPr/>
          <p:nvPr/>
        </p:nvSpPr>
        <p:spPr>
          <a:xfrm>
            <a:off x="457200" y="1025128"/>
            <a:ext cx="8636000" cy="173593"/>
          </a:xfrm>
          <a:prstGeom prst="rect">
            <a:avLst/>
          </a:prstGeom>
          <a:noFill/>
          <a:ln/>
        </p:spPr>
        <p:txBody>
          <a:bodyPr wrap="square" lIns="0" tIns="0" rIns="0" bIns="0" rtlCol="0" anchor="t"/>
          <a:lstStyle/>
          <a:p>
            <a:pPr algn="l" indent="0" marL="0">
              <a:lnSpc>
                <a:spcPts val="1266"/>
              </a:lnSpc>
              <a:buNone/>
            </a:pPr>
            <a:r>
              <a:rPr lang="en-US" sz="844" dirty="0">
                <a:solidFill>
                  <a:srgbClr val="64748B"/>
                </a:solidFill>
                <a:latin typeface="Carlito" pitchFamily="34" charset="0"/>
                <a:ea typeface="Carlito" pitchFamily="34" charset="-122"/>
                <a:cs typeface="Carlito" pitchFamily="34" charset="-120"/>
              </a:rPr>
              <a:t>من الذرة إلى الكائن الحي — ستة مستويات مترابطة</a:t>
            </a:r>
            <a:endParaRPr lang="en-US" sz="844" dirty="0"/>
          </a:p>
        </p:txBody>
      </p:sp>
      <p:sp>
        <p:nvSpPr>
          <p:cNvPr id="7" name="Text 5"/>
          <p:cNvSpPr/>
          <p:nvPr/>
        </p:nvSpPr>
        <p:spPr>
          <a:xfrm>
            <a:off x="8286750" y="1271588"/>
            <a:ext cx="400050" cy="28575"/>
          </a:xfrm>
          <a:prstGeom prst="roundRect">
            <a:avLst>
              <a:gd name="adj" fmla="val 66667"/>
            </a:avLst>
          </a:prstGeom>
          <a:solidFill>
            <a:srgbClr val="DC2626"/>
          </a:solidFill>
          <a:ln/>
        </p:spPr>
        <p:txBody>
          <a:bodyPr wrap="square" rtlCol="0" anchor="ctr"/>
          <a:lstStyle/>
          <a:p>
            <a:pPr indent="0" marL="0">
              <a:buNone/>
            </a:pPr>
            <a:endParaRPr lang="en-US" dirty="0"/>
          </a:p>
        </p:txBody>
      </p:sp>
      <p:sp>
        <p:nvSpPr>
          <p:cNvPr id="8" name="Text 6"/>
          <p:cNvSpPr/>
          <p:nvPr/>
        </p:nvSpPr>
        <p:spPr>
          <a:xfrm>
            <a:off x="457200" y="1500188"/>
            <a:ext cx="1250156" cy="2286000"/>
          </a:xfrm>
          <a:prstGeom prst="roundRect">
            <a:avLst>
              <a:gd name="adj" fmla="val 10667"/>
            </a:avLst>
          </a:prstGeom>
          <a:solidFill>
            <a:srgbClr val="F8FAFC"/>
          </a:solidFill>
          <a:ln/>
          <a:effectLst>
            <a:outerShdw sx="100000" sy="100000" kx="0" ky="0" algn="bl" rotWithShape="0" blurRad="209550" dist="57150" dir="5400000">
              <a:srgbClr val="0F172A">
                <a:alpha val="5000"/>
              </a:srgbClr>
            </a:outerShdw>
          </a:effectLst>
        </p:spPr>
        <p:txBody>
          <a:bodyPr wrap="square" rtlCol="0" anchor="ctr"/>
          <a:lstStyle/>
          <a:p>
            <a:pPr indent="0" marL="0">
              <a:buNone/>
            </a:pPr>
            <a:endParaRPr lang="en-US" dirty="0"/>
          </a:p>
        </p:txBody>
      </p:sp>
      <p:sp>
        <p:nvSpPr>
          <p:cNvPr id="9" name="Shape 7"/>
          <p:cNvSpPr/>
          <p:nvPr/>
        </p:nvSpPr>
        <p:spPr>
          <a:xfrm>
            <a:off x="457200" y="1514475"/>
            <a:ext cx="1250156" cy="0"/>
          </a:xfrm>
          <a:prstGeom prst="line">
            <a:avLst/>
          </a:prstGeom>
          <a:noFill/>
          <a:ln w="28575">
            <a:solidFill>
              <a:srgbClr val="1E40AF"/>
            </a:solidFill>
            <a:prstDash val="solid"/>
          </a:ln>
        </p:spPr>
      </p:sp>
      <p:sp>
        <p:nvSpPr>
          <p:cNvPr id="10" name="Shape 8"/>
          <p:cNvSpPr/>
          <p:nvPr/>
        </p:nvSpPr>
        <p:spPr>
          <a:xfrm>
            <a:off x="1703784" y="1500188"/>
            <a:ext cx="0" cy="2286000"/>
          </a:xfrm>
          <a:prstGeom prst="line">
            <a:avLst/>
          </a:prstGeom>
          <a:noFill/>
          <a:ln w="7144">
            <a:solidFill>
              <a:srgbClr val="E2E8F0"/>
            </a:solidFill>
            <a:prstDash val="solid"/>
          </a:ln>
        </p:spPr>
      </p:sp>
      <p:sp>
        <p:nvSpPr>
          <p:cNvPr id="11" name="Shape 9"/>
          <p:cNvSpPr/>
          <p:nvPr/>
        </p:nvSpPr>
        <p:spPr>
          <a:xfrm>
            <a:off x="457200" y="3782616"/>
            <a:ext cx="1250156" cy="0"/>
          </a:xfrm>
          <a:prstGeom prst="line">
            <a:avLst/>
          </a:prstGeom>
          <a:noFill/>
          <a:ln w="7144">
            <a:solidFill>
              <a:srgbClr val="E2E8F0"/>
            </a:solidFill>
            <a:prstDash val="solid"/>
          </a:ln>
        </p:spPr>
      </p:sp>
      <p:sp>
        <p:nvSpPr>
          <p:cNvPr id="12" name="Shape 10"/>
          <p:cNvSpPr/>
          <p:nvPr/>
        </p:nvSpPr>
        <p:spPr>
          <a:xfrm>
            <a:off x="460772" y="1500188"/>
            <a:ext cx="0" cy="2286000"/>
          </a:xfrm>
          <a:prstGeom prst="line">
            <a:avLst/>
          </a:prstGeom>
          <a:noFill/>
          <a:ln w="7144">
            <a:solidFill>
              <a:srgbClr val="E2E8F0"/>
            </a:solidFill>
            <a:prstDash val="solid"/>
          </a:ln>
        </p:spPr>
      </p:sp>
      <p:sp>
        <p:nvSpPr>
          <p:cNvPr id="13" name="Text 11"/>
          <p:cNvSpPr/>
          <p:nvPr/>
        </p:nvSpPr>
        <p:spPr>
          <a:xfrm>
            <a:off x="578644" y="1657350"/>
            <a:ext cx="1007269" cy="231458"/>
          </a:xfrm>
          <a:prstGeom prst="rect">
            <a:avLst/>
          </a:prstGeom>
          <a:noFill/>
          <a:ln/>
        </p:spPr>
        <p:txBody>
          <a:bodyPr wrap="none" lIns="0" tIns="0" rIns="0" bIns="0" rtlCol="0" anchor="t"/>
          <a:lstStyle/>
          <a:p>
            <a:pPr algn="l" indent="0" marL="0">
              <a:lnSpc>
                <a:spcPts val="1688"/>
              </a:lnSpc>
              <a:buNone/>
            </a:pPr>
            <a:r>
              <a:rPr lang="en-US" sz="1688" b="1" spc="-34" kern="0" dirty="0">
                <a:solidFill>
                  <a:srgbClr val="1E40AF"/>
                </a:solidFill>
                <a:latin typeface="Liberation Sans Narrow" pitchFamily="34" charset="0"/>
                <a:ea typeface="Liberation Sans Narrow" pitchFamily="34" charset="-122"/>
                <a:cs typeface="Liberation Sans Narrow" pitchFamily="34" charset="-120"/>
              </a:rPr>
              <a:t>01</a:t>
            </a:r>
            <a:endParaRPr lang="en-US" sz="1688" dirty="0"/>
          </a:p>
        </p:txBody>
      </p:sp>
      <p:sp>
        <p:nvSpPr>
          <p:cNvPr id="14" name="Text 12"/>
          <p:cNvSpPr/>
          <p:nvPr/>
        </p:nvSpPr>
        <p:spPr>
          <a:xfrm>
            <a:off x="1185863" y="1971675"/>
            <a:ext cx="400050" cy="400050"/>
          </a:xfrm>
          <a:prstGeom prst="roundRect">
            <a:avLst>
              <a:gd name="adj" fmla="val 33333"/>
            </a:avLst>
          </a:prstGeom>
          <a:solidFill>
            <a:srgbClr val="DBEAFE"/>
          </a:solidFill>
          <a:ln/>
        </p:spPr>
        <p:txBody>
          <a:bodyPr wrap="square" rtlCol="0" anchor="ctr"/>
          <a:lstStyle/>
          <a:p>
            <a:pPr indent="0" marL="0">
              <a:buNone/>
            </a:pPr>
            <a:endParaRPr lang="en-US" dirty="0"/>
          </a:p>
        </p:txBody>
      </p:sp>
      <p:sp>
        <p:nvSpPr>
          <p:cNvPr id="15" name="Text 13"/>
          <p:cNvSpPr/>
          <p:nvPr/>
        </p:nvSpPr>
        <p:spPr>
          <a:xfrm>
            <a:off x="1220153" y="2005965"/>
            <a:ext cx="331470" cy="331470"/>
          </a:xfrm>
          <a:prstGeom prst="rect">
            <a:avLst/>
          </a:prstGeom>
          <a:noFill/>
          <a:ln/>
        </p:spPr>
        <p:txBody>
          <a:bodyPr wrap="none" lIns="0" tIns="0" rIns="0" bIns="0" rtlCol="0" anchor="ctr"/>
          <a:lstStyle/>
          <a:p>
            <a:pPr algn="ctr" indent="0" marL="0">
              <a:buNone/>
            </a:pPr>
            <a:r>
              <a:rPr lang="en-US" sz="2250" dirty="0">
                <a:solidFill>
                  <a:srgbClr val="1E40AF"/>
                </a:solidFill>
                <a:latin typeface="Segoe UI Symbol" pitchFamily="34" charset="0"/>
                <a:ea typeface="Segoe UI Symbol" pitchFamily="34" charset="-122"/>
                <a:cs typeface="Segoe UI Symbol" pitchFamily="34" charset="-120"/>
              </a:rPr>
              <a:t>⚗</a:t>
            </a:r>
            <a:endParaRPr lang="en-US" sz="2250" dirty="0"/>
          </a:p>
        </p:txBody>
      </p:sp>
      <p:sp>
        <p:nvSpPr>
          <p:cNvPr id="16" name="Text 14"/>
          <p:cNvSpPr/>
          <p:nvPr/>
        </p:nvSpPr>
        <p:spPr>
          <a:xfrm>
            <a:off x="578644" y="2471738"/>
            <a:ext cx="1007269" cy="180465"/>
          </a:xfrm>
          <a:prstGeom prst="rect">
            <a:avLst/>
          </a:prstGeom>
          <a:noFill/>
          <a:ln/>
        </p:spPr>
        <p:txBody>
          <a:bodyPr wrap="none" lIns="0" tIns="0" rIns="0" bIns="0" rtlCol="0" anchor="t"/>
          <a:lstStyle/>
          <a:p>
            <a:pPr algn="l" indent="0" marL="0">
              <a:lnSpc>
                <a:spcPts val="1316"/>
              </a:lnSpc>
              <a:buNone/>
            </a:pPr>
            <a:r>
              <a:rPr lang="en-US" sz="1013" b="1" dirty="0">
                <a:solidFill>
                  <a:srgbClr val="0F172A"/>
                </a:solidFill>
                <a:latin typeface="Carlito" pitchFamily="34" charset="0"/>
                <a:ea typeface="Carlito" pitchFamily="34" charset="-122"/>
                <a:cs typeface="Carlito" pitchFamily="34" charset="-120"/>
              </a:rPr>
              <a:t>الكيميائي</a:t>
            </a:r>
            <a:endParaRPr lang="en-US" sz="1013" dirty="0"/>
          </a:p>
        </p:txBody>
      </p:sp>
      <p:sp>
        <p:nvSpPr>
          <p:cNvPr id="17" name="Text 15"/>
          <p:cNvSpPr/>
          <p:nvPr/>
        </p:nvSpPr>
        <p:spPr>
          <a:xfrm>
            <a:off x="578644" y="3378994"/>
            <a:ext cx="1007269" cy="285750"/>
          </a:xfrm>
          <a:prstGeom prst="rect">
            <a:avLst/>
          </a:prstGeom>
          <a:noFill/>
          <a:ln/>
        </p:spPr>
        <p:txBody>
          <a:bodyPr wrap="square" lIns="0" tIns="0" rIns="0" bIns="0" rtlCol="0" anchor="t"/>
          <a:lstStyle/>
          <a:p>
            <a:pPr algn="l" indent="0" marL="0">
              <a:lnSpc>
                <a:spcPts val="1125"/>
              </a:lnSpc>
              <a:buNone/>
            </a:pPr>
            <a:r>
              <a:rPr lang="en-US" sz="800" dirty="0">
                <a:solidFill>
                  <a:srgbClr val="334155"/>
                </a:solidFill>
                <a:latin typeface="Carlito" pitchFamily="34" charset="0"/>
                <a:ea typeface="Carlito" pitchFamily="34" charset="-122"/>
                <a:cs typeface="Carlito" pitchFamily="34" charset="-120"/>
              </a:rPr>
              <a:t>ذرات وجزيئات مثل DNA والبروتينات</a:t>
            </a:r>
            <a:endParaRPr lang="en-US" sz="800" dirty="0"/>
          </a:p>
        </p:txBody>
      </p:sp>
      <p:sp>
        <p:nvSpPr>
          <p:cNvPr id="18" name="Text 16"/>
          <p:cNvSpPr/>
          <p:nvPr/>
        </p:nvSpPr>
        <p:spPr>
          <a:xfrm>
            <a:off x="1853133" y="1500188"/>
            <a:ext cx="1250156" cy="2286000"/>
          </a:xfrm>
          <a:prstGeom prst="roundRect">
            <a:avLst>
              <a:gd name="adj" fmla="val 10667"/>
            </a:avLst>
          </a:prstGeom>
          <a:solidFill>
            <a:srgbClr val="F8FAFC"/>
          </a:solidFill>
          <a:ln/>
          <a:effectLst>
            <a:outerShdw sx="100000" sy="100000" kx="0" ky="0" algn="bl" rotWithShape="0" blurRad="209550" dist="57150" dir="5400000">
              <a:srgbClr val="0F172A">
                <a:alpha val="5000"/>
              </a:srgbClr>
            </a:outerShdw>
          </a:effectLst>
        </p:spPr>
        <p:txBody>
          <a:bodyPr wrap="square" rtlCol="0" anchor="ctr"/>
          <a:lstStyle/>
          <a:p>
            <a:pPr indent="0" marL="0">
              <a:buNone/>
            </a:pPr>
            <a:endParaRPr lang="en-US" dirty="0"/>
          </a:p>
        </p:txBody>
      </p:sp>
      <p:sp>
        <p:nvSpPr>
          <p:cNvPr id="19" name="Shape 17"/>
          <p:cNvSpPr/>
          <p:nvPr/>
        </p:nvSpPr>
        <p:spPr>
          <a:xfrm>
            <a:off x="1853133" y="1514475"/>
            <a:ext cx="1250156" cy="0"/>
          </a:xfrm>
          <a:prstGeom prst="line">
            <a:avLst/>
          </a:prstGeom>
          <a:noFill/>
          <a:ln w="28575">
            <a:solidFill>
              <a:srgbClr val="DC2626"/>
            </a:solidFill>
            <a:prstDash val="solid"/>
          </a:ln>
        </p:spPr>
      </p:sp>
      <p:sp>
        <p:nvSpPr>
          <p:cNvPr id="20" name="Shape 18"/>
          <p:cNvSpPr/>
          <p:nvPr/>
        </p:nvSpPr>
        <p:spPr>
          <a:xfrm>
            <a:off x="3099718" y="1500188"/>
            <a:ext cx="0" cy="2286000"/>
          </a:xfrm>
          <a:prstGeom prst="line">
            <a:avLst/>
          </a:prstGeom>
          <a:noFill/>
          <a:ln w="7144">
            <a:solidFill>
              <a:srgbClr val="E2E8F0"/>
            </a:solidFill>
            <a:prstDash val="solid"/>
          </a:ln>
        </p:spPr>
      </p:sp>
      <p:sp>
        <p:nvSpPr>
          <p:cNvPr id="21" name="Shape 19"/>
          <p:cNvSpPr/>
          <p:nvPr/>
        </p:nvSpPr>
        <p:spPr>
          <a:xfrm>
            <a:off x="1853133" y="3782616"/>
            <a:ext cx="1250156" cy="0"/>
          </a:xfrm>
          <a:prstGeom prst="line">
            <a:avLst/>
          </a:prstGeom>
          <a:noFill/>
          <a:ln w="7144">
            <a:solidFill>
              <a:srgbClr val="E2E8F0"/>
            </a:solidFill>
            <a:prstDash val="solid"/>
          </a:ln>
        </p:spPr>
      </p:sp>
      <p:sp>
        <p:nvSpPr>
          <p:cNvPr id="22" name="Shape 20"/>
          <p:cNvSpPr/>
          <p:nvPr/>
        </p:nvSpPr>
        <p:spPr>
          <a:xfrm>
            <a:off x="1856705" y="1500188"/>
            <a:ext cx="0" cy="2286000"/>
          </a:xfrm>
          <a:prstGeom prst="line">
            <a:avLst/>
          </a:prstGeom>
          <a:noFill/>
          <a:ln w="7144">
            <a:solidFill>
              <a:srgbClr val="E2E8F0"/>
            </a:solidFill>
            <a:prstDash val="solid"/>
          </a:ln>
        </p:spPr>
      </p:sp>
      <p:sp>
        <p:nvSpPr>
          <p:cNvPr id="23" name="Text 21"/>
          <p:cNvSpPr/>
          <p:nvPr/>
        </p:nvSpPr>
        <p:spPr>
          <a:xfrm>
            <a:off x="1974577" y="1657350"/>
            <a:ext cx="1007269" cy="231458"/>
          </a:xfrm>
          <a:prstGeom prst="rect">
            <a:avLst/>
          </a:prstGeom>
          <a:noFill/>
          <a:ln/>
        </p:spPr>
        <p:txBody>
          <a:bodyPr wrap="none" lIns="0" tIns="0" rIns="0" bIns="0" rtlCol="0" anchor="t"/>
          <a:lstStyle/>
          <a:p>
            <a:pPr algn="l" indent="0" marL="0">
              <a:lnSpc>
                <a:spcPts val="1688"/>
              </a:lnSpc>
              <a:buNone/>
            </a:pPr>
            <a:r>
              <a:rPr lang="en-US" sz="1688" b="1" spc="-34" kern="0" dirty="0">
                <a:solidFill>
                  <a:srgbClr val="DC2626"/>
                </a:solidFill>
                <a:latin typeface="Liberation Sans Narrow" pitchFamily="34" charset="0"/>
                <a:ea typeface="Liberation Sans Narrow" pitchFamily="34" charset="-122"/>
                <a:cs typeface="Liberation Sans Narrow" pitchFamily="34" charset="-120"/>
              </a:rPr>
              <a:t>02</a:t>
            </a:r>
            <a:endParaRPr lang="en-US" sz="1688" dirty="0"/>
          </a:p>
        </p:txBody>
      </p:sp>
      <p:sp>
        <p:nvSpPr>
          <p:cNvPr id="24" name="Text 22"/>
          <p:cNvSpPr/>
          <p:nvPr/>
        </p:nvSpPr>
        <p:spPr>
          <a:xfrm>
            <a:off x="2581796" y="1971675"/>
            <a:ext cx="400050" cy="400050"/>
          </a:xfrm>
          <a:prstGeom prst="roundRect">
            <a:avLst>
              <a:gd name="adj" fmla="val 33333"/>
            </a:avLst>
          </a:prstGeom>
          <a:solidFill>
            <a:srgbClr val="FEE2E2"/>
          </a:solidFill>
          <a:ln/>
        </p:spPr>
        <p:txBody>
          <a:bodyPr wrap="square" rtlCol="0" anchor="ctr"/>
          <a:lstStyle/>
          <a:p>
            <a:pPr indent="0" marL="0">
              <a:buNone/>
            </a:pPr>
            <a:endParaRPr lang="en-US" dirty="0"/>
          </a:p>
        </p:txBody>
      </p:sp>
      <p:sp>
        <p:nvSpPr>
          <p:cNvPr id="25" name="Text 23"/>
          <p:cNvSpPr/>
          <p:nvPr/>
        </p:nvSpPr>
        <p:spPr>
          <a:xfrm>
            <a:off x="2616086" y="2005965"/>
            <a:ext cx="331470" cy="331470"/>
          </a:xfrm>
          <a:prstGeom prst="rect">
            <a:avLst/>
          </a:prstGeom>
          <a:noFill/>
          <a:ln/>
        </p:spPr>
        <p:txBody>
          <a:bodyPr wrap="none" lIns="0" tIns="0" rIns="0" bIns="0" rtlCol="0" anchor="ctr"/>
          <a:lstStyle/>
          <a:p>
            <a:pPr algn="ctr" indent="0" marL="0">
              <a:buNone/>
            </a:pPr>
            <a:r>
              <a:rPr lang="en-US" sz="2250" dirty="0">
                <a:solidFill>
                  <a:srgbClr val="DC2626"/>
                </a:solidFill>
                <a:latin typeface="Segoe UI Symbol" pitchFamily="34" charset="0"/>
                <a:ea typeface="Segoe UI Symbol" pitchFamily="34" charset="-122"/>
                <a:cs typeface="Segoe UI Symbol" pitchFamily="34" charset="-120"/>
              </a:rPr>
              <a:t>●</a:t>
            </a:r>
            <a:endParaRPr lang="en-US" sz="2250" dirty="0"/>
          </a:p>
        </p:txBody>
      </p:sp>
      <p:sp>
        <p:nvSpPr>
          <p:cNvPr id="26" name="Text 24"/>
          <p:cNvSpPr/>
          <p:nvPr/>
        </p:nvSpPr>
        <p:spPr>
          <a:xfrm>
            <a:off x="1974577" y="2471738"/>
            <a:ext cx="1007269" cy="180465"/>
          </a:xfrm>
          <a:prstGeom prst="rect">
            <a:avLst/>
          </a:prstGeom>
          <a:noFill/>
          <a:ln/>
        </p:spPr>
        <p:txBody>
          <a:bodyPr wrap="none" lIns="0" tIns="0" rIns="0" bIns="0" rtlCol="0" anchor="t"/>
          <a:lstStyle/>
          <a:p>
            <a:pPr algn="l" indent="0" marL="0">
              <a:lnSpc>
                <a:spcPts val="1316"/>
              </a:lnSpc>
              <a:buNone/>
            </a:pPr>
            <a:r>
              <a:rPr lang="en-US" sz="1013" b="1" dirty="0">
                <a:solidFill>
                  <a:srgbClr val="0F172A"/>
                </a:solidFill>
                <a:latin typeface="Carlito" pitchFamily="34" charset="0"/>
                <a:ea typeface="Carlito" pitchFamily="34" charset="-122"/>
                <a:cs typeface="Carlito" pitchFamily="34" charset="-120"/>
              </a:rPr>
              <a:t>الخلوي</a:t>
            </a:r>
            <a:endParaRPr lang="en-US" sz="1013" dirty="0"/>
          </a:p>
        </p:txBody>
      </p:sp>
      <p:sp>
        <p:nvSpPr>
          <p:cNvPr id="27" name="Text 25"/>
          <p:cNvSpPr/>
          <p:nvPr/>
        </p:nvSpPr>
        <p:spPr>
          <a:xfrm>
            <a:off x="1974577" y="3378994"/>
            <a:ext cx="1007269" cy="285750"/>
          </a:xfrm>
          <a:prstGeom prst="rect">
            <a:avLst/>
          </a:prstGeom>
          <a:noFill/>
          <a:ln/>
        </p:spPr>
        <p:txBody>
          <a:bodyPr wrap="square" lIns="0" tIns="0" rIns="0" bIns="0" rtlCol="0" anchor="t"/>
          <a:lstStyle/>
          <a:p>
            <a:pPr algn="l" indent="0" marL="0">
              <a:lnSpc>
                <a:spcPts val="1125"/>
              </a:lnSpc>
              <a:buNone/>
            </a:pPr>
            <a:r>
              <a:rPr lang="en-US" sz="800" dirty="0">
                <a:solidFill>
                  <a:srgbClr val="334155"/>
                </a:solidFill>
                <a:latin typeface="Carlito" pitchFamily="34" charset="0"/>
                <a:ea typeface="Carlito" pitchFamily="34" charset="-122"/>
                <a:cs typeface="Carlito" pitchFamily="34" charset="-120"/>
              </a:rPr>
              <a:t>الخلية الوحدة الأساسية للحياة</a:t>
            </a:r>
            <a:endParaRPr lang="en-US" sz="800" dirty="0"/>
          </a:p>
        </p:txBody>
      </p:sp>
      <p:sp>
        <p:nvSpPr>
          <p:cNvPr id="28" name="Text 26"/>
          <p:cNvSpPr/>
          <p:nvPr/>
        </p:nvSpPr>
        <p:spPr>
          <a:xfrm>
            <a:off x="3248955" y="1500188"/>
            <a:ext cx="1250156" cy="2286000"/>
          </a:xfrm>
          <a:prstGeom prst="roundRect">
            <a:avLst>
              <a:gd name="adj" fmla="val 10667"/>
            </a:avLst>
          </a:prstGeom>
          <a:solidFill>
            <a:srgbClr val="F8FAFC"/>
          </a:solidFill>
          <a:ln/>
          <a:effectLst>
            <a:outerShdw sx="100000" sy="100000" kx="0" ky="0" algn="bl" rotWithShape="0" blurRad="209550" dist="57150" dir="5400000">
              <a:srgbClr val="0F172A">
                <a:alpha val="5000"/>
              </a:srgbClr>
            </a:outerShdw>
          </a:effectLst>
        </p:spPr>
        <p:txBody>
          <a:bodyPr wrap="square" rtlCol="0" anchor="ctr"/>
          <a:lstStyle/>
          <a:p>
            <a:pPr indent="0" marL="0">
              <a:buNone/>
            </a:pPr>
            <a:endParaRPr lang="en-US" dirty="0"/>
          </a:p>
        </p:txBody>
      </p:sp>
      <p:sp>
        <p:nvSpPr>
          <p:cNvPr id="29" name="Shape 27"/>
          <p:cNvSpPr/>
          <p:nvPr/>
        </p:nvSpPr>
        <p:spPr>
          <a:xfrm>
            <a:off x="3248955" y="1514475"/>
            <a:ext cx="1250156" cy="0"/>
          </a:xfrm>
          <a:prstGeom prst="line">
            <a:avLst/>
          </a:prstGeom>
          <a:noFill/>
          <a:ln w="28575">
            <a:solidFill>
              <a:srgbClr val="0D9488"/>
            </a:solidFill>
            <a:prstDash val="solid"/>
          </a:ln>
        </p:spPr>
      </p:sp>
      <p:sp>
        <p:nvSpPr>
          <p:cNvPr id="30" name="Shape 28"/>
          <p:cNvSpPr/>
          <p:nvPr/>
        </p:nvSpPr>
        <p:spPr>
          <a:xfrm>
            <a:off x="4495540" y="1500188"/>
            <a:ext cx="0" cy="2286000"/>
          </a:xfrm>
          <a:prstGeom prst="line">
            <a:avLst/>
          </a:prstGeom>
          <a:noFill/>
          <a:ln w="7144">
            <a:solidFill>
              <a:srgbClr val="E2E8F0"/>
            </a:solidFill>
            <a:prstDash val="solid"/>
          </a:ln>
        </p:spPr>
      </p:sp>
      <p:sp>
        <p:nvSpPr>
          <p:cNvPr id="31" name="Shape 29"/>
          <p:cNvSpPr/>
          <p:nvPr/>
        </p:nvSpPr>
        <p:spPr>
          <a:xfrm>
            <a:off x="3248955" y="3782616"/>
            <a:ext cx="1250156" cy="0"/>
          </a:xfrm>
          <a:prstGeom prst="line">
            <a:avLst/>
          </a:prstGeom>
          <a:noFill/>
          <a:ln w="7144">
            <a:solidFill>
              <a:srgbClr val="E2E8F0"/>
            </a:solidFill>
            <a:prstDash val="solid"/>
          </a:ln>
        </p:spPr>
      </p:sp>
      <p:sp>
        <p:nvSpPr>
          <p:cNvPr id="32" name="Shape 30"/>
          <p:cNvSpPr/>
          <p:nvPr/>
        </p:nvSpPr>
        <p:spPr>
          <a:xfrm>
            <a:off x="3252527" y="1500188"/>
            <a:ext cx="0" cy="2286000"/>
          </a:xfrm>
          <a:prstGeom prst="line">
            <a:avLst/>
          </a:prstGeom>
          <a:noFill/>
          <a:ln w="7144">
            <a:solidFill>
              <a:srgbClr val="E2E8F0"/>
            </a:solidFill>
            <a:prstDash val="solid"/>
          </a:ln>
        </p:spPr>
      </p:sp>
      <p:sp>
        <p:nvSpPr>
          <p:cNvPr id="33" name="Text 31"/>
          <p:cNvSpPr/>
          <p:nvPr/>
        </p:nvSpPr>
        <p:spPr>
          <a:xfrm>
            <a:off x="3370399" y="1657350"/>
            <a:ext cx="1007269" cy="231458"/>
          </a:xfrm>
          <a:prstGeom prst="rect">
            <a:avLst/>
          </a:prstGeom>
          <a:noFill/>
          <a:ln/>
        </p:spPr>
        <p:txBody>
          <a:bodyPr wrap="none" lIns="0" tIns="0" rIns="0" bIns="0" rtlCol="0" anchor="t"/>
          <a:lstStyle/>
          <a:p>
            <a:pPr algn="l" indent="0" marL="0">
              <a:lnSpc>
                <a:spcPts val="1688"/>
              </a:lnSpc>
              <a:buNone/>
            </a:pPr>
            <a:r>
              <a:rPr lang="en-US" sz="1688" b="1" spc="-34" kern="0" dirty="0">
                <a:solidFill>
                  <a:srgbClr val="0D9488"/>
                </a:solidFill>
                <a:latin typeface="Liberation Sans Narrow" pitchFamily="34" charset="0"/>
                <a:ea typeface="Liberation Sans Narrow" pitchFamily="34" charset="-122"/>
                <a:cs typeface="Liberation Sans Narrow" pitchFamily="34" charset="-120"/>
              </a:rPr>
              <a:t>03</a:t>
            </a:r>
            <a:endParaRPr lang="en-US" sz="1688" dirty="0"/>
          </a:p>
        </p:txBody>
      </p:sp>
      <p:sp>
        <p:nvSpPr>
          <p:cNvPr id="34" name="Text 32"/>
          <p:cNvSpPr/>
          <p:nvPr/>
        </p:nvSpPr>
        <p:spPr>
          <a:xfrm>
            <a:off x="3977618" y="1971675"/>
            <a:ext cx="400050" cy="400050"/>
          </a:xfrm>
          <a:prstGeom prst="roundRect">
            <a:avLst>
              <a:gd name="adj" fmla="val 33333"/>
            </a:avLst>
          </a:prstGeom>
          <a:solidFill>
            <a:srgbClr val="CCFBF1"/>
          </a:solidFill>
          <a:ln/>
        </p:spPr>
        <p:txBody>
          <a:bodyPr wrap="square" rtlCol="0" anchor="ctr"/>
          <a:lstStyle/>
          <a:p>
            <a:pPr indent="0" marL="0">
              <a:buNone/>
            </a:pPr>
            <a:endParaRPr lang="en-US" dirty="0"/>
          </a:p>
        </p:txBody>
      </p:sp>
      <p:sp>
        <p:nvSpPr>
          <p:cNvPr id="35" name="Text 33"/>
          <p:cNvSpPr/>
          <p:nvPr/>
        </p:nvSpPr>
        <p:spPr>
          <a:xfrm>
            <a:off x="4011908" y="2005965"/>
            <a:ext cx="331470" cy="331470"/>
          </a:xfrm>
          <a:prstGeom prst="rect">
            <a:avLst/>
          </a:prstGeom>
          <a:noFill/>
          <a:ln/>
        </p:spPr>
        <p:txBody>
          <a:bodyPr wrap="none" lIns="0" tIns="0" rIns="0" bIns="0" rtlCol="0" anchor="ctr"/>
          <a:lstStyle/>
          <a:p>
            <a:pPr algn="ctr" indent="0" marL="0">
              <a:buNone/>
            </a:pPr>
            <a:r>
              <a:rPr lang="en-US" sz="2250" dirty="0">
                <a:solidFill>
                  <a:srgbClr val="0D9488"/>
                </a:solidFill>
                <a:latin typeface="Segoe UI Symbol" pitchFamily="34" charset="0"/>
                <a:ea typeface="Segoe UI Symbol" pitchFamily="34" charset="-122"/>
                <a:cs typeface="Segoe UI Symbol" pitchFamily="34" charset="-120"/>
              </a:rPr>
              <a:t>☂</a:t>
            </a:r>
            <a:endParaRPr lang="en-US" sz="2250" dirty="0"/>
          </a:p>
        </p:txBody>
      </p:sp>
      <p:sp>
        <p:nvSpPr>
          <p:cNvPr id="36" name="Text 34"/>
          <p:cNvSpPr/>
          <p:nvPr/>
        </p:nvSpPr>
        <p:spPr>
          <a:xfrm>
            <a:off x="3370399" y="2471738"/>
            <a:ext cx="1007269" cy="180465"/>
          </a:xfrm>
          <a:prstGeom prst="rect">
            <a:avLst/>
          </a:prstGeom>
          <a:noFill/>
          <a:ln/>
        </p:spPr>
        <p:txBody>
          <a:bodyPr wrap="none" lIns="0" tIns="0" rIns="0" bIns="0" rtlCol="0" anchor="t"/>
          <a:lstStyle/>
          <a:p>
            <a:pPr algn="l" indent="0" marL="0">
              <a:lnSpc>
                <a:spcPts val="1316"/>
              </a:lnSpc>
              <a:buNone/>
            </a:pPr>
            <a:r>
              <a:rPr lang="en-US" sz="1013" b="1" dirty="0">
                <a:solidFill>
                  <a:srgbClr val="0F172A"/>
                </a:solidFill>
                <a:latin typeface="Carlito" pitchFamily="34" charset="0"/>
                <a:ea typeface="Carlito" pitchFamily="34" charset="-122"/>
                <a:cs typeface="Carlito" pitchFamily="34" charset="-120"/>
              </a:rPr>
              <a:t>النسيجي</a:t>
            </a:r>
            <a:endParaRPr lang="en-US" sz="1013" dirty="0"/>
          </a:p>
        </p:txBody>
      </p:sp>
      <p:sp>
        <p:nvSpPr>
          <p:cNvPr id="37" name="Text 35"/>
          <p:cNvSpPr/>
          <p:nvPr/>
        </p:nvSpPr>
        <p:spPr>
          <a:xfrm>
            <a:off x="3370399" y="3378994"/>
            <a:ext cx="1007269" cy="285750"/>
          </a:xfrm>
          <a:prstGeom prst="rect">
            <a:avLst/>
          </a:prstGeom>
          <a:noFill/>
          <a:ln/>
        </p:spPr>
        <p:txBody>
          <a:bodyPr wrap="none" lIns="0" tIns="0" rIns="0" bIns="0" rtlCol="0" anchor="t"/>
          <a:lstStyle/>
          <a:p>
            <a:pPr algn="l" indent="0" marL="0">
              <a:lnSpc>
                <a:spcPts val="1125"/>
              </a:lnSpc>
              <a:buNone/>
            </a:pPr>
            <a:r>
              <a:rPr lang="en-US" sz="800" dirty="0">
                <a:solidFill>
                  <a:srgbClr val="334155"/>
                </a:solidFill>
                <a:latin typeface="Carlito" pitchFamily="34" charset="0"/>
                <a:ea typeface="Carlito" pitchFamily="34" charset="-122"/>
                <a:cs typeface="Carlito" pitchFamily="34" charset="-120"/>
              </a:rPr>
              <a:t>مجموعات خلوية متخصصة</a:t>
            </a:r>
            <a:endParaRPr lang="en-US" sz="800" dirty="0"/>
          </a:p>
        </p:txBody>
      </p:sp>
      <p:sp>
        <p:nvSpPr>
          <p:cNvPr id="38" name="Text 36"/>
          <p:cNvSpPr/>
          <p:nvPr/>
        </p:nvSpPr>
        <p:spPr>
          <a:xfrm>
            <a:off x="4644889" y="1500188"/>
            <a:ext cx="1250156" cy="2286000"/>
          </a:xfrm>
          <a:prstGeom prst="roundRect">
            <a:avLst>
              <a:gd name="adj" fmla="val 10667"/>
            </a:avLst>
          </a:prstGeom>
          <a:solidFill>
            <a:srgbClr val="F8FAFC"/>
          </a:solidFill>
          <a:ln/>
          <a:effectLst>
            <a:outerShdw sx="100000" sy="100000" kx="0" ky="0" algn="bl" rotWithShape="0" blurRad="209550" dist="57150" dir="5400000">
              <a:srgbClr val="0F172A">
                <a:alpha val="5000"/>
              </a:srgbClr>
            </a:outerShdw>
          </a:effectLst>
        </p:spPr>
        <p:txBody>
          <a:bodyPr wrap="square" rtlCol="0" anchor="ctr"/>
          <a:lstStyle/>
          <a:p>
            <a:pPr indent="0" marL="0">
              <a:buNone/>
            </a:pPr>
            <a:endParaRPr lang="en-US" dirty="0"/>
          </a:p>
        </p:txBody>
      </p:sp>
      <p:sp>
        <p:nvSpPr>
          <p:cNvPr id="39" name="Shape 37"/>
          <p:cNvSpPr/>
          <p:nvPr/>
        </p:nvSpPr>
        <p:spPr>
          <a:xfrm>
            <a:off x="4644889" y="1514475"/>
            <a:ext cx="1250156" cy="0"/>
          </a:xfrm>
          <a:prstGeom prst="line">
            <a:avLst/>
          </a:prstGeom>
          <a:noFill/>
          <a:ln w="28575">
            <a:solidFill>
              <a:srgbClr val="1E40AF"/>
            </a:solidFill>
            <a:prstDash val="solid"/>
          </a:ln>
        </p:spPr>
      </p:sp>
      <p:sp>
        <p:nvSpPr>
          <p:cNvPr id="40" name="Shape 38"/>
          <p:cNvSpPr/>
          <p:nvPr/>
        </p:nvSpPr>
        <p:spPr>
          <a:xfrm>
            <a:off x="5891473" y="1500188"/>
            <a:ext cx="0" cy="2286000"/>
          </a:xfrm>
          <a:prstGeom prst="line">
            <a:avLst/>
          </a:prstGeom>
          <a:noFill/>
          <a:ln w="7144">
            <a:solidFill>
              <a:srgbClr val="E2E8F0"/>
            </a:solidFill>
            <a:prstDash val="solid"/>
          </a:ln>
        </p:spPr>
      </p:sp>
      <p:sp>
        <p:nvSpPr>
          <p:cNvPr id="41" name="Shape 39"/>
          <p:cNvSpPr/>
          <p:nvPr/>
        </p:nvSpPr>
        <p:spPr>
          <a:xfrm>
            <a:off x="4644889" y="3782616"/>
            <a:ext cx="1250156" cy="0"/>
          </a:xfrm>
          <a:prstGeom prst="line">
            <a:avLst/>
          </a:prstGeom>
          <a:noFill/>
          <a:ln w="7144">
            <a:solidFill>
              <a:srgbClr val="E2E8F0"/>
            </a:solidFill>
            <a:prstDash val="solid"/>
          </a:ln>
        </p:spPr>
      </p:sp>
      <p:sp>
        <p:nvSpPr>
          <p:cNvPr id="42" name="Shape 40"/>
          <p:cNvSpPr/>
          <p:nvPr/>
        </p:nvSpPr>
        <p:spPr>
          <a:xfrm>
            <a:off x="4648460" y="1500188"/>
            <a:ext cx="0" cy="2286000"/>
          </a:xfrm>
          <a:prstGeom prst="line">
            <a:avLst/>
          </a:prstGeom>
          <a:noFill/>
          <a:ln w="7144">
            <a:solidFill>
              <a:srgbClr val="E2E8F0"/>
            </a:solidFill>
            <a:prstDash val="solid"/>
          </a:ln>
        </p:spPr>
      </p:sp>
      <p:sp>
        <p:nvSpPr>
          <p:cNvPr id="43" name="Text 41"/>
          <p:cNvSpPr/>
          <p:nvPr/>
        </p:nvSpPr>
        <p:spPr>
          <a:xfrm>
            <a:off x="4766332" y="1657350"/>
            <a:ext cx="1007269" cy="231458"/>
          </a:xfrm>
          <a:prstGeom prst="rect">
            <a:avLst/>
          </a:prstGeom>
          <a:noFill/>
          <a:ln/>
        </p:spPr>
        <p:txBody>
          <a:bodyPr wrap="none" lIns="0" tIns="0" rIns="0" bIns="0" rtlCol="0" anchor="t"/>
          <a:lstStyle/>
          <a:p>
            <a:pPr algn="l" indent="0" marL="0">
              <a:lnSpc>
                <a:spcPts val="1688"/>
              </a:lnSpc>
              <a:buNone/>
            </a:pPr>
            <a:r>
              <a:rPr lang="en-US" sz="1688" b="1" spc="-34" kern="0" dirty="0">
                <a:solidFill>
                  <a:srgbClr val="1E40AF"/>
                </a:solidFill>
                <a:latin typeface="Liberation Sans Narrow" pitchFamily="34" charset="0"/>
                <a:ea typeface="Liberation Sans Narrow" pitchFamily="34" charset="-122"/>
                <a:cs typeface="Liberation Sans Narrow" pitchFamily="34" charset="-120"/>
              </a:rPr>
              <a:t>04</a:t>
            </a:r>
            <a:endParaRPr lang="en-US" sz="1688" dirty="0"/>
          </a:p>
        </p:txBody>
      </p:sp>
      <p:sp>
        <p:nvSpPr>
          <p:cNvPr id="44" name="Text 42"/>
          <p:cNvSpPr/>
          <p:nvPr/>
        </p:nvSpPr>
        <p:spPr>
          <a:xfrm>
            <a:off x="5373551" y="1971675"/>
            <a:ext cx="400050" cy="400050"/>
          </a:xfrm>
          <a:prstGeom prst="roundRect">
            <a:avLst>
              <a:gd name="adj" fmla="val 33333"/>
            </a:avLst>
          </a:prstGeom>
          <a:solidFill>
            <a:srgbClr val="DBEAFE"/>
          </a:solidFill>
          <a:ln/>
        </p:spPr>
        <p:txBody>
          <a:bodyPr wrap="square" rtlCol="0" anchor="ctr"/>
          <a:lstStyle/>
          <a:p>
            <a:pPr indent="0" marL="0">
              <a:buNone/>
            </a:pPr>
            <a:endParaRPr lang="en-US" dirty="0"/>
          </a:p>
        </p:txBody>
      </p:sp>
      <p:sp>
        <p:nvSpPr>
          <p:cNvPr id="45" name="Text 43"/>
          <p:cNvSpPr/>
          <p:nvPr/>
        </p:nvSpPr>
        <p:spPr>
          <a:xfrm>
            <a:off x="5407841" y="2005965"/>
            <a:ext cx="331470" cy="331470"/>
          </a:xfrm>
          <a:prstGeom prst="rect">
            <a:avLst/>
          </a:prstGeom>
          <a:noFill/>
          <a:ln/>
        </p:spPr>
        <p:txBody>
          <a:bodyPr wrap="none" lIns="0" tIns="0" rIns="0" bIns="0" rtlCol="0" anchor="ctr"/>
          <a:lstStyle/>
          <a:p>
            <a:pPr algn="ctr" indent="0" marL="0">
              <a:buNone/>
            </a:pPr>
            <a:r>
              <a:rPr lang="en-US" sz="2250" dirty="0">
                <a:solidFill>
                  <a:srgbClr val="1E40AF"/>
                </a:solidFill>
                <a:latin typeface="Segoe UI Symbol" pitchFamily="34" charset="0"/>
                <a:ea typeface="Segoe UI Symbol" pitchFamily="34" charset="-122"/>
                <a:cs typeface="Segoe UI Symbol" pitchFamily="34" charset="-120"/>
              </a:rPr>
              <a:t>▣</a:t>
            </a:r>
            <a:endParaRPr lang="en-US" sz="2250" dirty="0"/>
          </a:p>
        </p:txBody>
      </p:sp>
      <p:sp>
        <p:nvSpPr>
          <p:cNvPr id="46" name="Text 44"/>
          <p:cNvSpPr/>
          <p:nvPr/>
        </p:nvSpPr>
        <p:spPr>
          <a:xfrm>
            <a:off x="4766332" y="2471738"/>
            <a:ext cx="1007269" cy="180465"/>
          </a:xfrm>
          <a:prstGeom prst="rect">
            <a:avLst/>
          </a:prstGeom>
          <a:noFill/>
          <a:ln/>
        </p:spPr>
        <p:txBody>
          <a:bodyPr wrap="none" lIns="0" tIns="0" rIns="0" bIns="0" rtlCol="0" anchor="t"/>
          <a:lstStyle/>
          <a:p>
            <a:pPr algn="l" indent="0" marL="0">
              <a:lnSpc>
                <a:spcPts val="1316"/>
              </a:lnSpc>
              <a:buNone/>
            </a:pPr>
            <a:r>
              <a:rPr lang="en-US" sz="1013" b="1" dirty="0">
                <a:solidFill>
                  <a:srgbClr val="0F172A"/>
                </a:solidFill>
                <a:latin typeface="Carlito" pitchFamily="34" charset="0"/>
                <a:ea typeface="Carlito" pitchFamily="34" charset="-122"/>
                <a:cs typeface="Carlito" pitchFamily="34" charset="-120"/>
              </a:rPr>
              <a:t>العضوي</a:t>
            </a:r>
            <a:endParaRPr lang="en-US" sz="1013" dirty="0"/>
          </a:p>
        </p:txBody>
      </p:sp>
      <p:sp>
        <p:nvSpPr>
          <p:cNvPr id="47" name="Text 45"/>
          <p:cNvSpPr/>
          <p:nvPr/>
        </p:nvSpPr>
        <p:spPr>
          <a:xfrm>
            <a:off x="4766332" y="3378994"/>
            <a:ext cx="1007269" cy="285750"/>
          </a:xfrm>
          <a:prstGeom prst="rect">
            <a:avLst/>
          </a:prstGeom>
          <a:noFill/>
          <a:ln/>
        </p:spPr>
        <p:txBody>
          <a:bodyPr wrap="square" lIns="0" tIns="0" rIns="0" bIns="0" rtlCol="0" anchor="t"/>
          <a:lstStyle/>
          <a:p>
            <a:pPr algn="l" indent="0" marL="0">
              <a:lnSpc>
                <a:spcPts val="1125"/>
              </a:lnSpc>
              <a:buNone/>
            </a:pPr>
            <a:r>
              <a:rPr lang="en-US" sz="800" dirty="0">
                <a:solidFill>
                  <a:srgbClr val="334155"/>
                </a:solidFill>
                <a:latin typeface="Carlito" pitchFamily="34" charset="0"/>
                <a:ea typeface="Carlito" pitchFamily="34" charset="-122"/>
                <a:cs typeface="Carlito" pitchFamily="34" charset="-120"/>
              </a:rPr>
              <a:t>أعضاء مثل القلب والكبد والدماغ</a:t>
            </a:r>
            <a:endParaRPr lang="en-US" sz="800" dirty="0"/>
          </a:p>
        </p:txBody>
      </p:sp>
      <p:sp>
        <p:nvSpPr>
          <p:cNvPr id="48" name="Text 46"/>
          <p:cNvSpPr/>
          <p:nvPr/>
        </p:nvSpPr>
        <p:spPr>
          <a:xfrm>
            <a:off x="6040710" y="1500188"/>
            <a:ext cx="1250156" cy="2286000"/>
          </a:xfrm>
          <a:prstGeom prst="roundRect">
            <a:avLst>
              <a:gd name="adj" fmla="val 10667"/>
            </a:avLst>
          </a:prstGeom>
          <a:solidFill>
            <a:srgbClr val="F8FAFC"/>
          </a:solidFill>
          <a:ln/>
          <a:effectLst>
            <a:outerShdw sx="100000" sy="100000" kx="0" ky="0" algn="bl" rotWithShape="0" blurRad="209550" dist="57150" dir="5400000">
              <a:srgbClr val="0F172A">
                <a:alpha val="5000"/>
              </a:srgbClr>
            </a:outerShdw>
          </a:effectLst>
        </p:spPr>
        <p:txBody>
          <a:bodyPr wrap="square" rtlCol="0" anchor="ctr"/>
          <a:lstStyle/>
          <a:p>
            <a:pPr indent="0" marL="0">
              <a:buNone/>
            </a:pPr>
            <a:endParaRPr lang="en-US" dirty="0"/>
          </a:p>
        </p:txBody>
      </p:sp>
      <p:sp>
        <p:nvSpPr>
          <p:cNvPr id="49" name="Shape 47"/>
          <p:cNvSpPr/>
          <p:nvPr/>
        </p:nvSpPr>
        <p:spPr>
          <a:xfrm>
            <a:off x="6040710" y="1514475"/>
            <a:ext cx="1250156" cy="0"/>
          </a:xfrm>
          <a:prstGeom prst="line">
            <a:avLst/>
          </a:prstGeom>
          <a:noFill/>
          <a:ln w="28575">
            <a:solidFill>
              <a:srgbClr val="DC2626"/>
            </a:solidFill>
            <a:prstDash val="solid"/>
          </a:ln>
        </p:spPr>
      </p:sp>
      <p:sp>
        <p:nvSpPr>
          <p:cNvPr id="50" name="Shape 48"/>
          <p:cNvSpPr/>
          <p:nvPr/>
        </p:nvSpPr>
        <p:spPr>
          <a:xfrm>
            <a:off x="7287295" y="1500188"/>
            <a:ext cx="0" cy="2286000"/>
          </a:xfrm>
          <a:prstGeom prst="line">
            <a:avLst/>
          </a:prstGeom>
          <a:noFill/>
          <a:ln w="7144">
            <a:solidFill>
              <a:srgbClr val="E2E8F0"/>
            </a:solidFill>
            <a:prstDash val="solid"/>
          </a:ln>
        </p:spPr>
      </p:sp>
      <p:sp>
        <p:nvSpPr>
          <p:cNvPr id="51" name="Shape 49"/>
          <p:cNvSpPr/>
          <p:nvPr/>
        </p:nvSpPr>
        <p:spPr>
          <a:xfrm>
            <a:off x="6040710" y="3782616"/>
            <a:ext cx="1250156" cy="0"/>
          </a:xfrm>
          <a:prstGeom prst="line">
            <a:avLst/>
          </a:prstGeom>
          <a:noFill/>
          <a:ln w="7144">
            <a:solidFill>
              <a:srgbClr val="E2E8F0"/>
            </a:solidFill>
            <a:prstDash val="solid"/>
          </a:ln>
        </p:spPr>
      </p:sp>
      <p:sp>
        <p:nvSpPr>
          <p:cNvPr id="52" name="Shape 50"/>
          <p:cNvSpPr/>
          <p:nvPr/>
        </p:nvSpPr>
        <p:spPr>
          <a:xfrm>
            <a:off x="6044282" y="1500188"/>
            <a:ext cx="0" cy="2286000"/>
          </a:xfrm>
          <a:prstGeom prst="line">
            <a:avLst/>
          </a:prstGeom>
          <a:noFill/>
          <a:ln w="7144">
            <a:solidFill>
              <a:srgbClr val="E2E8F0"/>
            </a:solidFill>
            <a:prstDash val="solid"/>
          </a:ln>
        </p:spPr>
      </p:sp>
      <p:sp>
        <p:nvSpPr>
          <p:cNvPr id="53" name="Text 51"/>
          <p:cNvSpPr/>
          <p:nvPr/>
        </p:nvSpPr>
        <p:spPr>
          <a:xfrm>
            <a:off x="6162154" y="1657350"/>
            <a:ext cx="1007269" cy="231458"/>
          </a:xfrm>
          <a:prstGeom prst="rect">
            <a:avLst/>
          </a:prstGeom>
          <a:noFill/>
          <a:ln/>
        </p:spPr>
        <p:txBody>
          <a:bodyPr wrap="none" lIns="0" tIns="0" rIns="0" bIns="0" rtlCol="0" anchor="t"/>
          <a:lstStyle/>
          <a:p>
            <a:pPr algn="l" indent="0" marL="0">
              <a:lnSpc>
                <a:spcPts val="1688"/>
              </a:lnSpc>
              <a:buNone/>
            </a:pPr>
            <a:r>
              <a:rPr lang="en-US" sz="1688" b="1" spc="-34" kern="0" dirty="0">
                <a:solidFill>
                  <a:srgbClr val="DC2626"/>
                </a:solidFill>
                <a:latin typeface="Liberation Sans Narrow" pitchFamily="34" charset="0"/>
                <a:ea typeface="Liberation Sans Narrow" pitchFamily="34" charset="-122"/>
                <a:cs typeface="Liberation Sans Narrow" pitchFamily="34" charset="-120"/>
              </a:rPr>
              <a:t>05</a:t>
            </a:r>
            <a:endParaRPr lang="en-US" sz="1688" dirty="0"/>
          </a:p>
        </p:txBody>
      </p:sp>
      <p:sp>
        <p:nvSpPr>
          <p:cNvPr id="54" name="Text 52"/>
          <p:cNvSpPr/>
          <p:nvPr/>
        </p:nvSpPr>
        <p:spPr>
          <a:xfrm>
            <a:off x="6769373" y="1971675"/>
            <a:ext cx="400050" cy="400050"/>
          </a:xfrm>
          <a:prstGeom prst="roundRect">
            <a:avLst>
              <a:gd name="adj" fmla="val 33333"/>
            </a:avLst>
          </a:prstGeom>
          <a:solidFill>
            <a:srgbClr val="FEE2E2"/>
          </a:solidFill>
          <a:ln/>
        </p:spPr>
        <p:txBody>
          <a:bodyPr wrap="square" rtlCol="0" anchor="ctr"/>
          <a:lstStyle/>
          <a:p>
            <a:pPr indent="0" marL="0">
              <a:buNone/>
            </a:pPr>
            <a:endParaRPr lang="en-US" dirty="0"/>
          </a:p>
        </p:txBody>
      </p:sp>
      <p:sp>
        <p:nvSpPr>
          <p:cNvPr id="55" name="Text 53"/>
          <p:cNvSpPr/>
          <p:nvPr/>
        </p:nvSpPr>
        <p:spPr>
          <a:xfrm>
            <a:off x="6803663" y="2005965"/>
            <a:ext cx="331470" cy="331470"/>
          </a:xfrm>
          <a:prstGeom prst="rect">
            <a:avLst/>
          </a:prstGeom>
          <a:noFill/>
          <a:ln/>
        </p:spPr>
        <p:txBody>
          <a:bodyPr wrap="none" lIns="0" tIns="0" rIns="0" bIns="0" rtlCol="0" anchor="ctr"/>
          <a:lstStyle/>
          <a:p>
            <a:pPr algn="ctr" indent="0" marL="0">
              <a:buNone/>
            </a:pPr>
            <a:r>
              <a:rPr lang="en-US" sz="2250" dirty="0">
                <a:solidFill>
                  <a:srgbClr val="DC2626"/>
                </a:solidFill>
                <a:latin typeface="Segoe UI Symbol" pitchFamily="34" charset="0"/>
                <a:ea typeface="Segoe UI Symbol" pitchFamily="34" charset="-122"/>
                <a:cs typeface="Segoe UI Symbol" pitchFamily="34" charset="-120"/>
              </a:rPr>
              <a:t>✦</a:t>
            </a:r>
            <a:endParaRPr lang="en-US" sz="2250" dirty="0"/>
          </a:p>
        </p:txBody>
      </p:sp>
      <p:sp>
        <p:nvSpPr>
          <p:cNvPr id="56" name="Text 54"/>
          <p:cNvSpPr/>
          <p:nvPr/>
        </p:nvSpPr>
        <p:spPr>
          <a:xfrm>
            <a:off x="6162154" y="2471738"/>
            <a:ext cx="1007269" cy="180465"/>
          </a:xfrm>
          <a:prstGeom prst="rect">
            <a:avLst/>
          </a:prstGeom>
          <a:noFill/>
          <a:ln/>
        </p:spPr>
        <p:txBody>
          <a:bodyPr wrap="none" lIns="0" tIns="0" rIns="0" bIns="0" rtlCol="0" anchor="t"/>
          <a:lstStyle/>
          <a:p>
            <a:pPr algn="l" indent="0" marL="0">
              <a:lnSpc>
                <a:spcPts val="1316"/>
              </a:lnSpc>
              <a:buNone/>
            </a:pPr>
            <a:r>
              <a:rPr lang="en-US" sz="1013" b="1" dirty="0">
                <a:solidFill>
                  <a:srgbClr val="0F172A"/>
                </a:solidFill>
                <a:latin typeface="Carlito" pitchFamily="34" charset="0"/>
                <a:ea typeface="Carlito" pitchFamily="34" charset="-122"/>
                <a:cs typeface="Carlito" pitchFamily="34" charset="-120"/>
              </a:rPr>
              <a:t>الجهازي</a:t>
            </a:r>
            <a:endParaRPr lang="en-US" sz="1013" dirty="0"/>
          </a:p>
        </p:txBody>
      </p:sp>
      <p:sp>
        <p:nvSpPr>
          <p:cNvPr id="57" name="Text 55"/>
          <p:cNvSpPr/>
          <p:nvPr/>
        </p:nvSpPr>
        <p:spPr>
          <a:xfrm>
            <a:off x="6162154" y="3378994"/>
            <a:ext cx="1007269" cy="285750"/>
          </a:xfrm>
          <a:prstGeom prst="rect">
            <a:avLst/>
          </a:prstGeom>
          <a:noFill/>
          <a:ln/>
        </p:spPr>
        <p:txBody>
          <a:bodyPr wrap="square" lIns="0" tIns="0" rIns="0" bIns="0" rtlCol="0" anchor="t"/>
          <a:lstStyle/>
          <a:p>
            <a:pPr algn="l" indent="0" marL="0">
              <a:lnSpc>
                <a:spcPts val="1125"/>
              </a:lnSpc>
              <a:buNone/>
            </a:pPr>
            <a:r>
              <a:rPr lang="en-US" sz="800" dirty="0">
                <a:solidFill>
                  <a:srgbClr val="334155"/>
                </a:solidFill>
                <a:latin typeface="Carlito" pitchFamily="34" charset="0"/>
                <a:ea typeface="Carlito" pitchFamily="34" charset="-122"/>
                <a:cs typeface="Carlito" pitchFamily="34" charset="-120"/>
              </a:rPr>
              <a:t>أجهزة تعمل معاً كالجهاز الدوري</a:t>
            </a:r>
            <a:endParaRPr lang="en-US" sz="800" dirty="0"/>
          </a:p>
        </p:txBody>
      </p:sp>
      <p:sp>
        <p:nvSpPr>
          <p:cNvPr id="58" name="Text 56"/>
          <p:cNvSpPr/>
          <p:nvPr/>
        </p:nvSpPr>
        <p:spPr>
          <a:xfrm>
            <a:off x="7436644" y="1500188"/>
            <a:ext cx="1250156" cy="2286000"/>
          </a:xfrm>
          <a:prstGeom prst="roundRect">
            <a:avLst>
              <a:gd name="adj" fmla="val 10667"/>
            </a:avLst>
          </a:prstGeom>
          <a:solidFill>
            <a:srgbClr val="F8FAFC"/>
          </a:solidFill>
          <a:ln/>
          <a:effectLst>
            <a:outerShdw sx="100000" sy="100000" kx="0" ky="0" algn="bl" rotWithShape="0" blurRad="209550" dist="57150" dir="5400000">
              <a:srgbClr val="0F172A">
                <a:alpha val="5000"/>
              </a:srgbClr>
            </a:outerShdw>
          </a:effectLst>
        </p:spPr>
        <p:txBody>
          <a:bodyPr wrap="square" rtlCol="0" anchor="ctr"/>
          <a:lstStyle/>
          <a:p>
            <a:pPr indent="0" marL="0">
              <a:buNone/>
            </a:pPr>
            <a:endParaRPr lang="en-US" dirty="0"/>
          </a:p>
        </p:txBody>
      </p:sp>
      <p:sp>
        <p:nvSpPr>
          <p:cNvPr id="59" name="Shape 57"/>
          <p:cNvSpPr/>
          <p:nvPr/>
        </p:nvSpPr>
        <p:spPr>
          <a:xfrm>
            <a:off x="7436644" y="1514475"/>
            <a:ext cx="1250156" cy="0"/>
          </a:xfrm>
          <a:prstGeom prst="line">
            <a:avLst/>
          </a:prstGeom>
          <a:noFill/>
          <a:ln w="28575">
            <a:solidFill>
              <a:srgbClr val="0D9488"/>
            </a:solidFill>
            <a:prstDash val="solid"/>
          </a:ln>
        </p:spPr>
      </p:sp>
      <p:sp>
        <p:nvSpPr>
          <p:cNvPr id="60" name="Shape 58"/>
          <p:cNvSpPr/>
          <p:nvPr/>
        </p:nvSpPr>
        <p:spPr>
          <a:xfrm>
            <a:off x="8683228" y="1500188"/>
            <a:ext cx="0" cy="2286000"/>
          </a:xfrm>
          <a:prstGeom prst="line">
            <a:avLst/>
          </a:prstGeom>
          <a:noFill/>
          <a:ln w="7144">
            <a:solidFill>
              <a:srgbClr val="E2E8F0"/>
            </a:solidFill>
            <a:prstDash val="solid"/>
          </a:ln>
        </p:spPr>
      </p:sp>
      <p:sp>
        <p:nvSpPr>
          <p:cNvPr id="61" name="Shape 59"/>
          <p:cNvSpPr/>
          <p:nvPr/>
        </p:nvSpPr>
        <p:spPr>
          <a:xfrm>
            <a:off x="7436644" y="3782616"/>
            <a:ext cx="1250156" cy="0"/>
          </a:xfrm>
          <a:prstGeom prst="line">
            <a:avLst/>
          </a:prstGeom>
          <a:noFill/>
          <a:ln w="7144">
            <a:solidFill>
              <a:srgbClr val="E2E8F0"/>
            </a:solidFill>
            <a:prstDash val="solid"/>
          </a:ln>
        </p:spPr>
      </p:sp>
      <p:sp>
        <p:nvSpPr>
          <p:cNvPr id="62" name="Shape 60"/>
          <p:cNvSpPr/>
          <p:nvPr/>
        </p:nvSpPr>
        <p:spPr>
          <a:xfrm>
            <a:off x="7440216" y="1500188"/>
            <a:ext cx="0" cy="2286000"/>
          </a:xfrm>
          <a:prstGeom prst="line">
            <a:avLst/>
          </a:prstGeom>
          <a:noFill/>
          <a:ln w="7144">
            <a:solidFill>
              <a:srgbClr val="E2E8F0"/>
            </a:solidFill>
            <a:prstDash val="solid"/>
          </a:ln>
        </p:spPr>
      </p:sp>
      <p:sp>
        <p:nvSpPr>
          <p:cNvPr id="63" name="Text 61"/>
          <p:cNvSpPr/>
          <p:nvPr/>
        </p:nvSpPr>
        <p:spPr>
          <a:xfrm>
            <a:off x="7558088" y="1657350"/>
            <a:ext cx="1007269" cy="231458"/>
          </a:xfrm>
          <a:prstGeom prst="rect">
            <a:avLst/>
          </a:prstGeom>
          <a:noFill/>
          <a:ln/>
        </p:spPr>
        <p:txBody>
          <a:bodyPr wrap="none" lIns="0" tIns="0" rIns="0" bIns="0" rtlCol="0" anchor="t"/>
          <a:lstStyle/>
          <a:p>
            <a:pPr algn="l" indent="0" marL="0">
              <a:lnSpc>
                <a:spcPts val="1688"/>
              </a:lnSpc>
              <a:buNone/>
            </a:pPr>
            <a:r>
              <a:rPr lang="en-US" sz="1688" b="1" spc="-34" kern="0" dirty="0">
                <a:solidFill>
                  <a:srgbClr val="0D9488"/>
                </a:solidFill>
                <a:latin typeface="Liberation Sans Narrow" pitchFamily="34" charset="0"/>
                <a:ea typeface="Liberation Sans Narrow" pitchFamily="34" charset="-122"/>
                <a:cs typeface="Liberation Sans Narrow" pitchFamily="34" charset="-120"/>
              </a:rPr>
              <a:t>06</a:t>
            </a:r>
            <a:endParaRPr lang="en-US" sz="1688" dirty="0"/>
          </a:p>
        </p:txBody>
      </p:sp>
      <p:sp>
        <p:nvSpPr>
          <p:cNvPr id="64" name="Text 62"/>
          <p:cNvSpPr/>
          <p:nvPr/>
        </p:nvSpPr>
        <p:spPr>
          <a:xfrm>
            <a:off x="8165306" y="1971675"/>
            <a:ext cx="400050" cy="400050"/>
          </a:xfrm>
          <a:prstGeom prst="roundRect">
            <a:avLst>
              <a:gd name="adj" fmla="val 33333"/>
            </a:avLst>
          </a:prstGeom>
          <a:solidFill>
            <a:srgbClr val="CCFBF1"/>
          </a:solidFill>
          <a:ln/>
        </p:spPr>
        <p:txBody>
          <a:bodyPr wrap="square" rtlCol="0" anchor="ctr"/>
          <a:lstStyle/>
          <a:p>
            <a:pPr indent="0" marL="0">
              <a:buNone/>
            </a:pPr>
            <a:endParaRPr lang="en-US" dirty="0"/>
          </a:p>
        </p:txBody>
      </p:sp>
      <p:sp>
        <p:nvSpPr>
          <p:cNvPr id="65" name="Text 63"/>
          <p:cNvSpPr/>
          <p:nvPr/>
        </p:nvSpPr>
        <p:spPr>
          <a:xfrm>
            <a:off x="8199596" y="2005965"/>
            <a:ext cx="331470" cy="331470"/>
          </a:xfrm>
          <a:prstGeom prst="rect">
            <a:avLst/>
          </a:prstGeom>
          <a:noFill/>
          <a:ln/>
        </p:spPr>
        <p:txBody>
          <a:bodyPr wrap="none" lIns="0" tIns="0" rIns="0" bIns="0" rtlCol="0" anchor="ctr"/>
          <a:lstStyle/>
          <a:p>
            <a:pPr algn="ctr" indent="0" marL="0">
              <a:buNone/>
            </a:pPr>
            <a:r>
              <a:rPr lang="en-US" sz="2250" dirty="0">
                <a:solidFill>
                  <a:srgbClr val="0D9488"/>
                </a:solidFill>
                <a:latin typeface="Segoe UI Symbol" pitchFamily="34" charset="0"/>
                <a:ea typeface="Segoe UI Symbol" pitchFamily="34" charset="-122"/>
                <a:cs typeface="Segoe UI Symbol" pitchFamily="34" charset="-120"/>
              </a:rPr>
              <a:t>☻</a:t>
            </a:r>
            <a:endParaRPr lang="en-US" sz="2250" dirty="0"/>
          </a:p>
        </p:txBody>
      </p:sp>
      <p:sp>
        <p:nvSpPr>
          <p:cNvPr id="66" name="Text 64"/>
          <p:cNvSpPr/>
          <p:nvPr/>
        </p:nvSpPr>
        <p:spPr>
          <a:xfrm>
            <a:off x="7558088" y="2471738"/>
            <a:ext cx="1007269" cy="180465"/>
          </a:xfrm>
          <a:prstGeom prst="rect">
            <a:avLst/>
          </a:prstGeom>
          <a:noFill/>
          <a:ln/>
        </p:spPr>
        <p:txBody>
          <a:bodyPr wrap="none" lIns="0" tIns="0" rIns="0" bIns="0" rtlCol="0" anchor="t"/>
          <a:lstStyle/>
          <a:p>
            <a:pPr algn="l" indent="0" marL="0">
              <a:lnSpc>
                <a:spcPts val="1316"/>
              </a:lnSpc>
              <a:buNone/>
            </a:pPr>
            <a:r>
              <a:rPr lang="en-US" sz="1013" b="1" dirty="0">
                <a:solidFill>
                  <a:srgbClr val="0F172A"/>
                </a:solidFill>
                <a:latin typeface="Carlito" pitchFamily="34" charset="0"/>
                <a:ea typeface="Carlito" pitchFamily="34" charset="-122"/>
                <a:cs typeface="Carlito" pitchFamily="34" charset="-120"/>
              </a:rPr>
              <a:t>الكائني</a:t>
            </a:r>
            <a:endParaRPr lang="en-US" sz="1013" dirty="0"/>
          </a:p>
        </p:txBody>
      </p:sp>
      <p:sp>
        <p:nvSpPr>
          <p:cNvPr id="67" name="Text 65"/>
          <p:cNvSpPr/>
          <p:nvPr/>
        </p:nvSpPr>
        <p:spPr>
          <a:xfrm>
            <a:off x="7558088" y="3521869"/>
            <a:ext cx="1007269" cy="142875"/>
          </a:xfrm>
          <a:prstGeom prst="rect">
            <a:avLst/>
          </a:prstGeom>
          <a:noFill/>
          <a:ln/>
        </p:spPr>
        <p:txBody>
          <a:bodyPr wrap="none" lIns="0" tIns="0" rIns="0" bIns="0" rtlCol="0" anchor="t"/>
          <a:lstStyle/>
          <a:p>
            <a:pPr algn="l" indent="0" marL="0">
              <a:lnSpc>
                <a:spcPts val="1125"/>
              </a:lnSpc>
              <a:buNone/>
            </a:pPr>
            <a:r>
              <a:rPr lang="en-US" sz="800" dirty="0">
                <a:solidFill>
                  <a:srgbClr val="334155"/>
                </a:solidFill>
                <a:latin typeface="Carlito" pitchFamily="34" charset="0"/>
                <a:ea typeface="Carlito" pitchFamily="34" charset="-122"/>
                <a:cs typeface="Carlito" pitchFamily="34" charset="-120"/>
              </a:rPr>
              <a:t>الإنسان كامل</a:t>
            </a:r>
            <a:endParaRPr lang="en-US" sz="800" dirty="0"/>
          </a:p>
        </p:txBody>
      </p:sp>
      <p:sp>
        <p:nvSpPr>
          <p:cNvPr id="68" name="Text 66"/>
          <p:cNvSpPr/>
          <p:nvPr/>
        </p:nvSpPr>
        <p:spPr>
          <a:xfrm>
            <a:off x="457200" y="4371975"/>
            <a:ext cx="8229600" cy="428625"/>
          </a:xfrm>
          <a:prstGeom prst="roundRect">
            <a:avLst>
              <a:gd name="adj" fmla="val 26667"/>
            </a:avLst>
          </a:prstGeom>
          <a:solidFill>
            <a:srgbClr val="E2E8F0"/>
          </a:solidFill>
          <a:ln/>
        </p:spPr>
        <p:txBody>
          <a:bodyPr wrap="square" rtlCol="0" anchor="ctr"/>
          <a:lstStyle/>
          <a:p>
            <a:pPr indent="0" marL="0">
              <a:buNone/>
            </a:pPr>
            <a:endParaRPr lang="en-US" dirty="0"/>
          </a:p>
        </p:txBody>
      </p:sp>
      <p:sp>
        <p:nvSpPr>
          <p:cNvPr id="69" name="Text 67"/>
          <p:cNvSpPr/>
          <p:nvPr/>
        </p:nvSpPr>
        <p:spPr>
          <a:xfrm>
            <a:off x="8358188" y="4500563"/>
            <a:ext cx="171450" cy="171450"/>
          </a:xfrm>
          <a:prstGeom prst="rect">
            <a:avLst/>
          </a:prstGeom>
          <a:noFill/>
          <a:ln/>
        </p:spPr>
        <p:txBody>
          <a:bodyPr wrap="none" lIns="0" tIns="0" rIns="0" bIns="0" rtlCol="0" anchor="ctr"/>
          <a:lstStyle/>
          <a:p>
            <a:pPr algn="ctr" indent="0" marL="0">
              <a:buNone/>
            </a:pPr>
            <a:r>
              <a:rPr lang="en-US" sz="1688" dirty="0">
                <a:solidFill>
                  <a:srgbClr val="1E40AF"/>
                </a:solidFill>
                <a:latin typeface="Segoe UI Symbol" pitchFamily="34" charset="0"/>
                <a:ea typeface="Segoe UI Symbol" pitchFamily="34" charset="-122"/>
                <a:cs typeface="Segoe UI Symbol" pitchFamily="34" charset="-120"/>
              </a:rPr>
              <a:t>◆</a:t>
            </a:r>
            <a:endParaRPr lang="en-US" sz="1688" dirty="0"/>
          </a:p>
        </p:txBody>
      </p:sp>
      <p:sp>
        <p:nvSpPr>
          <p:cNvPr id="70" name="Text 68"/>
          <p:cNvSpPr/>
          <p:nvPr/>
        </p:nvSpPr>
        <p:spPr>
          <a:xfrm>
            <a:off x="5086238" y="4500563"/>
            <a:ext cx="3441122" cy="185166"/>
          </a:xfrm>
          <a:prstGeom prst="rect">
            <a:avLst/>
          </a:prstGeom>
          <a:noFill/>
          <a:ln/>
        </p:spPr>
        <p:txBody>
          <a:bodyPr wrap="none" lIns="0" tIns="0" rIns="0" bIns="0" rtlCol="0" anchor="t"/>
          <a:lstStyle/>
          <a:p>
            <a:pPr algn="l" indent="0" marL="0">
              <a:lnSpc>
                <a:spcPts val="1350"/>
              </a:lnSpc>
              <a:buNone/>
            </a:pPr>
            <a:r>
              <a:rPr lang="en-US" sz="900" b="1" dirty="0">
                <a:solidFill>
                  <a:srgbClr val="0F172A"/>
                </a:solidFill>
                <a:latin typeface="Carlito" pitchFamily="34" charset="0"/>
                <a:ea typeface="Carlito" pitchFamily="34" charset="-122"/>
                <a:cs typeface="Carlito" pitchFamily="34" charset="-120"/>
              </a:rPr>
              <a:t>كل مستوى يبني على الذي قبله — البنية تحدد الوظيفة</a:t>
            </a:r>
            <a:endParaRPr lang="en-US" sz="900" dirty="0"/>
          </a:p>
        </p:txBody>
      </p:sp>
      <p:sp>
        <p:nvSpPr>
          <p:cNvPr id="71" name="Text 69"/>
          <p:cNvSpPr/>
          <p:nvPr/>
        </p:nvSpPr>
        <p:spPr>
          <a:xfrm>
            <a:off x="1726443" y="4507706"/>
            <a:ext cx="157163" cy="157163"/>
          </a:xfrm>
          <a:prstGeom prst="rect">
            <a:avLst/>
          </a:prstGeom>
          <a:noFill/>
          <a:ln/>
        </p:spPr>
        <p:txBody>
          <a:bodyPr wrap="none" lIns="0" tIns="0" rIns="0" bIns="0" rtlCol="0" anchor="ctr"/>
          <a:lstStyle/>
          <a:p>
            <a:pPr algn="ctr" indent="0" marL="0">
              <a:buNone/>
            </a:pPr>
            <a:r>
              <a:rPr lang="en-US" sz="1547" dirty="0">
                <a:solidFill>
                  <a:srgbClr val="DC2626"/>
                </a:solidFill>
                <a:latin typeface="Segoe UI Symbol" pitchFamily="34" charset="0"/>
                <a:ea typeface="Segoe UI Symbol" pitchFamily="34" charset="-122"/>
                <a:cs typeface="Segoe UI Symbol" pitchFamily="34" charset="-120"/>
              </a:rPr>
              <a:t>←</a:t>
            </a:r>
            <a:endParaRPr lang="en-US" sz="1547" dirty="0"/>
          </a:p>
        </p:txBody>
      </p:sp>
      <p:sp>
        <p:nvSpPr>
          <p:cNvPr id="72" name="Text 70"/>
          <p:cNvSpPr/>
          <p:nvPr/>
        </p:nvSpPr>
        <p:spPr>
          <a:xfrm>
            <a:off x="614363" y="4511278"/>
            <a:ext cx="1318664" cy="164592"/>
          </a:xfrm>
          <a:prstGeom prst="rect">
            <a:avLst/>
          </a:prstGeom>
          <a:noFill/>
          <a:ln/>
        </p:spPr>
        <p:txBody>
          <a:bodyPr wrap="none" lIns="0" tIns="0" rIns="0" bIns="0" rtlCol="0" anchor="t"/>
          <a:lstStyle/>
          <a:p>
            <a:pPr algn="l" indent="0" marL="0">
              <a:lnSpc>
                <a:spcPts val="1181"/>
              </a:lnSpc>
              <a:buNone/>
            </a:pPr>
            <a:r>
              <a:rPr lang="en-US" sz="800" dirty="0">
                <a:solidFill>
                  <a:srgbClr val="DC2626"/>
                </a:solidFill>
                <a:latin typeface="Carlito" pitchFamily="34" charset="0"/>
                <a:ea typeface="Carlito" pitchFamily="34" charset="-122"/>
                <a:cs typeface="Carlito" pitchFamily="34" charset="-120"/>
              </a:rPr>
              <a:t>من البسيط إلى المعقد</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5F9"/>
        </a:solidFill>
      </p:bgPr>
    </p:bg>
    <p:spTree>
      <p:nvGrpSpPr>
        <p:cNvPr id="1" name=""/>
        <p:cNvGrpSpPr/>
        <p:nvPr/>
      </p:nvGrpSpPr>
      <p:grpSpPr>
        <a:xfrm>
          <a:off x="0" y="0"/>
          <a:ext cx="0" cy="0"/>
          <a:chOff x="0" y="0"/>
          <a:chExt cx="0" cy="0"/>
        </a:xfrm>
      </p:grpSpPr>
      <p:sp>
        <p:nvSpPr>
          <p:cNvPr id="2" name="Text 0"/>
          <p:cNvSpPr/>
          <p:nvPr/>
        </p:nvSpPr>
        <p:spPr>
          <a:xfrm>
            <a:off x="7580769" y="244373"/>
            <a:ext cx="1186041" cy="250631"/>
          </a:xfrm>
          <a:prstGeom prst="roundRect">
            <a:avLst>
              <a:gd name="adj" fmla="val 3796607"/>
            </a:avLst>
          </a:prstGeom>
          <a:solidFill>
            <a:srgbClr val="FEE2E2"/>
          </a:solidFill>
          <a:ln/>
        </p:spPr>
        <p:txBody>
          <a:bodyPr wrap="square" rtlCol="0" anchor="ctr"/>
          <a:lstStyle/>
          <a:p>
            <a:pPr indent="0" marL="0">
              <a:buNone/>
            </a:pPr>
            <a:endParaRPr lang="en-US" dirty="0"/>
          </a:p>
        </p:txBody>
      </p:sp>
      <p:sp>
        <p:nvSpPr>
          <p:cNvPr id="3" name="Text 1"/>
          <p:cNvSpPr/>
          <p:nvPr/>
        </p:nvSpPr>
        <p:spPr>
          <a:xfrm>
            <a:off x="8515350" y="305395"/>
            <a:ext cx="128588" cy="128588"/>
          </a:xfrm>
          <a:prstGeom prst="rect">
            <a:avLst/>
          </a:prstGeom>
          <a:noFill/>
          <a:ln/>
        </p:spPr>
        <p:txBody>
          <a:bodyPr wrap="none" lIns="0" tIns="0" rIns="0" bIns="0" rtlCol="0" anchor="ctr"/>
          <a:lstStyle/>
          <a:p>
            <a:pPr algn="ctr" indent="0" marL="0">
              <a:buNone/>
            </a:pPr>
            <a:r>
              <a:rPr lang="en-US" sz="1266" dirty="0">
                <a:solidFill>
                  <a:srgbClr val="DC2626"/>
                </a:solidFill>
                <a:latin typeface="Segoe UI Symbol" pitchFamily="34" charset="0"/>
                <a:ea typeface="Segoe UI Symbol" pitchFamily="34" charset="-122"/>
                <a:cs typeface="Segoe UI Symbol" pitchFamily="34" charset="-120"/>
              </a:rPr>
              <a:t>⚗</a:t>
            </a:r>
            <a:endParaRPr lang="en-US" sz="1266" dirty="0"/>
          </a:p>
        </p:txBody>
      </p:sp>
      <p:sp>
        <p:nvSpPr>
          <p:cNvPr id="4" name="Text 2"/>
          <p:cNvSpPr/>
          <p:nvPr/>
        </p:nvSpPr>
        <p:spPr>
          <a:xfrm>
            <a:off x="7703641" y="300038"/>
            <a:ext cx="940296" cy="139303"/>
          </a:xfrm>
          <a:prstGeom prst="rect">
            <a:avLst/>
          </a:prstGeom>
          <a:noFill/>
          <a:ln/>
        </p:spPr>
        <p:txBody>
          <a:bodyPr wrap="none" lIns="0" tIns="0" rIns="0" bIns="0" rtlCol="0" anchor="t"/>
          <a:lstStyle/>
          <a:p>
            <a:pPr algn="l" indent="0" marL="0">
              <a:lnSpc>
                <a:spcPts val="1097"/>
              </a:lnSpc>
              <a:buNone/>
            </a:pPr>
            <a:r>
              <a:rPr lang="en-US" sz="800" dirty="0">
                <a:solidFill>
                  <a:srgbClr val="DC2626"/>
                </a:solidFill>
                <a:latin typeface="Carlito" pitchFamily="34" charset="0"/>
                <a:ea typeface="Carlito" pitchFamily="34" charset="-122"/>
                <a:cs typeface="Carlito" pitchFamily="34" charset="-120"/>
              </a:rPr>
              <a:t>الوحدة الأساسية</a:t>
            </a:r>
            <a:endParaRPr lang="en-US" sz="800" dirty="0"/>
          </a:p>
        </p:txBody>
      </p:sp>
      <p:sp>
        <p:nvSpPr>
          <p:cNvPr id="5" name="Text 3"/>
          <p:cNvSpPr/>
          <p:nvPr/>
        </p:nvSpPr>
        <p:spPr>
          <a:xfrm>
            <a:off x="400050" y="539353"/>
            <a:ext cx="8636000" cy="337060"/>
          </a:xfrm>
          <a:prstGeom prst="rect">
            <a:avLst/>
          </a:prstGeom>
          <a:noFill/>
          <a:ln/>
        </p:spPr>
        <p:txBody>
          <a:bodyPr wrap="none" lIns="0" tIns="0" rIns="0" bIns="0" rtlCol="0" anchor="t"/>
          <a:lstStyle/>
          <a:p>
            <a:pPr algn="l" indent="0" marL="0">
              <a:lnSpc>
                <a:spcPts val="2458"/>
              </a:lnSpc>
              <a:buNone/>
            </a:pPr>
            <a:r>
              <a:rPr lang="en-US" sz="2138" b="1" dirty="0">
                <a:solidFill>
                  <a:srgbClr val="1E40AF"/>
                </a:solidFill>
                <a:latin typeface="Carlito" pitchFamily="34" charset="0"/>
                <a:ea typeface="Carlito" pitchFamily="34" charset="-122"/>
                <a:cs typeface="Carlito" pitchFamily="34" charset="-120"/>
              </a:rPr>
              <a:t>الخلايا والأنسجة</a:t>
            </a:r>
            <a:endParaRPr lang="en-US" sz="2138" dirty="0"/>
          </a:p>
        </p:txBody>
      </p:sp>
      <p:sp>
        <p:nvSpPr>
          <p:cNvPr id="6" name="Text 4"/>
          <p:cNvSpPr/>
          <p:nvPr/>
        </p:nvSpPr>
        <p:spPr>
          <a:xfrm>
            <a:off x="8343900" y="908596"/>
            <a:ext cx="400050" cy="28575"/>
          </a:xfrm>
          <a:prstGeom prst="roundRect">
            <a:avLst>
              <a:gd name="adj" fmla="val 66667"/>
            </a:avLst>
          </a:prstGeom>
          <a:solidFill>
            <a:srgbClr val="DC2626"/>
          </a:solidFill>
          <a:ln/>
        </p:spPr>
        <p:txBody>
          <a:bodyPr wrap="square" rtlCol="0" anchor="ctr"/>
          <a:lstStyle/>
          <a:p>
            <a:pPr indent="0" marL="0">
              <a:buNone/>
            </a:pPr>
            <a:endParaRPr lang="en-US" dirty="0"/>
          </a:p>
        </p:txBody>
      </p:sp>
      <p:sp>
        <p:nvSpPr>
          <p:cNvPr id="7" name="Text 5"/>
          <p:cNvSpPr/>
          <p:nvPr/>
        </p:nvSpPr>
        <p:spPr>
          <a:xfrm>
            <a:off x="400050" y="994321"/>
            <a:ext cx="8343900" cy="173593"/>
          </a:xfrm>
          <a:prstGeom prst="rect">
            <a:avLst/>
          </a:prstGeom>
          <a:noFill/>
          <a:ln/>
        </p:spPr>
        <p:txBody>
          <a:bodyPr wrap="square" lIns="0" tIns="0" rIns="0" bIns="0" rtlCol="0" anchor="t"/>
          <a:lstStyle/>
          <a:p>
            <a:pPr algn="l" indent="0" marL="0">
              <a:lnSpc>
                <a:spcPts val="1266"/>
              </a:lnSpc>
              <a:buNone/>
            </a:pPr>
            <a:r>
              <a:rPr lang="en-US" sz="844" dirty="0">
                <a:solidFill>
                  <a:srgbClr val="334155"/>
                </a:solidFill>
                <a:latin typeface="Carlito" pitchFamily="34" charset="0"/>
                <a:ea typeface="Carlito" pitchFamily="34" charset="-122"/>
                <a:cs typeface="Carlito" pitchFamily="34" charset="-120"/>
              </a:rPr>
              <a:t>لبنات الحياة — من الخلية الواحدة إلى الأنسجة المتخصصة</a:t>
            </a:r>
            <a:endParaRPr lang="en-US" sz="844" dirty="0"/>
          </a:p>
        </p:txBody>
      </p:sp>
      <p:sp>
        <p:nvSpPr>
          <p:cNvPr id="8" name="Text 6"/>
          <p:cNvSpPr/>
          <p:nvPr/>
        </p:nvSpPr>
        <p:spPr>
          <a:xfrm>
            <a:off x="5940363" y="1255068"/>
            <a:ext cx="2803587" cy="2800350"/>
          </a:xfrm>
          <a:prstGeom prst="roundRect">
            <a:avLst>
              <a:gd name="adj" fmla="val 5442"/>
            </a:avLst>
          </a:prstGeom>
          <a:solidFill>
            <a:srgbClr val="1E3A8A"/>
          </a:solidFill>
          <a:ln/>
          <a:effectLst>
            <a:outerShdw sx="100000" sy="100000" kx="0" ky="0" algn="bl" rotWithShape="0" blurRad="228600" dist="76200" dir="5400000">
              <a:srgbClr val="0F172A">
                <a:alpha val="12000"/>
              </a:srgbClr>
            </a:outerShdw>
          </a:effectLst>
        </p:spPr>
        <p:txBody>
          <a:bodyPr wrap="square" rtlCol="0" anchor="ctr"/>
          <a:lstStyle/>
          <a:p>
            <a:pPr indent="0" marL="0">
              <a:buNone/>
            </a:pPr>
            <a:endParaRPr lang="en-US" dirty="0"/>
          </a:p>
        </p:txBody>
      </p:sp>
      <p:pic>
        <p:nvPicPr>
          <p:cNvPr id="9" name="Image 0" descr="/tmp/h2p-fit-1789634203686-8bel5e.png">    </p:cNvPr>
          <p:cNvPicPr>
            <a:picLocks noChangeAspect="1"/>
          </p:cNvPicPr>
          <p:nvPr/>
        </p:nvPicPr>
        <p:blipFill>
          <a:blip r:embed="rId1"/>
          <a:stretch>
            <a:fillRect/>
          </a:stretch>
        </p:blipFill>
        <p:spPr>
          <a:xfrm>
            <a:off x="5940363" y="1255068"/>
            <a:ext cx="2803587" cy="2800350"/>
          </a:xfrm>
          <a:prstGeom prst="rect">
            <a:avLst/>
          </a:prstGeom>
        </p:spPr>
      </p:pic>
      <p:pic>
        <p:nvPicPr>
          <p:cNvPr id="10" name="Image 1" descr="preencoded.png">    </p:cNvPr>
          <p:cNvPicPr>
            <a:picLocks noChangeAspect="1"/>
          </p:cNvPicPr>
          <p:nvPr/>
        </p:nvPicPr>
        <p:blipFill>
          <a:blip r:embed="rId2"/>
          <a:stretch>
            <a:fillRect/>
          </a:stretch>
        </p:blipFill>
        <p:spPr>
          <a:xfrm>
            <a:off x="5940363" y="1255068"/>
            <a:ext cx="2803587" cy="2800350"/>
          </a:xfrm>
          <a:prstGeom prst="rect">
            <a:avLst/>
          </a:prstGeom>
        </p:spPr>
      </p:pic>
      <p:sp>
        <p:nvSpPr>
          <p:cNvPr id="11" name="Text 7"/>
          <p:cNvSpPr/>
          <p:nvPr/>
        </p:nvSpPr>
        <p:spPr>
          <a:xfrm>
            <a:off x="7725541" y="3247874"/>
            <a:ext cx="912681" cy="239916"/>
          </a:xfrm>
          <a:prstGeom prst="roundRect">
            <a:avLst>
              <a:gd name="adj" fmla="val 3966169"/>
            </a:avLst>
          </a:prstGeom>
          <a:solidFill>
            <a:srgbClr val="FFFFFF">
              <a:alpha val="18000"/>
            </a:srgbClr>
          </a:solidFill>
          <a:ln w="7144">
            <a:solidFill>
              <a:srgbClr val="FFFFFF"/>
            </a:solidFill>
            <a:prstDash val="solid"/>
          </a:ln>
        </p:spPr>
        <p:txBody>
          <a:bodyPr wrap="square" rtlCol="0" anchor="ctr"/>
          <a:lstStyle/>
          <a:p>
            <a:pPr indent="0" marL="0">
              <a:buNone/>
            </a:pPr>
            <a:endParaRPr lang="en-US" dirty="0"/>
          </a:p>
        </p:txBody>
      </p:sp>
      <p:sp>
        <p:nvSpPr>
          <p:cNvPr id="12" name="Text 8"/>
          <p:cNvSpPr/>
          <p:nvPr/>
        </p:nvSpPr>
        <p:spPr>
          <a:xfrm>
            <a:off x="8422481" y="3317825"/>
            <a:ext cx="100013" cy="100013"/>
          </a:xfrm>
          <a:prstGeom prst="rect">
            <a:avLst/>
          </a:prstGeom>
          <a:noFill/>
          <a:ln/>
        </p:spPr>
        <p:txBody>
          <a:bodyPr wrap="none" lIns="0" tIns="0" rIns="0" bIns="0" rtlCol="0" anchor="ctr"/>
          <a:lstStyle/>
          <a:p>
            <a:pPr algn="ctr" indent="0" marL="0">
              <a:buNone/>
            </a:pPr>
            <a:r>
              <a:rPr lang="en-US" sz="984" dirty="0">
                <a:solidFill>
                  <a:srgbClr val="FFFFFF"/>
                </a:solidFill>
                <a:latin typeface="Segoe UI Symbol" pitchFamily="34" charset="0"/>
                <a:ea typeface="Segoe UI Symbol" pitchFamily="34" charset="-122"/>
                <a:cs typeface="Segoe UI Symbol" pitchFamily="34" charset="-120"/>
              </a:rPr>
              <a:t>⚗</a:t>
            </a:r>
            <a:endParaRPr lang="en-US" sz="984" dirty="0"/>
          </a:p>
        </p:txBody>
      </p:sp>
      <p:sp>
        <p:nvSpPr>
          <p:cNvPr id="13" name="Text 9"/>
          <p:cNvSpPr/>
          <p:nvPr/>
        </p:nvSpPr>
        <p:spPr>
          <a:xfrm>
            <a:off x="7841270" y="3303538"/>
            <a:ext cx="672936" cy="128588"/>
          </a:xfrm>
          <a:prstGeom prst="rect">
            <a:avLst/>
          </a:prstGeom>
          <a:noFill/>
          <a:ln/>
        </p:spPr>
        <p:txBody>
          <a:bodyPr wrap="none" lIns="0" tIns="0" rIns="0" bIns="0" rtlCol="0" anchor="t"/>
          <a:lstStyle/>
          <a:p>
            <a:pPr algn="l" indent="0" marL="0">
              <a:lnSpc>
                <a:spcPts val="1013"/>
              </a:lnSpc>
              <a:buNone/>
            </a:pPr>
            <a:r>
              <a:rPr lang="en-US" sz="675" dirty="0">
                <a:solidFill>
                  <a:srgbClr val="FFFFFF"/>
                </a:solidFill>
                <a:latin typeface="Carlito" pitchFamily="34" charset="0"/>
                <a:ea typeface="Carlito" pitchFamily="34" charset="-122"/>
                <a:cs typeface="Carlito" pitchFamily="34" charset="-120"/>
              </a:rPr>
              <a:t>الخلية (Cell)</a:t>
            </a:r>
            <a:endParaRPr lang="en-US" sz="675" dirty="0"/>
          </a:p>
        </p:txBody>
      </p:sp>
      <p:sp>
        <p:nvSpPr>
          <p:cNvPr id="14" name="Text 10"/>
          <p:cNvSpPr/>
          <p:nvPr/>
        </p:nvSpPr>
        <p:spPr>
          <a:xfrm>
            <a:off x="6068950" y="3546425"/>
            <a:ext cx="2673733" cy="211884"/>
          </a:xfrm>
          <a:prstGeom prst="rect">
            <a:avLst/>
          </a:prstGeom>
          <a:noFill/>
          <a:ln/>
        </p:spPr>
        <p:txBody>
          <a:bodyPr wrap="none" lIns="0" tIns="0" rIns="0" bIns="0" rtlCol="0" anchor="t"/>
          <a:lstStyle/>
          <a:p>
            <a:pPr algn="l" indent="0" marL="0">
              <a:lnSpc>
                <a:spcPts val="1547"/>
              </a:lnSpc>
              <a:buNone/>
            </a:pPr>
            <a:r>
              <a:rPr lang="en-US" sz="1238" b="1" dirty="0">
                <a:solidFill>
                  <a:srgbClr val="FFFFFF"/>
                </a:solidFill>
                <a:latin typeface="Carlito" pitchFamily="34" charset="0"/>
                <a:ea typeface="Carlito" pitchFamily="34" charset="-122"/>
                <a:cs typeface="Carlito" pitchFamily="34" charset="-120"/>
              </a:rPr>
              <a:t>الوحدة الأساسية للحياة</a:t>
            </a:r>
            <a:endParaRPr lang="en-US" sz="1238" dirty="0"/>
          </a:p>
        </p:txBody>
      </p:sp>
      <p:sp>
        <p:nvSpPr>
          <p:cNvPr id="15" name="Text 11"/>
          <p:cNvSpPr/>
          <p:nvPr/>
        </p:nvSpPr>
        <p:spPr>
          <a:xfrm>
            <a:off x="6068950" y="3785741"/>
            <a:ext cx="2750125" cy="173370"/>
          </a:xfrm>
          <a:prstGeom prst="rect">
            <a:avLst/>
          </a:prstGeom>
          <a:noFill/>
          <a:ln/>
        </p:spPr>
        <p:txBody>
          <a:bodyPr wrap="square" lIns="0" tIns="0" rIns="0" bIns="0" rtlCol="0" anchor="t"/>
          <a:lstStyle/>
          <a:p>
            <a:pPr algn="l" indent="0" marL="0">
              <a:lnSpc>
                <a:spcPts val="1055"/>
              </a:lnSpc>
              <a:buNone/>
            </a:pPr>
            <a:r>
              <a:rPr lang="en-US" sz="800" b="1" dirty="0">
                <a:solidFill>
                  <a:srgbClr val="FFFFFF">
                    <a:alpha val="88000"/>
                  </a:srgbClr>
                </a:solidFill>
                <a:latin typeface="Carlito" pitchFamily="34" charset="0"/>
                <a:ea typeface="Carlito" pitchFamily="34" charset="-122"/>
                <a:cs typeface="Carlito" pitchFamily="34" charset="-120"/>
              </a:rPr>
              <a:t>37 تريليون</a:t>
            </a:r>
            <a:pPr algn="l" indent="0" marL="0">
              <a:lnSpc>
                <a:spcPts val="1055"/>
              </a:lnSpc>
              <a:buNone/>
            </a:pPr>
            <a:r>
              <a:rPr lang="en-US" sz="800" dirty="0">
                <a:solidFill>
                  <a:srgbClr val="FFFFFF">
                    <a:alpha val="88000"/>
                  </a:srgbClr>
                </a:solidFill>
                <a:latin typeface="Carlito" pitchFamily="34" charset="0"/>
                <a:ea typeface="Carlito" pitchFamily="34" charset="-122"/>
                <a:cs typeface="Carlito" pitchFamily="34" charset="-120"/>
              </a:rPr>
              <a:t> خلية في جسم الإنسان</a:t>
            </a:r>
            <a:endParaRPr lang="en-US" sz="800" dirty="0"/>
          </a:p>
        </p:txBody>
      </p:sp>
      <p:sp>
        <p:nvSpPr>
          <p:cNvPr id="16" name="Text 12"/>
          <p:cNvSpPr/>
          <p:nvPr/>
        </p:nvSpPr>
        <p:spPr>
          <a:xfrm>
            <a:off x="3170262" y="1255068"/>
            <a:ext cx="2670088" cy="1350169"/>
          </a:xfrm>
          <a:prstGeom prst="roundRect">
            <a:avLst>
              <a:gd name="adj" fmla="val 11287"/>
            </a:avLst>
          </a:prstGeom>
          <a:solidFill>
            <a:srgbClr val="1E40AF"/>
          </a:solidFill>
          <a:ln/>
          <a:effectLst>
            <a:outerShdw sx="100000" sy="100000" kx="0" ky="0" algn="bl" rotWithShape="0" blurRad="228600" dist="76200" dir="5400000">
              <a:srgbClr val="1E40AF">
                <a:alpha val="18000"/>
              </a:srgbClr>
            </a:outerShdw>
          </a:effectLst>
        </p:spPr>
        <p:txBody>
          <a:bodyPr wrap="square" rtlCol="0" anchor="ctr"/>
          <a:lstStyle/>
          <a:p>
            <a:pPr indent="0" marL="0">
              <a:buNone/>
            </a:pPr>
            <a:endParaRPr lang="en-US" dirty="0"/>
          </a:p>
        </p:txBody>
      </p:sp>
      <p:sp>
        <p:nvSpPr>
          <p:cNvPr id="17" name="Text 13"/>
          <p:cNvSpPr/>
          <p:nvPr/>
        </p:nvSpPr>
        <p:spPr>
          <a:xfrm>
            <a:off x="3313137" y="1383655"/>
            <a:ext cx="2384338" cy="154734"/>
          </a:xfrm>
          <a:prstGeom prst="rect">
            <a:avLst/>
          </a:prstGeom>
          <a:noFill/>
          <a:ln/>
        </p:spPr>
        <p:txBody>
          <a:bodyPr wrap="none" lIns="0" tIns="0" rIns="0" bIns="0" rtlCol="0" anchor="t">
            <a:normAutofit/>
          </a:bodyPr>
          <a:lstStyle/>
          <a:p>
            <a:pPr algn="l" indent="0" marL="0">
              <a:lnSpc>
                <a:spcPts val="1097"/>
              </a:lnSpc>
              <a:buNone/>
            </a:pPr>
            <a:r>
              <a:rPr lang="en-US" sz="800" dirty="0">
                <a:solidFill>
                  <a:srgbClr val="FFFFFF">
                    <a:alpha val="85000"/>
                  </a:srgbClr>
                </a:solidFill>
                <a:latin typeface="Carlito" pitchFamily="34" charset="0"/>
                <a:ea typeface="Carlito" pitchFamily="34" charset="-122"/>
                <a:cs typeface="Carlito" pitchFamily="34" charset="-120"/>
              </a:rPr>
              <a:t>نوع خلوي مختلف</a:t>
            </a:r>
            <a:endParaRPr lang="en-US" sz="800" dirty="0"/>
          </a:p>
        </p:txBody>
      </p:sp>
      <p:sp>
        <p:nvSpPr>
          <p:cNvPr id="18" name="Text 14"/>
          <p:cNvSpPr/>
          <p:nvPr/>
        </p:nvSpPr>
        <p:spPr>
          <a:xfrm>
            <a:off x="3313137" y="1565821"/>
            <a:ext cx="2384338" cy="432054"/>
          </a:xfrm>
          <a:prstGeom prst="rect">
            <a:avLst/>
          </a:prstGeom>
          <a:noFill/>
          <a:ln/>
        </p:spPr>
        <p:txBody>
          <a:bodyPr wrap="none" lIns="0" tIns="0" rIns="0" bIns="0" rtlCol="0" anchor="t"/>
          <a:lstStyle/>
          <a:p>
            <a:pPr algn="l" indent="0" marL="0">
              <a:lnSpc>
                <a:spcPts val="3150"/>
              </a:lnSpc>
              <a:buNone/>
            </a:pPr>
            <a:r>
              <a:rPr lang="en-US" sz="3150" b="1" spc="-63" kern="0" dirty="0">
                <a:solidFill>
                  <a:srgbClr val="FFFFFF"/>
                </a:solidFill>
                <a:latin typeface="Liberation Sans Narrow" pitchFamily="34" charset="0"/>
                <a:ea typeface="Liberation Sans Narrow" pitchFamily="34" charset="-122"/>
                <a:cs typeface="Liberation Sans Narrow" pitchFamily="34" charset="-120"/>
              </a:rPr>
              <a:t>+200</a:t>
            </a:r>
            <a:endParaRPr lang="en-US" sz="3150" dirty="0"/>
          </a:p>
        </p:txBody>
      </p:sp>
      <p:sp>
        <p:nvSpPr>
          <p:cNvPr id="19" name="Text 15"/>
          <p:cNvSpPr/>
          <p:nvPr/>
        </p:nvSpPr>
        <p:spPr>
          <a:xfrm>
            <a:off x="3313137" y="2348061"/>
            <a:ext cx="2494066" cy="128588"/>
          </a:xfrm>
          <a:prstGeom prst="rect">
            <a:avLst/>
          </a:prstGeom>
          <a:noFill/>
          <a:ln/>
        </p:spPr>
        <p:txBody>
          <a:bodyPr wrap="square" lIns="0" tIns="0" rIns="0" bIns="0" rtlCol="0" anchor="t"/>
          <a:lstStyle/>
          <a:p>
            <a:pPr algn="l" indent="0" marL="0">
              <a:lnSpc>
                <a:spcPts val="1013"/>
              </a:lnSpc>
              <a:buNone/>
            </a:pPr>
            <a:r>
              <a:rPr lang="en-US" sz="800" dirty="0">
                <a:solidFill>
                  <a:srgbClr val="FFFFFF">
                    <a:alpha val="78000"/>
                  </a:srgbClr>
                </a:solidFill>
                <a:latin typeface="Carlito" pitchFamily="34" charset="0"/>
                <a:ea typeface="Carlito" pitchFamily="34" charset="-122"/>
                <a:cs typeface="Carlito" pitchFamily="34" charset="-120"/>
              </a:rPr>
              <a:t>لكل نوع وظيفة متخصصة في البنية والأداء</a:t>
            </a:r>
            <a:endParaRPr lang="en-US" sz="800" dirty="0"/>
          </a:p>
        </p:txBody>
      </p:sp>
      <p:sp>
        <p:nvSpPr>
          <p:cNvPr id="20" name="Text 16"/>
          <p:cNvSpPr/>
          <p:nvPr/>
        </p:nvSpPr>
        <p:spPr>
          <a:xfrm>
            <a:off x="400050" y="1255068"/>
            <a:ext cx="2670200" cy="1350169"/>
          </a:xfrm>
          <a:prstGeom prst="roundRect">
            <a:avLst>
              <a:gd name="adj" fmla="val 11287"/>
            </a:avLst>
          </a:prstGeom>
          <a:solidFill>
            <a:srgbClr val="F8FAFC"/>
          </a:solidFill>
          <a:ln/>
        </p:spPr>
        <p:txBody>
          <a:bodyPr wrap="square" rtlCol="0" anchor="ctr"/>
          <a:lstStyle/>
          <a:p>
            <a:pPr indent="0" marL="0">
              <a:buNone/>
            </a:pPr>
            <a:endParaRPr lang="en-US" dirty="0"/>
          </a:p>
        </p:txBody>
      </p:sp>
      <p:sp>
        <p:nvSpPr>
          <p:cNvPr id="21" name="Shape 17"/>
          <p:cNvSpPr/>
          <p:nvPr/>
        </p:nvSpPr>
        <p:spPr>
          <a:xfrm>
            <a:off x="400050" y="1258639"/>
            <a:ext cx="2670200" cy="0"/>
          </a:xfrm>
          <a:prstGeom prst="line">
            <a:avLst/>
          </a:prstGeom>
          <a:noFill/>
          <a:ln w="7144">
            <a:solidFill>
              <a:srgbClr val="E2E8F0"/>
            </a:solidFill>
            <a:prstDash val="solid"/>
          </a:ln>
        </p:spPr>
      </p:sp>
      <p:sp>
        <p:nvSpPr>
          <p:cNvPr id="22" name="Shape 18"/>
          <p:cNvSpPr/>
          <p:nvPr/>
        </p:nvSpPr>
        <p:spPr>
          <a:xfrm>
            <a:off x="3055962" y="1255068"/>
            <a:ext cx="0" cy="1350169"/>
          </a:xfrm>
          <a:prstGeom prst="line">
            <a:avLst/>
          </a:prstGeom>
          <a:noFill/>
          <a:ln w="28575">
            <a:solidFill>
              <a:srgbClr val="DC2626"/>
            </a:solidFill>
            <a:prstDash val="solid"/>
          </a:ln>
        </p:spPr>
      </p:sp>
      <p:sp>
        <p:nvSpPr>
          <p:cNvPr id="23" name="Shape 19"/>
          <p:cNvSpPr/>
          <p:nvPr/>
        </p:nvSpPr>
        <p:spPr>
          <a:xfrm>
            <a:off x="400050" y="2601664"/>
            <a:ext cx="2670200" cy="0"/>
          </a:xfrm>
          <a:prstGeom prst="line">
            <a:avLst/>
          </a:prstGeom>
          <a:noFill/>
          <a:ln w="7144">
            <a:solidFill>
              <a:srgbClr val="E2E8F0"/>
            </a:solidFill>
            <a:prstDash val="solid"/>
          </a:ln>
        </p:spPr>
      </p:sp>
      <p:sp>
        <p:nvSpPr>
          <p:cNvPr id="24" name="Shape 20"/>
          <p:cNvSpPr/>
          <p:nvPr/>
        </p:nvSpPr>
        <p:spPr>
          <a:xfrm>
            <a:off x="403622" y="1255068"/>
            <a:ext cx="0" cy="1350169"/>
          </a:xfrm>
          <a:prstGeom prst="line">
            <a:avLst/>
          </a:prstGeom>
          <a:noFill/>
          <a:ln w="7144">
            <a:solidFill>
              <a:srgbClr val="E2E8F0"/>
            </a:solidFill>
            <a:prstDash val="solid"/>
          </a:ln>
        </p:spPr>
      </p:sp>
      <p:sp>
        <p:nvSpPr>
          <p:cNvPr id="25" name="Text 21"/>
          <p:cNvSpPr/>
          <p:nvPr/>
        </p:nvSpPr>
        <p:spPr>
          <a:xfrm>
            <a:off x="2698775" y="1376511"/>
            <a:ext cx="214313" cy="214313"/>
          </a:xfrm>
          <a:prstGeom prst="rect">
            <a:avLst/>
          </a:prstGeom>
          <a:noFill/>
          <a:ln/>
        </p:spPr>
        <p:txBody>
          <a:bodyPr wrap="none" lIns="0" tIns="0" rIns="0" bIns="0" rtlCol="0" anchor="ctr"/>
          <a:lstStyle/>
          <a:p>
            <a:pPr algn="ctr" indent="0" marL="0">
              <a:buNone/>
            </a:pPr>
            <a:r>
              <a:rPr lang="en-US" sz="2109" dirty="0">
                <a:solidFill>
                  <a:srgbClr val="DC2626"/>
                </a:solidFill>
                <a:latin typeface="Segoe UI Symbol" pitchFamily="34" charset="0"/>
                <a:ea typeface="Segoe UI Symbol" pitchFamily="34" charset="-122"/>
                <a:cs typeface="Segoe UI Symbol" pitchFamily="34" charset="-120"/>
              </a:rPr>
              <a:t>↑</a:t>
            </a:r>
            <a:endParaRPr lang="en-US" sz="2109" dirty="0"/>
          </a:p>
        </p:txBody>
      </p:sp>
      <p:sp>
        <p:nvSpPr>
          <p:cNvPr id="26" name="Text 22"/>
          <p:cNvSpPr/>
          <p:nvPr/>
        </p:nvSpPr>
        <p:spPr>
          <a:xfrm>
            <a:off x="535781" y="1633686"/>
            <a:ext cx="2377306" cy="185166"/>
          </a:xfrm>
          <a:prstGeom prst="rect">
            <a:avLst/>
          </a:prstGeom>
          <a:noFill/>
          <a:ln/>
        </p:spPr>
        <p:txBody>
          <a:bodyPr wrap="none" lIns="0" tIns="0" rIns="0" bIns="0" rtlCol="0" anchor="t"/>
          <a:lstStyle/>
          <a:p>
            <a:pPr algn="l" indent="0" marL="0">
              <a:lnSpc>
                <a:spcPts val="1350"/>
              </a:lnSpc>
              <a:buNone/>
            </a:pPr>
            <a:r>
              <a:rPr lang="en-US" sz="900" b="1" dirty="0">
                <a:solidFill>
                  <a:srgbClr val="0F172A"/>
                </a:solidFill>
                <a:latin typeface="Carlito" pitchFamily="34" charset="0"/>
                <a:ea typeface="Carlito" pitchFamily="34" charset="-122"/>
                <a:cs typeface="Carlito" pitchFamily="34" charset="-120"/>
              </a:rPr>
              <a:t>الحجم</a:t>
            </a:r>
            <a:endParaRPr lang="en-US" sz="900" dirty="0"/>
          </a:p>
        </p:txBody>
      </p:sp>
      <p:sp>
        <p:nvSpPr>
          <p:cNvPr id="27" name="Text 23"/>
          <p:cNvSpPr/>
          <p:nvPr/>
        </p:nvSpPr>
        <p:spPr>
          <a:xfrm>
            <a:off x="535781" y="1847999"/>
            <a:ext cx="2377306" cy="169736"/>
          </a:xfrm>
          <a:prstGeom prst="rect">
            <a:avLst/>
          </a:prstGeom>
          <a:noFill/>
          <a:ln/>
        </p:spPr>
        <p:txBody>
          <a:bodyPr wrap="none" lIns="0" tIns="0" rIns="0" bIns="0" rtlCol="0" anchor="t"/>
          <a:lstStyle/>
          <a:p>
            <a:pPr algn="l" indent="0" marL="0">
              <a:lnSpc>
                <a:spcPts val="1238"/>
              </a:lnSpc>
              <a:buNone/>
            </a:pPr>
            <a:r>
              <a:rPr lang="en-US" sz="1238" b="1" dirty="0">
                <a:solidFill>
                  <a:srgbClr val="DC2626"/>
                </a:solidFill>
                <a:latin typeface="Liberation Sans Narrow" pitchFamily="34" charset="0"/>
                <a:ea typeface="Liberation Sans Narrow" pitchFamily="34" charset="-122"/>
                <a:cs typeface="Liberation Sans Narrow" pitchFamily="34" charset="-120"/>
              </a:rPr>
              <a:t>0.005 – 0.1 ملم</a:t>
            </a:r>
            <a:endParaRPr lang="en-US" sz="1238" dirty="0"/>
          </a:p>
        </p:txBody>
      </p:sp>
      <p:sp>
        <p:nvSpPr>
          <p:cNvPr id="28" name="Text 24"/>
          <p:cNvSpPr/>
          <p:nvPr/>
        </p:nvSpPr>
        <p:spPr>
          <a:xfrm>
            <a:off x="535781" y="2355205"/>
            <a:ext cx="2487034" cy="128588"/>
          </a:xfrm>
          <a:prstGeom prst="rect">
            <a:avLst/>
          </a:prstGeom>
          <a:noFill/>
          <a:ln/>
        </p:spPr>
        <p:txBody>
          <a:bodyPr wrap="square" lIns="0" tIns="0" rIns="0" bIns="0" rtlCol="0" anchor="t"/>
          <a:lstStyle/>
          <a:p>
            <a:pPr algn="l" indent="0" marL="0">
              <a:lnSpc>
                <a:spcPts val="1013"/>
              </a:lnSpc>
              <a:buNone/>
            </a:pPr>
            <a:r>
              <a:rPr lang="en-US" sz="800" dirty="0">
                <a:solidFill>
                  <a:srgbClr val="334155"/>
                </a:solidFill>
                <a:latin typeface="Carlito" pitchFamily="34" charset="0"/>
                <a:ea typeface="Carlito" pitchFamily="34" charset="-122"/>
                <a:cs typeface="Carlito" pitchFamily="34" charset="-120"/>
              </a:rPr>
              <a:t>الخلية العصبية الأطول قد تصل إلى 1 متر</a:t>
            </a:r>
            <a:endParaRPr lang="en-US" sz="800" dirty="0"/>
          </a:p>
        </p:txBody>
      </p:sp>
      <p:sp>
        <p:nvSpPr>
          <p:cNvPr id="29" name="Text 25"/>
          <p:cNvSpPr/>
          <p:nvPr/>
        </p:nvSpPr>
        <p:spPr>
          <a:xfrm>
            <a:off x="3173834" y="2708821"/>
            <a:ext cx="2662944" cy="1343025"/>
          </a:xfrm>
          <a:prstGeom prst="roundRect">
            <a:avLst>
              <a:gd name="adj" fmla="val 11348"/>
            </a:avLst>
          </a:prstGeom>
          <a:solidFill>
            <a:srgbClr val="F8FAFC"/>
          </a:solidFill>
          <a:ln w="7144">
            <a:solidFill>
              <a:srgbClr val="E2E8F0"/>
            </a:solidFill>
            <a:prstDash val="solid"/>
          </a:ln>
          <a:effectLst>
            <a:outerShdw sx="100000" sy="100000" kx="0" ky="0" algn="bl" rotWithShape="0" blurRad="133350" dist="38100" dir="5400000">
              <a:srgbClr val="0F172A">
                <a:alpha val="4000"/>
              </a:srgbClr>
            </a:outerShdw>
          </a:effectLst>
        </p:spPr>
        <p:txBody>
          <a:bodyPr wrap="square" rtlCol="0" anchor="ctr"/>
          <a:lstStyle/>
          <a:p>
            <a:pPr indent="0" marL="0">
              <a:buNone/>
            </a:pPr>
            <a:endParaRPr lang="en-US" dirty="0"/>
          </a:p>
        </p:txBody>
      </p:sp>
      <p:sp>
        <p:nvSpPr>
          <p:cNvPr id="30" name="Text 26"/>
          <p:cNvSpPr/>
          <p:nvPr/>
        </p:nvSpPr>
        <p:spPr>
          <a:xfrm>
            <a:off x="5461732" y="2812405"/>
            <a:ext cx="257175" cy="257175"/>
          </a:xfrm>
          <a:prstGeom prst="roundRect">
            <a:avLst>
              <a:gd name="adj" fmla="val 37037"/>
            </a:avLst>
          </a:prstGeom>
          <a:solidFill>
            <a:srgbClr val="DBEAFE"/>
          </a:solidFill>
          <a:ln/>
        </p:spPr>
        <p:txBody>
          <a:bodyPr wrap="square" rtlCol="0" anchor="ctr"/>
          <a:lstStyle/>
          <a:p>
            <a:pPr indent="0" marL="0">
              <a:buNone/>
            </a:pPr>
            <a:endParaRPr lang="en-US" dirty="0"/>
          </a:p>
        </p:txBody>
      </p:sp>
      <p:sp>
        <p:nvSpPr>
          <p:cNvPr id="31" name="Text 27"/>
          <p:cNvSpPr/>
          <p:nvPr/>
        </p:nvSpPr>
        <p:spPr>
          <a:xfrm>
            <a:off x="5476376" y="2827050"/>
            <a:ext cx="227886" cy="227886"/>
          </a:xfrm>
          <a:prstGeom prst="rect">
            <a:avLst/>
          </a:prstGeom>
          <a:noFill/>
          <a:ln/>
        </p:spPr>
        <p:txBody>
          <a:bodyPr wrap="none" lIns="0" tIns="0" rIns="0" bIns="0" rtlCol="0" anchor="ctr"/>
          <a:lstStyle/>
          <a:p>
            <a:pPr algn="ctr" indent="0" marL="0">
              <a:buNone/>
            </a:pPr>
            <a:r>
              <a:rPr lang="en-US" sz="1547" dirty="0">
                <a:solidFill>
                  <a:srgbClr val="1E40AF"/>
                </a:solidFill>
                <a:latin typeface="Segoe UI Symbol" pitchFamily="34" charset="0"/>
                <a:ea typeface="Segoe UI Symbol" pitchFamily="34" charset="-122"/>
                <a:cs typeface="Segoe UI Symbol" pitchFamily="34" charset="-120"/>
              </a:rPr>
              <a:t>⛨</a:t>
            </a:r>
            <a:endParaRPr lang="en-US" sz="1547" dirty="0"/>
          </a:p>
        </p:txBody>
      </p:sp>
      <p:sp>
        <p:nvSpPr>
          <p:cNvPr id="32" name="Text 28"/>
          <p:cNvSpPr/>
          <p:nvPr/>
        </p:nvSpPr>
        <p:spPr>
          <a:xfrm>
            <a:off x="3291706" y="3112443"/>
            <a:ext cx="2427201" cy="185166"/>
          </a:xfrm>
          <a:prstGeom prst="rect">
            <a:avLst/>
          </a:prstGeom>
          <a:noFill/>
          <a:ln/>
        </p:spPr>
        <p:txBody>
          <a:bodyPr wrap="none" lIns="0" tIns="0" rIns="0" bIns="0" rtlCol="0" anchor="t"/>
          <a:lstStyle/>
          <a:p>
            <a:pPr algn="l" indent="0" marL="0">
              <a:lnSpc>
                <a:spcPts val="1350"/>
              </a:lnSpc>
              <a:buNone/>
            </a:pPr>
            <a:r>
              <a:rPr lang="en-US" sz="900" b="1" dirty="0">
                <a:solidFill>
                  <a:srgbClr val="0F172A"/>
                </a:solidFill>
                <a:latin typeface="Carlito" pitchFamily="34" charset="0"/>
                <a:ea typeface="Carlito" pitchFamily="34" charset="-122"/>
                <a:cs typeface="Carlito" pitchFamily="34" charset="-120"/>
              </a:rPr>
              <a:t>نسيج طلائي</a:t>
            </a:r>
            <a:endParaRPr lang="en-US" sz="900" dirty="0"/>
          </a:p>
        </p:txBody>
      </p:sp>
      <p:sp>
        <p:nvSpPr>
          <p:cNvPr id="33" name="Text 29"/>
          <p:cNvSpPr/>
          <p:nvPr/>
        </p:nvSpPr>
        <p:spPr>
          <a:xfrm>
            <a:off x="3291706" y="3341043"/>
            <a:ext cx="2427201" cy="340157"/>
          </a:xfrm>
          <a:prstGeom prst="rect">
            <a:avLst/>
          </a:prstGeom>
          <a:noFill/>
          <a:ln/>
        </p:spPr>
        <p:txBody>
          <a:bodyPr wrap="square" lIns="0" tIns="0" rIns="0" bIns="0" rtlCol="0" anchor="t"/>
          <a:lstStyle/>
          <a:p>
            <a:pPr algn="l" indent="0" marL="0">
              <a:lnSpc>
                <a:spcPts val="1090"/>
              </a:lnSpc>
              <a:buNone/>
            </a:pPr>
            <a:r>
              <a:rPr lang="en-US" sz="800" dirty="0">
                <a:solidFill>
                  <a:srgbClr val="334155"/>
                </a:solidFill>
                <a:latin typeface="Carlito" pitchFamily="34" charset="0"/>
                <a:ea typeface="Carlito" pitchFamily="34" charset="-122"/>
                <a:cs typeface="Carlito" pitchFamily="34" charset="-120"/>
              </a:rPr>
              <a:t>يغطي الأسطح ويبطّن الأعضاء — حماية وامتصاص وإفراز</a:t>
            </a:r>
            <a:endParaRPr lang="en-US" sz="800" dirty="0"/>
          </a:p>
        </p:txBody>
      </p:sp>
      <p:sp>
        <p:nvSpPr>
          <p:cNvPr id="34" name="Text 30"/>
          <p:cNvSpPr/>
          <p:nvPr/>
        </p:nvSpPr>
        <p:spPr>
          <a:xfrm>
            <a:off x="403622" y="2708821"/>
            <a:ext cx="2663056" cy="1343025"/>
          </a:xfrm>
          <a:prstGeom prst="roundRect">
            <a:avLst>
              <a:gd name="adj" fmla="val 11348"/>
            </a:avLst>
          </a:prstGeom>
          <a:solidFill>
            <a:srgbClr val="F8FAFC"/>
          </a:solidFill>
          <a:ln w="7144">
            <a:solidFill>
              <a:srgbClr val="E2E8F0"/>
            </a:solidFill>
            <a:prstDash val="solid"/>
          </a:ln>
          <a:effectLst>
            <a:outerShdw sx="100000" sy="100000" kx="0" ky="0" algn="bl" rotWithShape="0" blurRad="133350" dist="38100" dir="5400000">
              <a:srgbClr val="0F172A">
                <a:alpha val="4000"/>
              </a:srgbClr>
            </a:outerShdw>
          </a:effectLst>
        </p:spPr>
        <p:txBody>
          <a:bodyPr wrap="square" rtlCol="0" anchor="ctr"/>
          <a:lstStyle/>
          <a:p>
            <a:pPr indent="0" marL="0">
              <a:buNone/>
            </a:pPr>
            <a:endParaRPr lang="en-US" dirty="0"/>
          </a:p>
        </p:txBody>
      </p:sp>
      <p:sp>
        <p:nvSpPr>
          <p:cNvPr id="35" name="Text 31"/>
          <p:cNvSpPr/>
          <p:nvPr/>
        </p:nvSpPr>
        <p:spPr>
          <a:xfrm>
            <a:off x="2691631" y="2812405"/>
            <a:ext cx="257175" cy="257175"/>
          </a:xfrm>
          <a:prstGeom prst="roundRect">
            <a:avLst>
              <a:gd name="adj" fmla="val 37037"/>
            </a:avLst>
          </a:prstGeom>
          <a:solidFill>
            <a:srgbClr val="FEE2E2"/>
          </a:solidFill>
          <a:ln/>
        </p:spPr>
        <p:txBody>
          <a:bodyPr wrap="square" rtlCol="0" anchor="ctr"/>
          <a:lstStyle/>
          <a:p>
            <a:pPr indent="0" marL="0">
              <a:buNone/>
            </a:pPr>
            <a:endParaRPr lang="en-US" dirty="0"/>
          </a:p>
        </p:txBody>
      </p:sp>
      <p:sp>
        <p:nvSpPr>
          <p:cNvPr id="36" name="Text 32"/>
          <p:cNvSpPr/>
          <p:nvPr/>
        </p:nvSpPr>
        <p:spPr>
          <a:xfrm>
            <a:off x="2706276" y="2827050"/>
            <a:ext cx="227886" cy="227886"/>
          </a:xfrm>
          <a:prstGeom prst="rect">
            <a:avLst/>
          </a:prstGeom>
          <a:noFill/>
          <a:ln/>
        </p:spPr>
        <p:txBody>
          <a:bodyPr wrap="none" lIns="0" tIns="0" rIns="0" bIns="0" rtlCol="0" anchor="ctr"/>
          <a:lstStyle/>
          <a:p>
            <a:pPr algn="ctr" indent="0" marL="0">
              <a:buNone/>
            </a:pPr>
            <a:r>
              <a:rPr lang="en-US" sz="1547" dirty="0">
                <a:solidFill>
                  <a:srgbClr val="DC2626"/>
                </a:solidFill>
                <a:latin typeface="Segoe UI Symbol" pitchFamily="34" charset="0"/>
                <a:ea typeface="Segoe UI Symbol" pitchFamily="34" charset="-122"/>
                <a:cs typeface="Segoe UI Symbol" pitchFamily="34" charset="-120"/>
              </a:rPr>
              <a:t>⌘</a:t>
            </a:r>
            <a:endParaRPr lang="en-US" sz="1547" dirty="0"/>
          </a:p>
        </p:txBody>
      </p:sp>
      <p:sp>
        <p:nvSpPr>
          <p:cNvPr id="37" name="Text 33"/>
          <p:cNvSpPr/>
          <p:nvPr/>
        </p:nvSpPr>
        <p:spPr>
          <a:xfrm>
            <a:off x="521494" y="3112443"/>
            <a:ext cx="2427312" cy="185166"/>
          </a:xfrm>
          <a:prstGeom prst="rect">
            <a:avLst/>
          </a:prstGeom>
          <a:noFill/>
          <a:ln/>
        </p:spPr>
        <p:txBody>
          <a:bodyPr wrap="none" lIns="0" tIns="0" rIns="0" bIns="0" rtlCol="0" anchor="t"/>
          <a:lstStyle/>
          <a:p>
            <a:pPr algn="l" indent="0" marL="0">
              <a:lnSpc>
                <a:spcPts val="1350"/>
              </a:lnSpc>
              <a:buNone/>
            </a:pPr>
            <a:r>
              <a:rPr lang="en-US" sz="900" b="1" dirty="0">
                <a:solidFill>
                  <a:srgbClr val="0F172A"/>
                </a:solidFill>
                <a:latin typeface="Carlito" pitchFamily="34" charset="0"/>
                <a:ea typeface="Carlito" pitchFamily="34" charset="-122"/>
                <a:cs typeface="Carlito" pitchFamily="34" charset="-120"/>
              </a:rPr>
              <a:t>نسيج ضام</a:t>
            </a:r>
            <a:endParaRPr lang="en-US" sz="900" dirty="0"/>
          </a:p>
        </p:txBody>
      </p:sp>
      <p:sp>
        <p:nvSpPr>
          <p:cNvPr id="38" name="Text 34"/>
          <p:cNvSpPr/>
          <p:nvPr/>
        </p:nvSpPr>
        <p:spPr>
          <a:xfrm>
            <a:off x="521494" y="3341043"/>
            <a:ext cx="2537040" cy="170078"/>
          </a:xfrm>
          <a:prstGeom prst="rect">
            <a:avLst/>
          </a:prstGeom>
          <a:noFill/>
          <a:ln/>
        </p:spPr>
        <p:txBody>
          <a:bodyPr wrap="square" lIns="0" tIns="0" rIns="0" bIns="0" rtlCol="0" anchor="t"/>
          <a:lstStyle/>
          <a:p>
            <a:pPr algn="l" indent="0" marL="0">
              <a:lnSpc>
                <a:spcPts val="1090"/>
              </a:lnSpc>
              <a:buNone/>
            </a:pPr>
            <a:r>
              <a:rPr lang="en-US" sz="800" dirty="0">
                <a:solidFill>
                  <a:srgbClr val="334155"/>
                </a:solidFill>
                <a:latin typeface="Carlito" pitchFamily="34" charset="0"/>
                <a:ea typeface="Carlito" pitchFamily="34" charset="-122"/>
                <a:cs typeface="Carlito" pitchFamily="34" charset="-120"/>
              </a:rPr>
              <a:t>دعم وربط — العظام، الغضاريف، الدم، الدهون</a:t>
            </a:r>
            <a:endParaRPr lang="en-US" sz="800" dirty="0"/>
          </a:p>
        </p:txBody>
      </p:sp>
      <p:sp>
        <p:nvSpPr>
          <p:cNvPr id="39" name="Text 35"/>
          <p:cNvSpPr/>
          <p:nvPr/>
        </p:nvSpPr>
        <p:spPr>
          <a:xfrm>
            <a:off x="4622006" y="4155430"/>
            <a:ext cx="4121944" cy="571500"/>
          </a:xfrm>
          <a:prstGeom prst="roundRect">
            <a:avLst>
              <a:gd name="adj" fmla="val 23333"/>
            </a:avLst>
          </a:prstGeom>
          <a:solidFill>
            <a:srgbClr val="E2E8F0"/>
          </a:solidFill>
          <a:ln/>
        </p:spPr>
        <p:txBody>
          <a:bodyPr wrap="square" rtlCol="0" anchor="ctr"/>
          <a:lstStyle/>
          <a:p>
            <a:pPr indent="0" marL="0">
              <a:buNone/>
            </a:pPr>
            <a:endParaRPr lang="en-US" dirty="0"/>
          </a:p>
        </p:txBody>
      </p:sp>
      <p:sp>
        <p:nvSpPr>
          <p:cNvPr id="40" name="Text 36"/>
          <p:cNvSpPr/>
          <p:nvPr/>
        </p:nvSpPr>
        <p:spPr>
          <a:xfrm>
            <a:off x="8301038" y="4284018"/>
            <a:ext cx="314325" cy="314325"/>
          </a:xfrm>
          <a:prstGeom prst="roundRect">
            <a:avLst>
              <a:gd name="adj" fmla="val 36364"/>
            </a:avLst>
          </a:prstGeom>
          <a:solidFill>
            <a:srgbClr val="1E40AF"/>
          </a:solidFill>
          <a:ln/>
        </p:spPr>
        <p:txBody>
          <a:bodyPr wrap="square" rtlCol="0" anchor="ctr"/>
          <a:lstStyle/>
          <a:p>
            <a:pPr indent="0" marL="0">
              <a:buNone/>
            </a:pPr>
            <a:endParaRPr lang="en-US" dirty="0"/>
          </a:p>
        </p:txBody>
      </p:sp>
      <p:sp>
        <p:nvSpPr>
          <p:cNvPr id="41" name="Text 37"/>
          <p:cNvSpPr/>
          <p:nvPr/>
        </p:nvSpPr>
        <p:spPr>
          <a:xfrm>
            <a:off x="8375333" y="4358313"/>
            <a:ext cx="165735" cy="165735"/>
          </a:xfrm>
          <a:prstGeom prst="rect">
            <a:avLst/>
          </a:prstGeom>
          <a:noFill/>
          <a:ln/>
        </p:spPr>
        <p:txBody>
          <a:bodyPr wrap="none" lIns="0" tIns="0" rIns="0" bIns="0" rtlCol="0" anchor="ctr"/>
          <a:lstStyle/>
          <a:p>
            <a:pPr algn="ctr" indent="0" marL="0">
              <a:buNone/>
            </a:pPr>
            <a:r>
              <a:rPr lang="en-US" sz="1125" dirty="0">
                <a:solidFill>
                  <a:srgbClr val="FFFFFF"/>
                </a:solidFill>
                <a:latin typeface="Segoe UI Symbol" pitchFamily="34" charset="0"/>
                <a:ea typeface="Segoe UI Symbol" pitchFamily="34" charset="-122"/>
                <a:cs typeface="Segoe UI Symbol" pitchFamily="34" charset="-120"/>
              </a:rPr>
              <a:t>▣</a:t>
            </a:r>
            <a:endParaRPr lang="en-US" sz="1125" dirty="0"/>
          </a:p>
        </p:txBody>
      </p:sp>
      <p:sp>
        <p:nvSpPr>
          <p:cNvPr id="42" name="Text 38"/>
          <p:cNvSpPr/>
          <p:nvPr/>
        </p:nvSpPr>
        <p:spPr>
          <a:xfrm>
            <a:off x="6596025" y="4301207"/>
            <a:ext cx="2019337" cy="123926"/>
          </a:xfrm>
          <a:prstGeom prst="rect">
            <a:avLst/>
          </a:prstGeom>
          <a:noFill/>
          <a:ln/>
        </p:spPr>
        <p:txBody>
          <a:bodyPr wrap="none" lIns="0" tIns="0" rIns="0" bIns="0" rtlCol="0" anchor="t">
            <a:normAutofit/>
          </a:bodyPr>
          <a:lstStyle/>
          <a:p>
            <a:pPr algn="l" indent="0" marL="0">
              <a:lnSpc>
                <a:spcPts val="1080"/>
              </a:lnSpc>
              <a:buNone/>
            </a:pPr>
            <a:r>
              <a:rPr lang="en-US" sz="900" b="1" dirty="0">
                <a:solidFill>
                  <a:srgbClr val="0F172A"/>
                </a:solidFill>
                <a:latin typeface="Carlito" pitchFamily="34" charset="0"/>
                <a:ea typeface="Carlito" pitchFamily="34" charset="-122"/>
                <a:cs typeface="Carlito" pitchFamily="34" charset="-120"/>
              </a:rPr>
              <a:t>نسيج عضلي</a:t>
            </a:r>
            <a:endParaRPr lang="en-US" sz="900" dirty="0"/>
          </a:p>
        </p:txBody>
      </p:sp>
      <p:sp>
        <p:nvSpPr>
          <p:cNvPr id="43" name="Text 39"/>
          <p:cNvSpPr/>
          <p:nvPr/>
        </p:nvSpPr>
        <p:spPr>
          <a:xfrm>
            <a:off x="6596025" y="4452565"/>
            <a:ext cx="1733400" cy="164592"/>
          </a:xfrm>
          <a:prstGeom prst="rect">
            <a:avLst/>
          </a:prstGeom>
          <a:noFill/>
          <a:ln/>
        </p:spPr>
        <p:txBody>
          <a:bodyPr wrap="square" lIns="0" tIns="0" rIns="0" bIns="0" rtlCol="0" anchor="t"/>
          <a:lstStyle/>
          <a:p>
            <a:pPr algn="l" indent="0" marL="0">
              <a:lnSpc>
                <a:spcPts val="1013"/>
              </a:lnSpc>
              <a:buNone/>
            </a:pPr>
            <a:r>
              <a:rPr lang="en-US" sz="800" dirty="0">
                <a:solidFill>
                  <a:srgbClr val="334155"/>
                </a:solidFill>
                <a:latin typeface="Carlito" pitchFamily="34" charset="0"/>
                <a:ea typeface="Carlito" pitchFamily="34" charset="-122"/>
                <a:cs typeface="Carlito" pitchFamily="34" charset="-120"/>
              </a:rPr>
              <a:t>يولّد الحركة — هيكلية وملساء وقلبية</a:t>
            </a:r>
            <a:endParaRPr lang="en-US" sz="800" dirty="0"/>
          </a:p>
        </p:txBody>
      </p:sp>
      <p:sp>
        <p:nvSpPr>
          <p:cNvPr id="44" name="Text 40"/>
          <p:cNvSpPr/>
          <p:nvPr/>
        </p:nvSpPr>
        <p:spPr>
          <a:xfrm>
            <a:off x="400050" y="4155430"/>
            <a:ext cx="4121944" cy="571500"/>
          </a:xfrm>
          <a:prstGeom prst="roundRect">
            <a:avLst>
              <a:gd name="adj" fmla="val 23333"/>
            </a:avLst>
          </a:prstGeom>
          <a:solidFill>
            <a:srgbClr val="E2E8F0"/>
          </a:solidFill>
          <a:ln/>
        </p:spPr>
        <p:txBody>
          <a:bodyPr wrap="square" rtlCol="0" anchor="ctr"/>
          <a:lstStyle/>
          <a:p>
            <a:pPr indent="0" marL="0">
              <a:buNone/>
            </a:pPr>
            <a:endParaRPr lang="en-US" dirty="0"/>
          </a:p>
        </p:txBody>
      </p:sp>
      <p:sp>
        <p:nvSpPr>
          <p:cNvPr id="45" name="Text 41"/>
          <p:cNvSpPr/>
          <p:nvPr/>
        </p:nvSpPr>
        <p:spPr>
          <a:xfrm>
            <a:off x="4079081" y="4284018"/>
            <a:ext cx="314325" cy="314325"/>
          </a:xfrm>
          <a:prstGeom prst="roundRect">
            <a:avLst>
              <a:gd name="adj" fmla="val 36364"/>
            </a:avLst>
          </a:prstGeom>
          <a:solidFill>
            <a:srgbClr val="DC2626"/>
          </a:solidFill>
          <a:ln/>
        </p:spPr>
        <p:txBody>
          <a:bodyPr wrap="square" rtlCol="0" anchor="ctr"/>
          <a:lstStyle/>
          <a:p>
            <a:pPr indent="0" marL="0">
              <a:buNone/>
            </a:pPr>
            <a:endParaRPr lang="en-US" dirty="0"/>
          </a:p>
        </p:txBody>
      </p:sp>
      <p:sp>
        <p:nvSpPr>
          <p:cNvPr id="46" name="Text 42"/>
          <p:cNvSpPr/>
          <p:nvPr/>
        </p:nvSpPr>
        <p:spPr>
          <a:xfrm>
            <a:off x="4153376" y="4358313"/>
            <a:ext cx="165735" cy="165735"/>
          </a:xfrm>
          <a:prstGeom prst="rect">
            <a:avLst/>
          </a:prstGeom>
          <a:noFill/>
          <a:ln/>
        </p:spPr>
        <p:txBody>
          <a:bodyPr wrap="none" lIns="0" tIns="0" rIns="0" bIns="0" rtlCol="0" anchor="ctr"/>
          <a:lstStyle/>
          <a:p>
            <a:pPr algn="ctr" indent="0" marL="0">
              <a:buNone/>
            </a:pPr>
            <a:r>
              <a:rPr lang="en-US" sz="1125" dirty="0">
                <a:solidFill>
                  <a:srgbClr val="FFFFFF"/>
                </a:solidFill>
                <a:latin typeface="Segoe UI Symbol" pitchFamily="34" charset="0"/>
                <a:ea typeface="Segoe UI Symbol" pitchFamily="34" charset="-122"/>
                <a:cs typeface="Segoe UI Symbol" pitchFamily="34" charset="-120"/>
              </a:rPr>
              <a:t>⚡</a:t>
            </a:r>
            <a:endParaRPr lang="en-US" sz="1125" dirty="0"/>
          </a:p>
        </p:txBody>
      </p:sp>
      <p:sp>
        <p:nvSpPr>
          <p:cNvPr id="47" name="Text 43"/>
          <p:cNvSpPr/>
          <p:nvPr/>
        </p:nvSpPr>
        <p:spPr>
          <a:xfrm>
            <a:off x="2597869" y="4301207"/>
            <a:ext cx="1767935" cy="123926"/>
          </a:xfrm>
          <a:prstGeom prst="rect">
            <a:avLst/>
          </a:prstGeom>
          <a:noFill/>
          <a:ln/>
        </p:spPr>
        <p:txBody>
          <a:bodyPr wrap="none" lIns="0" tIns="0" rIns="0" bIns="0" rtlCol="0" anchor="t">
            <a:normAutofit/>
          </a:bodyPr>
          <a:lstStyle/>
          <a:p>
            <a:pPr algn="l" indent="0" marL="0">
              <a:lnSpc>
                <a:spcPts val="1080"/>
              </a:lnSpc>
              <a:buNone/>
            </a:pPr>
            <a:r>
              <a:rPr lang="en-US" sz="900" b="1" dirty="0">
                <a:solidFill>
                  <a:srgbClr val="0F172A"/>
                </a:solidFill>
                <a:latin typeface="Carlito" pitchFamily="34" charset="0"/>
                <a:ea typeface="Carlito" pitchFamily="34" charset="-122"/>
                <a:cs typeface="Carlito" pitchFamily="34" charset="-120"/>
              </a:rPr>
              <a:t>نسيج عصبي</a:t>
            </a:r>
            <a:endParaRPr lang="en-US" sz="900" dirty="0"/>
          </a:p>
        </p:txBody>
      </p:sp>
      <p:sp>
        <p:nvSpPr>
          <p:cNvPr id="48" name="Text 44"/>
          <p:cNvSpPr/>
          <p:nvPr/>
        </p:nvSpPr>
        <p:spPr>
          <a:xfrm>
            <a:off x="2597869" y="4452565"/>
            <a:ext cx="1491695" cy="164592"/>
          </a:xfrm>
          <a:prstGeom prst="rect">
            <a:avLst/>
          </a:prstGeom>
          <a:noFill/>
          <a:ln/>
        </p:spPr>
        <p:txBody>
          <a:bodyPr wrap="square" lIns="0" tIns="0" rIns="0" bIns="0" rtlCol="0" anchor="t"/>
          <a:lstStyle/>
          <a:p>
            <a:pPr algn="l" indent="0" marL="0">
              <a:lnSpc>
                <a:spcPts val="1013"/>
              </a:lnSpc>
              <a:buNone/>
            </a:pPr>
            <a:r>
              <a:rPr lang="en-US" sz="800" dirty="0">
                <a:solidFill>
                  <a:srgbClr val="334155"/>
                </a:solidFill>
                <a:latin typeface="Carlito" pitchFamily="34" charset="0"/>
                <a:ea typeface="Carlito" pitchFamily="34" charset="-122"/>
                <a:cs typeface="Carlito" pitchFamily="34" charset="-120"/>
              </a:rPr>
              <a:t>ينقل الإشارات — الدماغ والحواس</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5F9"/>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6286500" y="-1285875"/>
            <a:ext cx="3714750" cy="3714750"/>
          </a:xfrm>
          <a:prstGeom prst="rect">
            <a:avLst/>
          </a:prstGeom>
        </p:spPr>
      </p:pic>
      <p:sp>
        <p:nvSpPr>
          <p:cNvPr id="4" name="Text 0"/>
          <p:cNvSpPr/>
          <p:nvPr/>
        </p:nvSpPr>
        <p:spPr>
          <a:xfrm>
            <a:off x="6286500" y="-1285875"/>
            <a:ext cx="3714750" cy="3714750"/>
          </a:xfrm>
          <a:prstGeom prst="ellipse">
            <a:avLst/>
          </a:prstGeom>
          <a:solidFill>
            <a:srgbClr val="DC2626">
              <a:alpha val="0"/>
            </a:srgbClr>
          </a:solidFill>
          <a:ln/>
        </p:spPr>
        <p:txBody>
          <a:bodyPr wrap="square" rtlCol="0" anchor="ctr"/>
          <a:lstStyle/>
          <a:p>
            <a:pPr indent="0" marL="0">
              <a:buNone/>
            </a:pPr>
            <a:endParaRPr lang="en-US" dirty="0"/>
          </a:p>
        </p:txBody>
      </p:sp>
      <p:pic>
        <p:nvPicPr>
          <p:cNvPr id="5" name="Image 2" descr="preencoded.png">    </p:cNvPr>
          <p:cNvPicPr>
            <a:picLocks noChangeAspect="1"/>
          </p:cNvPicPr>
          <p:nvPr/>
        </p:nvPicPr>
        <p:blipFill>
          <a:blip r:embed="rId3"/>
          <a:stretch>
            <a:fillRect/>
          </a:stretch>
        </p:blipFill>
        <p:spPr>
          <a:xfrm>
            <a:off x="-1143000" y="2857500"/>
            <a:ext cx="3714750" cy="3714750"/>
          </a:xfrm>
          <a:prstGeom prst="rect">
            <a:avLst/>
          </a:prstGeom>
        </p:spPr>
      </p:pic>
      <p:sp>
        <p:nvSpPr>
          <p:cNvPr id="6" name="Text 1"/>
          <p:cNvSpPr/>
          <p:nvPr/>
        </p:nvSpPr>
        <p:spPr>
          <a:xfrm>
            <a:off x="-1143000" y="2857500"/>
            <a:ext cx="3714750" cy="3714750"/>
          </a:xfrm>
          <a:prstGeom prst="ellipse">
            <a:avLst/>
          </a:prstGeom>
          <a:solidFill>
            <a:srgbClr val="1E40AF">
              <a:alpha val="0"/>
            </a:srgbClr>
          </a:solidFill>
          <a:ln/>
        </p:spPr>
        <p:txBody>
          <a:bodyPr wrap="square" rtlCol="0" anchor="ctr"/>
          <a:lstStyle/>
          <a:p>
            <a:pPr indent="0" marL="0">
              <a:buNone/>
            </a:pPr>
            <a:endParaRPr lang="en-US" dirty="0"/>
          </a:p>
        </p:txBody>
      </p:sp>
      <p:sp>
        <p:nvSpPr>
          <p:cNvPr id="7" name="Text 2"/>
          <p:cNvSpPr/>
          <p:nvPr/>
        </p:nvSpPr>
        <p:spPr>
          <a:xfrm>
            <a:off x="571500" y="400050"/>
            <a:ext cx="8001000" cy="7144"/>
          </a:xfrm>
          <a:prstGeom prst="rect">
            <a:avLst/>
          </a:prstGeom>
          <a:solidFill>
            <a:srgbClr val="1E40AF">
              <a:alpha val="18000"/>
            </a:srgbClr>
          </a:solidFill>
          <a:ln/>
        </p:spPr>
        <p:txBody>
          <a:bodyPr wrap="square" rtlCol="0" anchor="ctr"/>
          <a:lstStyle/>
          <a:p>
            <a:pPr indent="0" marL="0">
              <a:buNone/>
            </a:pPr>
            <a:endParaRPr lang="en-US" dirty="0"/>
          </a:p>
        </p:txBody>
      </p:sp>
      <p:sp>
        <p:nvSpPr>
          <p:cNvPr id="8" name="Text 3"/>
          <p:cNvSpPr/>
          <p:nvPr/>
        </p:nvSpPr>
        <p:spPr>
          <a:xfrm>
            <a:off x="7466469" y="1504241"/>
            <a:ext cx="1128891" cy="264919"/>
          </a:xfrm>
          <a:prstGeom prst="roundRect">
            <a:avLst>
              <a:gd name="adj" fmla="val 3591843"/>
            </a:avLst>
          </a:prstGeom>
          <a:noFill/>
          <a:ln w="7144">
            <a:solidFill>
              <a:srgbClr val="1E40AF"/>
            </a:solidFill>
            <a:prstDash val="solid"/>
          </a:ln>
        </p:spPr>
        <p:txBody>
          <a:bodyPr wrap="square" rtlCol="0" anchor="ctr"/>
          <a:lstStyle/>
          <a:p>
            <a:pPr indent="0" marL="0">
              <a:buNone/>
            </a:pPr>
            <a:endParaRPr lang="en-US" dirty="0"/>
          </a:p>
        </p:txBody>
      </p:sp>
      <p:sp>
        <p:nvSpPr>
          <p:cNvPr id="9" name="Text 4"/>
          <p:cNvSpPr/>
          <p:nvPr/>
        </p:nvSpPr>
        <p:spPr>
          <a:xfrm>
            <a:off x="8351044" y="1579550"/>
            <a:ext cx="114300" cy="114300"/>
          </a:xfrm>
          <a:prstGeom prst="rect">
            <a:avLst/>
          </a:prstGeom>
          <a:noFill/>
          <a:ln/>
        </p:spPr>
        <p:txBody>
          <a:bodyPr wrap="none" lIns="0" tIns="0" rIns="0" bIns="0" rtlCol="0" anchor="ctr"/>
          <a:lstStyle/>
          <a:p>
            <a:pPr algn="ctr" indent="0" marL="0">
              <a:buNone/>
            </a:pPr>
            <a:r>
              <a:rPr lang="en-US" sz="1125" dirty="0">
                <a:solidFill>
                  <a:srgbClr val="1E40AF"/>
                </a:solidFill>
                <a:latin typeface="Segoe UI Symbol" pitchFamily="34" charset="0"/>
                <a:ea typeface="Segoe UI Symbol" pitchFamily="34" charset="-122"/>
                <a:cs typeface="Segoe UI Symbol" pitchFamily="34" charset="-120"/>
              </a:rPr>
              <a:t>❏</a:t>
            </a:r>
            <a:endParaRPr lang="en-US" sz="1125" dirty="0"/>
          </a:p>
        </p:txBody>
      </p:sp>
      <p:sp>
        <p:nvSpPr>
          <p:cNvPr id="10" name="Text 5"/>
          <p:cNvSpPr/>
          <p:nvPr/>
        </p:nvSpPr>
        <p:spPr>
          <a:xfrm>
            <a:off x="7596485" y="1567049"/>
            <a:ext cx="868859" cy="139303"/>
          </a:xfrm>
          <a:prstGeom prst="rect">
            <a:avLst/>
          </a:prstGeom>
          <a:noFill/>
          <a:ln/>
        </p:spPr>
        <p:txBody>
          <a:bodyPr wrap="none" lIns="0" tIns="0" rIns="0" bIns="0" rtlCol="0" anchor="t"/>
          <a:lstStyle/>
          <a:p>
            <a:pPr algn="l" indent="0" marL="0">
              <a:lnSpc>
                <a:spcPts val="1097"/>
              </a:lnSpc>
              <a:buNone/>
            </a:pPr>
            <a:r>
              <a:rPr lang="en-US" sz="800" dirty="0">
                <a:solidFill>
                  <a:srgbClr val="1E40AF"/>
                </a:solidFill>
                <a:latin typeface="Carlito" pitchFamily="34" charset="0"/>
                <a:ea typeface="Carlito" pitchFamily="34" charset="-122"/>
                <a:cs typeface="Carlito" pitchFamily="34" charset="-120"/>
              </a:rPr>
              <a:t>الفصل الرئيسي</a:t>
            </a:r>
            <a:endParaRPr lang="en-US" sz="800" dirty="0"/>
          </a:p>
        </p:txBody>
      </p:sp>
      <p:sp>
        <p:nvSpPr>
          <p:cNvPr id="11" name="Text 6"/>
          <p:cNvSpPr/>
          <p:nvPr/>
        </p:nvSpPr>
        <p:spPr>
          <a:xfrm>
            <a:off x="8172450" y="1884945"/>
            <a:ext cx="400050" cy="28575"/>
          </a:xfrm>
          <a:prstGeom prst="roundRect">
            <a:avLst>
              <a:gd name="adj" fmla="val 66667"/>
            </a:avLst>
          </a:prstGeom>
          <a:solidFill>
            <a:srgbClr val="DC2626"/>
          </a:solidFill>
          <a:ln/>
        </p:spPr>
        <p:txBody>
          <a:bodyPr wrap="square" rtlCol="0" anchor="ctr"/>
          <a:lstStyle/>
          <a:p>
            <a:pPr indent="0" marL="0">
              <a:buNone/>
            </a:pPr>
            <a:endParaRPr lang="en-US" dirty="0"/>
          </a:p>
        </p:txBody>
      </p:sp>
      <p:sp>
        <p:nvSpPr>
          <p:cNvPr id="12" name="Text 7"/>
          <p:cNvSpPr/>
          <p:nvPr/>
        </p:nvSpPr>
        <p:spPr>
          <a:xfrm>
            <a:off x="3611947" y="2042108"/>
            <a:ext cx="5208581" cy="1078287"/>
          </a:xfrm>
          <a:prstGeom prst="rect">
            <a:avLst/>
          </a:prstGeom>
          <a:noFill/>
          <a:ln/>
        </p:spPr>
        <p:txBody>
          <a:bodyPr wrap="none" lIns="0" tIns="0" rIns="0" bIns="0" rtlCol="0" anchor="t">
            <a:normAutofit/>
          </a:bodyPr>
          <a:lstStyle/>
          <a:p>
            <a:pPr algn="l" indent="0" marL="0">
              <a:lnSpc>
                <a:spcPts val="3960"/>
              </a:lnSpc>
              <a:buNone/>
            </a:pPr>
            <a:r>
              <a:rPr lang="en-US" sz="3600" b="1" spc="-36" kern="0" dirty="0">
                <a:solidFill>
                  <a:srgbClr val="1E40AF"/>
                </a:solidFill>
                <a:latin typeface="Carlito" pitchFamily="34" charset="0"/>
                <a:ea typeface="Carlito" pitchFamily="34" charset="-122"/>
                <a:cs typeface="Carlito" pitchFamily="34" charset="-120"/>
              </a:rPr>
              <a:t>الأجهزة الرئيسية للجسم</a:t>
            </a:r>
            <a:endParaRPr lang="en-US" sz="3600" dirty="0"/>
          </a:p>
        </p:txBody>
      </p:sp>
      <p:sp>
        <p:nvSpPr>
          <p:cNvPr id="13" name="Text 8"/>
          <p:cNvSpPr/>
          <p:nvPr/>
        </p:nvSpPr>
        <p:spPr>
          <a:xfrm>
            <a:off x="3876489" y="3147826"/>
            <a:ext cx="4696011" cy="277749"/>
          </a:xfrm>
          <a:prstGeom prst="rect">
            <a:avLst/>
          </a:prstGeom>
          <a:noFill/>
          <a:ln/>
        </p:spPr>
        <p:txBody>
          <a:bodyPr wrap="square" lIns="0" tIns="0" rIns="0" bIns="0" rtlCol="0" anchor="t"/>
          <a:lstStyle/>
          <a:p>
            <a:pPr algn="l" indent="0" marL="0">
              <a:lnSpc>
                <a:spcPts val="2025"/>
              </a:lnSpc>
              <a:buNone/>
            </a:pPr>
            <a:r>
              <a:rPr lang="en-US" sz="1350" dirty="0">
                <a:solidFill>
                  <a:srgbClr val="334155"/>
                </a:solidFill>
                <a:latin typeface="Carlito" pitchFamily="34" charset="0"/>
                <a:ea typeface="Carlito" pitchFamily="34" charset="-122"/>
                <a:cs typeface="Carlito" pitchFamily="34" charset="-120"/>
              </a:rPr>
              <a:t>أحد عشر جهازاً تعمل في انسجام تام — كل واحد يكمل الآخر</a:t>
            </a:r>
            <a:endParaRPr lang="en-US" sz="1350" dirty="0"/>
          </a:p>
        </p:txBody>
      </p:sp>
      <p:sp>
        <p:nvSpPr>
          <p:cNvPr id="14" name="Text 9"/>
          <p:cNvSpPr/>
          <p:nvPr/>
        </p:nvSpPr>
        <p:spPr>
          <a:xfrm>
            <a:off x="7958138" y="3564879"/>
            <a:ext cx="614363" cy="216027"/>
          </a:xfrm>
          <a:prstGeom prst="roundRect">
            <a:avLst>
              <a:gd name="adj" fmla="val 4404762"/>
            </a:avLst>
          </a:prstGeom>
          <a:solidFill>
            <a:srgbClr val="1E40AF">
              <a:alpha val="6000"/>
            </a:srgbClr>
          </a:solidFill>
          <a:ln w="7144">
            <a:solidFill>
              <a:srgbClr val="1E40AF"/>
            </a:solidFill>
            <a:prstDash val="solid"/>
          </a:ln>
        </p:spPr>
        <p:txBody>
          <a:bodyPr wrap="square" rtlCol="0" anchor="ctr"/>
          <a:lstStyle/>
          <a:p>
            <a:pPr indent="0" marL="0">
              <a:buNone/>
            </a:pPr>
            <a:endParaRPr lang="en-US" dirty="0"/>
          </a:p>
        </p:txBody>
      </p:sp>
      <p:sp>
        <p:nvSpPr>
          <p:cNvPr id="15" name="Text 10"/>
          <p:cNvSpPr/>
          <p:nvPr/>
        </p:nvSpPr>
        <p:spPr>
          <a:xfrm>
            <a:off x="7958138" y="3576451"/>
            <a:ext cx="614363" cy="192881"/>
          </a:xfrm>
          <a:prstGeom prst="rect">
            <a:avLst/>
          </a:prstGeom>
          <a:noFill/>
          <a:ln/>
        </p:spPr>
        <p:txBody>
          <a:bodyPr wrap="none" lIns="0" tIns="0" rIns="0" bIns="0" rtlCol="0" anchor="ctr"/>
          <a:lstStyle/>
          <a:p>
            <a:pPr algn="ctr" indent="0" marL="0">
              <a:lnSpc>
                <a:spcPts val="731"/>
              </a:lnSpc>
              <a:buNone/>
            </a:pPr>
            <a:r>
              <a:rPr lang="en-US" sz="800" dirty="0">
                <a:solidFill>
                  <a:srgbClr val="1E40AF"/>
                </a:solidFill>
                <a:latin typeface="Carlito" pitchFamily="34" charset="0"/>
                <a:ea typeface="Carlito" pitchFamily="34" charset="-122"/>
                <a:cs typeface="Carlito" pitchFamily="34" charset="-120"/>
              </a:rPr>
              <a:t>الهيكلي</a:t>
            </a:r>
            <a:endParaRPr lang="en-US" sz="800" dirty="0"/>
          </a:p>
        </p:txBody>
      </p:sp>
      <p:sp>
        <p:nvSpPr>
          <p:cNvPr id="16" name="Text 11"/>
          <p:cNvSpPr/>
          <p:nvPr/>
        </p:nvSpPr>
        <p:spPr>
          <a:xfrm>
            <a:off x="7343775" y="3564879"/>
            <a:ext cx="557213" cy="216027"/>
          </a:xfrm>
          <a:prstGeom prst="roundRect">
            <a:avLst>
              <a:gd name="adj" fmla="val 4404762"/>
            </a:avLst>
          </a:prstGeom>
          <a:solidFill>
            <a:srgbClr val="1E40AF">
              <a:alpha val="6000"/>
            </a:srgbClr>
          </a:solidFill>
          <a:ln w="7144">
            <a:solidFill>
              <a:srgbClr val="1E40AF"/>
            </a:solidFill>
            <a:prstDash val="solid"/>
          </a:ln>
        </p:spPr>
        <p:txBody>
          <a:bodyPr wrap="square" rtlCol="0" anchor="ctr"/>
          <a:lstStyle/>
          <a:p>
            <a:pPr indent="0" marL="0">
              <a:buNone/>
            </a:pPr>
            <a:endParaRPr lang="en-US" dirty="0"/>
          </a:p>
        </p:txBody>
      </p:sp>
      <p:sp>
        <p:nvSpPr>
          <p:cNvPr id="17" name="Text 12"/>
          <p:cNvSpPr/>
          <p:nvPr/>
        </p:nvSpPr>
        <p:spPr>
          <a:xfrm>
            <a:off x="7343775" y="3576451"/>
            <a:ext cx="557213" cy="192881"/>
          </a:xfrm>
          <a:prstGeom prst="rect">
            <a:avLst/>
          </a:prstGeom>
          <a:noFill/>
          <a:ln/>
        </p:spPr>
        <p:txBody>
          <a:bodyPr wrap="none" lIns="0" tIns="0" rIns="0" bIns="0" rtlCol="0" anchor="ctr"/>
          <a:lstStyle/>
          <a:p>
            <a:pPr algn="ctr" indent="0" marL="0">
              <a:lnSpc>
                <a:spcPts val="731"/>
              </a:lnSpc>
              <a:buNone/>
            </a:pPr>
            <a:r>
              <a:rPr lang="en-US" sz="800" dirty="0">
                <a:solidFill>
                  <a:srgbClr val="1E40AF"/>
                </a:solidFill>
                <a:latin typeface="Carlito" pitchFamily="34" charset="0"/>
                <a:ea typeface="Carlito" pitchFamily="34" charset="-122"/>
                <a:cs typeface="Carlito" pitchFamily="34" charset="-120"/>
              </a:rPr>
              <a:t>العضلي</a:t>
            </a:r>
            <a:endParaRPr lang="en-US" sz="800" dirty="0"/>
          </a:p>
        </p:txBody>
      </p:sp>
      <p:sp>
        <p:nvSpPr>
          <p:cNvPr id="18" name="Text 13"/>
          <p:cNvSpPr/>
          <p:nvPr/>
        </p:nvSpPr>
        <p:spPr>
          <a:xfrm>
            <a:off x="6729413" y="3564879"/>
            <a:ext cx="557213" cy="216027"/>
          </a:xfrm>
          <a:prstGeom prst="roundRect">
            <a:avLst>
              <a:gd name="adj" fmla="val 4404762"/>
            </a:avLst>
          </a:prstGeom>
          <a:solidFill>
            <a:srgbClr val="1E40AF">
              <a:alpha val="6000"/>
            </a:srgbClr>
          </a:solidFill>
          <a:ln w="7144">
            <a:solidFill>
              <a:srgbClr val="1E40AF"/>
            </a:solidFill>
            <a:prstDash val="solid"/>
          </a:ln>
        </p:spPr>
        <p:txBody>
          <a:bodyPr wrap="square" rtlCol="0" anchor="ctr"/>
          <a:lstStyle/>
          <a:p>
            <a:pPr indent="0" marL="0">
              <a:buNone/>
            </a:pPr>
            <a:endParaRPr lang="en-US" dirty="0"/>
          </a:p>
        </p:txBody>
      </p:sp>
      <p:sp>
        <p:nvSpPr>
          <p:cNvPr id="19" name="Text 14"/>
          <p:cNvSpPr/>
          <p:nvPr/>
        </p:nvSpPr>
        <p:spPr>
          <a:xfrm>
            <a:off x="6729413" y="3576451"/>
            <a:ext cx="557213" cy="192881"/>
          </a:xfrm>
          <a:prstGeom prst="rect">
            <a:avLst/>
          </a:prstGeom>
          <a:noFill/>
          <a:ln/>
        </p:spPr>
        <p:txBody>
          <a:bodyPr wrap="none" lIns="0" tIns="0" rIns="0" bIns="0" rtlCol="0" anchor="ctr"/>
          <a:lstStyle/>
          <a:p>
            <a:pPr algn="ctr" indent="0" marL="0">
              <a:lnSpc>
                <a:spcPts val="731"/>
              </a:lnSpc>
              <a:buNone/>
            </a:pPr>
            <a:r>
              <a:rPr lang="en-US" sz="800" dirty="0">
                <a:solidFill>
                  <a:srgbClr val="1E40AF"/>
                </a:solidFill>
                <a:latin typeface="Carlito" pitchFamily="34" charset="0"/>
                <a:ea typeface="Carlito" pitchFamily="34" charset="-122"/>
                <a:cs typeface="Carlito" pitchFamily="34" charset="-120"/>
              </a:rPr>
              <a:t>الدوري</a:t>
            </a:r>
            <a:endParaRPr lang="en-US" sz="800" dirty="0"/>
          </a:p>
        </p:txBody>
      </p:sp>
      <p:sp>
        <p:nvSpPr>
          <p:cNvPr id="20" name="Text 15"/>
          <p:cNvSpPr/>
          <p:nvPr/>
        </p:nvSpPr>
        <p:spPr>
          <a:xfrm>
            <a:off x="6057900" y="3564879"/>
            <a:ext cx="614363" cy="216027"/>
          </a:xfrm>
          <a:prstGeom prst="roundRect">
            <a:avLst>
              <a:gd name="adj" fmla="val 4404762"/>
            </a:avLst>
          </a:prstGeom>
          <a:solidFill>
            <a:srgbClr val="1E40AF">
              <a:alpha val="6000"/>
            </a:srgbClr>
          </a:solidFill>
          <a:ln w="7144">
            <a:solidFill>
              <a:srgbClr val="1E40AF"/>
            </a:solidFill>
            <a:prstDash val="solid"/>
          </a:ln>
        </p:spPr>
        <p:txBody>
          <a:bodyPr wrap="square" rtlCol="0" anchor="ctr"/>
          <a:lstStyle/>
          <a:p>
            <a:pPr indent="0" marL="0">
              <a:buNone/>
            </a:pPr>
            <a:endParaRPr lang="en-US" dirty="0"/>
          </a:p>
        </p:txBody>
      </p:sp>
      <p:sp>
        <p:nvSpPr>
          <p:cNvPr id="21" name="Text 16"/>
          <p:cNvSpPr/>
          <p:nvPr/>
        </p:nvSpPr>
        <p:spPr>
          <a:xfrm>
            <a:off x="6057900" y="3576451"/>
            <a:ext cx="614363" cy="192881"/>
          </a:xfrm>
          <a:prstGeom prst="rect">
            <a:avLst/>
          </a:prstGeom>
          <a:noFill/>
          <a:ln/>
        </p:spPr>
        <p:txBody>
          <a:bodyPr wrap="none" lIns="0" tIns="0" rIns="0" bIns="0" rtlCol="0" anchor="ctr"/>
          <a:lstStyle/>
          <a:p>
            <a:pPr algn="ctr" indent="0" marL="0">
              <a:lnSpc>
                <a:spcPts val="731"/>
              </a:lnSpc>
              <a:buNone/>
            </a:pPr>
            <a:r>
              <a:rPr lang="en-US" sz="800" dirty="0">
                <a:solidFill>
                  <a:srgbClr val="1E40AF"/>
                </a:solidFill>
                <a:latin typeface="Carlito" pitchFamily="34" charset="0"/>
                <a:ea typeface="Carlito" pitchFamily="34" charset="-122"/>
                <a:cs typeface="Carlito" pitchFamily="34" charset="-120"/>
              </a:rPr>
              <a:t>التنفسي</a:t>
            </a:r>
            <a:endParaRPr lang="en-US" sz="800" dirty="0"/>
          </a:p>
        </p:txBody>
      </p:sp>
      <p:sp>
        <p:nvSpPr>
          <p:cNvPr id="22" name="Text 17"/>
          <p:cNvSpPr/>
          <p:nvPr/>
        </p:nvSpPr>
        <p:spPr>
          <a:xfrm>
            <a:off x="5443538" y="3564879"/>
            <a:ext cx="557213" cy="216027"/>
          </a:xfrm>
          <a:prstGeom prst="roundRect">
            <a:avLst>
              <a:gd name="adj" fmla="val 4404762"/>
            </a:avLst>
          </a:prstGeom>
          <a:solidFill>
            <a:srgbClr val="1E40AF">
              <a:alpha val="6000"/>
            </a:srgbClr>
          </a:solidFill>
          <a:ln w="7144">
            <a:solidFill>
              <a:srgbClr val="1E40AF"/>
            </a:solidFill>
            <a:prstDash val="solid"/>
          </a:ln>
        </p:spPr>
        <p:txBody>
          <a:bodyPr wrap="square" rtlCol="0" anchor="ctr"/>
          <a:lstStyle/>
          <a:p>
            <a:pPr indent="0" marL="0">
              <a:buNone/>
            </a:pPr>
            <a:endParaRPr lang="en-US" dirty="0"/>
          </a:p>
        </p:txBody>
      </p:sp>
      <p:sp>
        <p:nvSpPr>
          <p:cNvPr id="23" name="Text 18"/>
          <p:cNvSpPr/>
          <p:nvPr/>
        </p:nvSpPr>
        <p:spPr>
          <a:xfrm>
            <a:off x="5443538" y="3576451"/>
            <a:ext cx="557213" cy="192881"/>
          </a:xfrm>
          <a:prstGeom prst="rect">
            <a:avLst/>
          </a:prstGeom>
          <a:noFill/>
          <a:ln/>
        </p:spPr>
        <p:txBody>
          <a:bodyPr wrap="none" lIns="0" tIns="0" rIns="0" bIns="0" rtlCol="0" anchor="ctr"/>
          <a:lstStyle/>
          <a:p>
            <a:pPr algn="ctr" indent="0" marL="0">
              <a:lnSpc>
                <a:spcPts val="731"/>
              </a:lnSpc>
              <a:buNone/>
            </a:pPr>
            <a:r>
              <a:rPr lang="en-US" sz="800" dirty="0">
                <a:solidFill>
                  <a:srgbClr val="1E40AF"/>
                </a:solidFill>
                <a:latin typeface="Carlito" pitchFamily="34" charset="0"/>
                <a:ea typeface="Carlito" pitchFamily="34" charset="-122"/>
                <a:cs typeface="Carlito" pitchFamily="34" charset="-120"/>
              </a:rPr>
              <a:t>العصبي</a:t>
            </a:r>
            <a:endParaRPr lang="en-US" sz="800" dirty="0"/>
          </a:p>
        </p:txBody>
      </p:sp>
      <p:sp>
        <p:nvSpPr>
          <p:cNvPr id="24" name="Text 19"/>
          <p:cNvSpPr/>
          <p:nvPr/>
        </p:nvSpPr>
        <p:spPr>
          <a:xfrm>
            <a:off x="4829175" y="3564879"/>
            <a:ext cx="557213" cy="216027"/>
          </a:xfrm>
          <a:prstGeom prst="roundRect">
            <a:avLst>
              <a:gd name="adj" fmla="val 4404762"/>
            </a:avLst>
          </a:prstGeom>
          <a:solidFill>
            <a:srgbClr val="1E40AF">
              <a:alpha val="6000"/>
            </a:srgbClr>
          </a:solidFill>
          <a:ln w="7144">
            <a:solidFill>
              <a:srgbClr val="1E40AF"/>
            </a:solidFill>
            <a:prstDash val="solid"/>
          </a:ln>
        </p:spPr>
        <p:txBody>
          <a:bodyPr wrap="square" rtlCol="0" anchor="ctr"/>
          <a:lstStyle/>
          <a:p>
            <a:pPr indent="0" marL="0">
              <a:buNone/>
            </a:pPr>
            <a:endParaRPr lang="en-US" dirty="0"/>
          </a:p>
        </p:txBody>
      </p:sp>
      <p:sp>
        <p:nvSpPr>
          <p:cNvPr id="25" name="Text 20"/>
          <p:cNvSpPr/>
          <p:nvPr/>
        </p:nvSpPr>
        <p:spPr>
          <a:xfrm>
            <a:off x="4829175" y="3576451"/>
            <a:ext cx="557213" cy="192881"/>
          </a:xfrm>
          <a:prstGeom prst="rect">
            <a:avLst/>
          </a:prstGeom>
          <a:noFill/>
          <a:ln/>
        </p:spPr>
        <p:txBody>
          <a:bodyPr wrap="none" lIns="0" tIns="0" rIns="0" bIns="0" rtlCol="0" anchor="ctr"/>
          <a:lstStyle/>
          <a:p>
            <a:pPr algn="ctr" indent="0" marL="0">
              <a:lnSpc>
                <a:spcPts val="731"/>
              </a:lnSpc>
              <a:buNone/>
            </a:pPr>
            <a:r>
              <a:rPr lang="en-US" sz="800" dirty="0">
                <a:solidFill>
                  <a:srgbClr val="1E40AF"/>
                </a:solidFill>
                <a:latin typeface="Carlito" pitchFamily="34" charset="0"/>
                <a:ea typeface="Carlito" pitchFamily="34" charset="-122"/>
                <a:cs typeface="Carlito" pitchFamily="34" charset="-120"/>
              </a:rPr>
              <a:t>الهضمي</a:t>
            </a:r>
            <a:endParaRPr lang="en-US" sz="800" dirty="0"/>
          </a:p>
        </p:txBody>
      </p:sp>
      <p:sp>
        <p:nvSpPr>
          <p:cNvPr id="26" name="Text 21"/>
          <p:cNvSpPr/>
          <p:nvPr/>
        </p:nvSpPr>
        <p:spPr>
          <a:xfrm>
            <a:off x="1474986" y="1753791"/>
            <a:ext cx="3108731" cy="1601343"/>
          </a:xfrm>
          <a:prstGeom prst="rect">
            <a:avLst/>
          </a:prstGeom>
          <a:noFill/>
          <a:ln/>
        </p:spPr>
        <p:txBody>
          <a:bodyPr wrap="square" lIns="0" tIns="0" rIns="0" bIns="0" rtlCol="0" anchor="t">
            <a:normAutofit/>
          </a:bodyPr>
          <a:lstStyle/>
          <a:p>
            <a:pPr algn="l" indent="0" marL="0">
              <a:lnSpc>
                <a:spcPts val="12150"/>
              </a:lnSpc>
              <a:buNone/>
            </a:pPr>
            <a:r>
              <a:rPr lang="en-US" sz="13500" b="1" spc="-540" kern="0" dirty="0">
                <a:solidFill>
                  <a:srgbClr val="1E40AF">
                    <a:alpha val="12000"/>
                  </a:srgbClr>
                </a:solidFill>
                <a:latin typeface="Liberation Sans Narrow" pitchFamily="34" charset="0"/>
                <a:ea typeface="Liberation Sans Narrow" pitchFamily="34" charset="-122"/>
                <a:cs typeface="Liberation Sans Narrow" pitchFamily="34" charset="-120"/>
              </a:rPr>
              <a:t>02</a:t>
            </a:r>
            <a:endParaRPr lang="en-US" sz="13500" dirty="0"/>
          </a:p>
        </p:txBody>
      </p:sp>
      <p:sp>
        <p:nvSpPr>
          <p:cNvPr id="27" name="Text 22"/>
          <p:cNvSpPr/>
          <p:nvPr/>
        </p:nvSpPr>
        <p:spPr>
          <a:xfrm>
            <a:off x="2532236" y="3382566"/>
            <a:ext cx="1031014" cy="164592"/>
          </a:xfrm>
          <a:prstGeom prst="rect">
            <a:avLst/>
          </a:prstGeom>
          <a:noFill/>
          <a:ln/>
        </p:spPr>
        <p:txBody>
          <a:bodyPr wrap="none" lIns="0" tIns="0" rIns="0" bIns="0" rtlCol="0" anchor="t"/>
          <a:lstStyle/>
          <a:p>
            <a:pPr algn="l" indent="0" marL="0">
              <a:lnSpc>
                <a:spcPts val="1181"/>
              </a:lnSpc>
              <a:buNone/>
            </a:pPr>
            <a:r>
              <a:rPr lang="en-US" sz="800" spc="32" kern="0" dirty="0">
                <a:solidFill>
                  <a:srgbClr val="DC2626"/>
                </a:solidFill>
                <a:latin typeface="Carlito" pitchFamily="34" charset="0"/>
                <a:ea typeface="Carlito" pitchFamily="34" charset="-122"/>
                <a:cs typeface="Carlito" pitchFamily="34" charset="-120"/>
              </a:rPr>
              <a:t>القسم الثاني / 03</a:t>
            </a:r>
            <a:endParaRPr lang="en-US" sz="800" dirty="0"/>
          </a:p>
        </p:txBody>
      </p:sp>
      <p:sp>
        <p:nvSpPr>
          <p:cNvPr id="28" name="Text 23"/>
          <p:cNvSpPr/>
          <p:nvPr/>
        </p:nvSpPr>
        <p:spPr>
          <a:xfrm>
            <a:off x="6749616" y="228600"/>
            <a:ext cx="2125516" cy="164592"/>
          </a:xfrm>
          <a:prstGeom prst="rect">
            <a:avLst/>
          </a:prstGeom>
          <a:noFill/>
          <a:ln/>
        </p:spPr>
        <p:txBody>
          <a:bodyPr wrap="square" lIns="0" tIns="0" rIns="0" bIns="0" rtlCol="0" anchor="t"/>
          <a:lstStyle/>
          <a:p>
            <a:pPr algn="l" indent="0" marL="0">
              <a:lnSpc>
                <a:spcPts val="928"/>
              </a:lnSpc>
              <a:buNone/>
            </a:pPr>
            <a:r>
              <a:rPr lang="en-US" sz="800" spc="111" kern="0" dirty="0">
                <a:solidFill>
                  <a:srgbClr val="64748B"/>
                </a:solidFill>
                <a:latin typeface="Carlito" pitchFamily="34" charset="0"/>
                <a:ea typeface="Carlito" pitchFamily="34" charset="-122"/>
                <a:cs typeface="Carlito" pitchFamily="34" charset="-120"/>
              </a:rPr>
              <a:t>علم التشريح البشري · HUMAN ANATOMY</a:t>
            </a:r>
            <a:endParaRPr lang="en-US" sz="800" dirty="0"/>
          </a:p>
        </p:txBody>
      </p:sp>
      <p:sp>
        <p:nvSpPr>
          <p:cNvPr id="29" name="Text 24"/>
          <p:cNvSpPr/>
          <p:nvPr/>
        </p:nvSpPr>
        <p:spPr>
          <a:xfrm>
            <a:off x="223176" y="4814888"/>
            <a:ext cx="453969" cy="164592"/>
          </a:xfrm>
          <a:prstGeom prst="rect">
            <a:avLst/>
          </a:prstGeom>
          <a:noFill/>
          <a:ln/>
        </p:spPr>
        <p:txBody>
          <a:bodyPr wrap="none" lIns="0" tIns="0" rIns="0" bIns="0" rtlCol="0" anchor="t"/>
          <a:lstStyle/>
          <a:p>
            <a:pPr algn="l" indent="0" marL="0">
              <a:lnSpc>
                <a:spcPts val="1013"/>
              </a:lnSpc>
              <a:buNone/>
            </a:pPr>
            <a:r>
              <a:rPr lang="en-US" sz="800" spc="54" kern="0" dirty="0">
                <a:solidFill>
                  <a:srgbClr val="64748B"/>
                </a:solidFill>
                <a:latin typeface="Liberation Sans Narrow" pitchFamily="34" charset="0"/>
                <a:ea typeface="Liberation Sans Narrow" pitchFamily="34" charset="-122"/>
                <a:cs typeface="Liberation Sans Narrow" pitchFamily="34" charset="-120"/>
              </a:rPr>
              <a:t>05 / 14</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8486775" y="200025"/>
            <a:ext cx="257175" cy="257175"/>
          </a:xfrm>
          <a:prstGeom prst="ellipse">
            <a:avLst/>
          </a:prstGeom>
          <a:solidFill>
            <a:srgbClr val="DC2626"/>
          </a:solidFill>
          <a:ln/>
        </p:spPr>
        <p:txBody>
          <a:bodyPr wrap="square" rtlCol="0" anchor="ctr"/>
          <a:lstStyle/>
          <a:p>
            <a:pPr indent="0" marL="0">
              <a:buNone/>
            </a:pPr>
            <a:endParaRPr lang="en-US" dirty="0"/>
          </a:p>
        </p:txBody>
      </p:sp>
      <p:sp>
        <p:nvSpPr>
          <p:cNvPr id="5" name="Text 1"/>
          <p:cNvSpPr/>
          <p:nvPr/>
        </p:nvSpPr>
        <p:spPr>
          <a:xfrm>
            <a:off x="8486775" y="200025"/>
            <a:ext cx="257175" cy="257175"/>
          </a:xfrm>
          <a:prstGeom prst="rect">
            <a:avLst/>
          </a:prstGeom>
          <a:noFill/>
          <a:ln/>
        </p:spPr>
        <p:txBody>
          <a:bodyPr wrap="none" lIns="0" tIns="0" rIns="0" bIns="0" rtlCol="0" anchor="ctr"/>
          <a:lstStyle/>
          <a:p>
            <a:pPr algn="ctr" indent="0" marL="0">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01</a:t>
            </a:r>
            <a:endParaRPr lang="en-US" sz="800" dirty="0"/>
          </a:p>
        </p:txBody>
      </p:sp>
      <p:sp>
        <p:nvSpPr>
          <p:cNvPr id="6" name="Text 2"/>
          <p:cNvSpPr/>
          <p:nvPr/>
        </p:nvSpPr>
        <p:spPr>
          <a:xfrm>
            <a:off x="6447569" y="207169"/>
            <a:ext cx="2406132" cy="262319"/>
          </a:xfrm>
          <a:prstGeom prst="rect">
            <a:avLst/>
          </a:prstGeom>
          <a:noFill/>
          <a:ln/>
        </p:spPr>
        <p:txBody>
          <a:bodyPr wrap="none" lIns="0" tIns="0" rIns="0" bIns="0" rtlCol="0" anchor="t"/>
          <a:lstStyle/>
          <a:p>
            <a:pPr algn="l" indent="0" marL="0">
              <a:lnSpc>
                <a:spcPts val="1913"/>
              </a:lnSpc>
              <a:buNone/>
            </a:pPr>
            <a:r>
              <a:rPr lang="en-US" sz="1913" b="1" dirty="0">
                <a:solidFill>
                  <a:srgbClr val="1E40AF"/>
                </a:solidFill>
                <a:latin typeface="Carlito" pitchFamily="34" charset="0"/>
                <a:ea typeface="Carlito" pitchFamily="34" charset="-122"/>
                <a:cs typeface="Carlito" pitchFamily="34" charset="-120"/>
              </a:rPr>
              <a:t>الجهاز الهيكلي</a:t>
            </a:r>
            <a:endParaRPr lang="en-US" sz="1913" dirty="0"/>
          </a:p>
        </p:txBody>
      </p:sp>
      <p:sp>
        <p:nvSpPr>
          <p:cNvPr id="7" name="Text 3"/>
          <p:cNvSpPr/>
          <p:nvPr/>
        </p:nvSpPr>
        <p:spPr>
          <a:xfrm>
            <a:off x="5624587" y="258961"/>
            <a:ext cx="878855" cy="164592"/>
          </a:xfrm>
          <a:prstGeom prst="rect">
            <a:avLst/>
          </a:prstGeom>
          <a:noFill/>
          <a:ln/>
        </p:spPr>
        <p:txBody>
          <a:bodyPr wrap="none" lIns="0" tIns="0" rIns="0" bIns="0" rtlCol="0" anchor="t"/>
          <a:lstStyle/>
          <a:p>
            <a:pPr algn="l" indent="0" marL="0">
              <a:lnSpc>
                <a:spcPts val="1097"/>
              </a:lnSpc>
              <a:buNone/>
            </a:pPr>
            <a:r>
              <a:rPr lang="en-US" sz="731" i="1" spc="23" kern="0" dirty="0">
                <a:solidFill>
                  <a:srgbClr val="64748B"/>
                </a:solidFill>
                <a:latin typeface="Carlito" pitchFamily="34" charset="0"/>
                <a:ea typeface="Carlito" pitchFamily="34" charset="-122"/>
                <a:cs typeface="Carlito" pitchFamily="34" charset="-120"/>
              </a:rPr>
              <a:t>Skeletal System</a:t>
            </a:r>
            <a:endParaRPr lang="en-US" sz="731" dirty="0"/>
          </a:p>
        </p:txBody>
      </p:sp>
      <p:sp>
        <p:nvSpPr>
          <p:cNvPr id="8" name="Text 4"/>
          <p:cNvSpPr/>
          <p:nvPr/>
        </p:nvSpPr>
        <p:spPr>
          <a:xfrm>
            <a:off x="8343900" y="528638"/>
            <a:ext cx="400050" cy="28575"/>
          </a:xfrm>
          <a:prstGeom prst="roundRect">
            <a:avLst>
              <a:gd name="adj" fmla="val 66667"/>
            </a:avLst>
          </a:prstGeom>
          <a:solidFill>
            <a:srgbClr val="DC2626"/>
          </a:solidFill>
          <a:ln/>
        </p:spPr>
        <p:txBody>
          <a:bodyPr wrap="square" rtlCol="0" anchor="ctr"/>
          <a:lstStyle/>
          <a:p>
            <a:pPr indent="0" marL="0">
              <a:buNone/>
            </a:pPr>
            <a:endParaRPr lang="en-US" dirty="0"/>
          </a:p>
        </p:txBody>
      </p:sp>
      <p:sp>
        <p:nvSpPr>
          <p:cNvPr id="9" name="Text 5"/>
          <p:cNvSpPr/>
          <p:nvPr/>
        </p:nvSpPr>
        <p:spPr>
          <a:xfrm>
            <a:off x="4494423" y="671513"/>
            <a:ext cx="4249527" cy="590217"/>
          </a:xfrm>
          <a:prstGeom prst="rect">
            <a:avLst/>
          </a:prstGeom>
          <a:noFill/>
          <a:ln/>
        </p:spPr>
        <p:txBody>
          <a:bodyPr wrap="square" lIns="0" tIns="0" rIns="0" bIns="0" rtlCol="0" anchor="t"/>
          <a:lstStyle/>
          <a:p>
            <a:pPr algn="l" indent="0" marL="0">
              <a:lnSpc>
                <a:spcPts val="1434"/>
              </a:lnSpc>
              <a:buNone/>
            </a:pPr>
            <a:r>
              <a:rPr lang="en-US" sz="844" dirty="0">
                <a:solidFill>
                  <a:srgbClr val="334155"/>
                </a:solidFill>
                <a:latin typeface="Carlito" pitchFamily="34" charset="0"/>
                <a:ea typeface="Carlito" pitchFamily="34" charset="-122"/>
                <a:cs typeface="Carlito" pitchFamily="34" charset="-120"/>
              </a:rPr>
              <a:t>الجهاز الهيكلي هو الإطار الداخلي للجسم — يوفّر الدعم والحماية ويسمح بالحركة. يتكوّن من </a:t>
            </a:r>
            <a:pPr algn="l" indent="0" marL="0">
              <a:lnSpc>
                <a:spcPts val="1434"/>
              </a:lnSpc>
              <a:buNone/>
            </a:pPr>
            <a:r>
              <a:rPr lang="en-US" sz="844" b="1" dirty="0">
                <a:solidFill>
                  <a:srgbClr val="1E40AF"/>
                </a:solidFill>
                <a:latin typeface="Liberation Sans Narrow" pitchFamily="34" charset="0"/>
                <a:ea typeface="Liberation Sans Narrow" pitchFamily="34" charset="-122"/>
                <a:cs typeface="Liberation Sans Narrow" pitchFamily="34" charset="-120"/>
              </a:rPr>
              <a:t>206</a:t>
            </a:r>
            <a:pPr algn="l" indent="0" marL="0">
              <a:lnSpc>
                <a:spcPts val="1434"/>
              </a:lnSpc>
              <a:buNone/>
            </a:pPr>
            <a:r>
              <a:rPr lang="en-US" sz="844" dirty="0">
                <a:solidFill>
                  <a:srgbClr val="334155"/>
                </a:solidFill>
                <a:latin typeface="Carlito" pitchFamily="34" charset="0"/>
                <a:ea typeface="Carlito" pitchFamily="34" charset="-122"/>
                <a:cs typeface="Carlito" pitchFamily="34" charset="-120"/>
              </a:rPr>
              <a:t> عظمة في البالغين، تترابط عبر المفاصل والأربطة لتشكّل بنية مرنة وقوية.</a:t>
            </a:r>
            <a:endParaRPr lang="en-US" sz="844" dirty="0"/>
          </a:p>
        </p:txBody>
      </p:sp>
      <p:sp>
        <p:nvSpPr>
          <p:cNvPr id="10" name="Text 6"/>
          <p:cNvSpPr/>
          <p:nvPr/>
        </p:nvSpPr>
        <p:spPr>
          <a:xfrm>
            <a:off x="4494423" y="1303734"/>
            <a:ext cx="4462003" cy="138875"/>
          </a:xfrm>
          <a:prstGeom prst="rect">
            <a:avLst/>
          </a:prstGeom>
          <a:noFill/>
          <a:ln/>
        </p:spPr>
        <p:txBody>
          <a:bodyPr wrap="none" lIns="0" tIns="0" rIns="0" bIns="0" rtlCol="0" anchor="t"/>
          <a:lstStyle/>
          <a:p>
            <a:pPr algn="l" indent="0" marL="0">
              <a:lnSpc>
                <a:spcPts val="1013"/>
              </a:lnSpc>
              <a:buNone/>
            </a:pPr>
            <a:r>
              <a:rPr lang="en-US" sz="1013" b="1" dirty="0">
                <a:solidFill>
                  <a:srgbClr val="1E40AF"/>
                </a:solidFill>
                <a:latin typeface="Carlito" pitchFamily="34" charset="0"/>
                <a:ea typeface="Carlito" pitchFamily="34" charset="-122"/>
                <a:cs typeface="Carlito" pitchFamily="34" charset="-120"/>
              </a:rPr>
              <a:t>الوظائف الرئيسية:</a:t>
            </a:r>
            <a:endParaRPr lang="en-US" sz="1013" dirty="0"/>
          </a:p>
        </p:txBody>
      </p:sp>
      <p:sp>
        <p:nvSpPr>
          <p:cNvPr id="11" name="Text 7"/>
          <p:cNvSpPr/>
          <p:nvPr/>
        </p:nvSpPr>
        <p:spPr>
          <a:xfrm>
            <a:off x="6654961" y="1518047"/>
            <a:ext cx="2088989" cy="457200"/>
          </a:xfrm>
          <a:prstGeom prst="roundRect">
            <a:avLst>
              <a:gd name="adj" fmla="val 25000"/>
            </a:avLst>
          </a:prstGeom>
          <a:solidFill>
            <a:srgbClr val="F8FAFC"/>
          </a:solidFill>
          <a:ln/>
        </p:spPr>
        <p:txBody>
          <a:bodyPr wrap="square" rtlCol="0" anchor="ctr"/>
          <a:lstStyle/>
          <a:p>
            <a:pPr indent="0" marL="0">
              <a:buNone/>
            </a:pPr>
            <a:endParaRPr lang="en-US" dirty="0"/>
          </a:p>
        </p:txBody>
      </p:sp>
      <p:sp>
        <p:nvSpPr>
          <p:cNvPr id="12" name="Shape 8"/>
          <p:cNvSpPr/>
          <p:nvPr/>
        </p:nvSpPr>
        <p:spPr>
          <a:xfrm>
            <a:off x="6654961" y="1521619"/>
            <a:ext cx="2088989" cy="0"/>
          </a:xfrm>
          <a:prstGeom prst="line">
            <a:avLst/>
          </a:prstGeom>
          <a:noFill/>
          <a:ln w="7144">
            <a:solidFill>
              <a:srgbClr val="E2E8F0"/>
            </a:solidFill>
            <a:prstDash val="solid"/>
          </a:ln>
        </p:spPr>
      </p:sp>
      <p:sp>
        <p:nvSpPr>
          <p:cNvPr id="13" name="Shape 9"/>
          <p:cNvSpPr/>
          <p:nvPr/>
        </p:nvSpPr>
        <p:spPr>
          <a:xfrm>
            <a:off x="8729663" y="1518047"/>
            <a:ext cx="0" cy="457200"/>
          </a:xfrm>
          <a:prstGeom prst="line">
            <a:avLst/>
          </a:prstGeom>
          <a:noFill/>
          <a:ln w="28575">
            <a:solidFill>
              <a:srgbClr val="1E40AF"/>
            </a:solidFill>
            <a:prstDash val="solid"/>
          </a:ln>
        </p:spPr>
      </p:sp>
      <p:sp>
        <p:nvSpPr>
          <p:cNvPr id="14" name="Shape 10"/>
          <p:cNvSpPr/>
          <p:nvPr/>
        </p:nvSpPr>
        <p:spPr>
          <a:xfrm>
            <a:off x="6654961" y="1971675"/>
            <a:ext cx="2088989" cy="0"/>
          </a:xfrm>
          <a:prstGeom prst="line">
            <a:avLst/>
          </a:prstGeom>
          <a:noFill/>
          <a:ln w="7144">
            <a:solidFill>
              <a:srgbClr val="E2E8F0"/>
            </a:solidFill>
            <a:prstDash val="solid"/>
          </a:ln>
        </p:spPr>
      </p:sp>
      <p:sp>
        <p:nvSpPr>
          <p:cNvPr id="15" name="Shape 11"/>
          <p:cNvSpPr/>
          <p:nvPr/>
        </p:nvSpPr>
        <p:spPr>
          <a:xfrm>
            <a:off x="6658533" y="1518047"/>
            <a:ext cx="0" cy="457200"/>
          </a:xfrm>
          <a:prstGeom prst="line">
            <a:avLst/>
          </a:prstGeom>
          <a:noFill/>
          <a:ln w="7144">
            <a:solidFill>
              <a:srgbClr val="E2E8F0"/>
            </a:solidFill>
            <a:prstDash val="solid"/>
          </a:ln>
        </p:spPr>
      </p:sp>
      <p:sp>
        <p:nvSpPr>
          <p:cNvPr id="16" name="Text 12"/>
          <p:cNvSpPr/>
          <p:nvPr/>
        </p:nvSpPr>
        <p:spPr>
          <a:xfrm>
            <a:off x="8443913" y="1610916"/>
            <a:ext cx="171450" cy="171450"/>
          </a:xfrm>
          <a:prstGeom prst="rect">
            <a:avLst/>
          </a:prstGeom>
          <a:noFill/>
          <a:ln/>
        </p:spPr>
        <p:txBody>
          <a:bodyPr wrap="none" lIns="0" tIns="0" rIns="0" bIns="0" rtlCol="0" anchor="ctr"/>
          <a:lstStyle/>
          <a:p>
            <a:pPr algn="ctr" indent="0" marL="0">
              <a:buNone/>
            </a:pPr>
            <a:r>
              <a:rPr lang="en-US" sz="1688" dirty="0">
                <a:solidFill>
                  <a:srgbClr val="1E40AF"/>
                </a:solidFill>
                <a:latin typeface="Segoe UI Symbol" pitchFamily="34" charset="0"/>
                <a:ea typeface="Segoe UI Symbol" pitchFamily="34" charset="-122"/>
                <a:cs typeface="Segoe UI Symbol" pitchFamily="34" charset="-120"/>
              </a:rPr>
              <a:t>✦</a:t>
            </a:r>
            <a:endParaRPr lang="en-US" sz="1688" dirty="0"/>
          </a:p>
        </p:txBody>
      </p:sp>
      <p:sp>
        <p:nvSpPr>
          <p:cNvPr id="17" name="Text 13"/>
          <p:cNvSpPr/>
          <p:nvPr/>
        </p:nvSpPr>
        <p:spPr>
          <a:xfrm>
            <a:off x="7898532" y="1610916"/>
            <a:ext cx="716831" cy="115443"/>
          </a:xfrm>
          <a:prstGeom prst="rect">
            <a:avLst/>
          </a:prstGeom>
          <a:noFill/>
          <a:ln/>
        </p:spPr>
        <p:txBody>
          <a:bodyPr wrap="none" lIns="0" tIns="0" rIns="0" bIns="0" rtlCol="0" anchor="t">
            <a:normAutofit/>
          </a:bodyPr>
          <a:lstStyle/>
          <a:p>
            <a:pPr algn="l" indent="0" marL="0">
              <a:lnSpc>
                <a:spcPts val="1013"/>
              </a:lnSpc>
              <a:buNone/>
            </a:pPr>
            <a:r>
              <a:rPr lang="en-US" sz="844" b="1" dirty="0">
                <a:solidFill>
                  <a:srgbClr val="0F172A"/>
                </a:solidFill>
                <a:latin typeface="Carlito" pitchFamily="34" charset="0"/>
                <a:ea typeface="Carlito" pitchFamily="34" charset="-122"/>
                <a:cs typeface="Carlito" pitchFamily="34" charset="-120"/>
              </a:rPr>
              <a:t>الدعم</a:t>
            </a:r>
            <a:endParaRPr lang="en-US" sz="844" dirty="0"/>
          </a:p>
        </p:txBody>
      </p:sp>
      <p:sp>
        <p:nvSpPr>
          <p:cNvPr id="18" name="Text 14"/>
          <p:cNvSpPr/>
          <p:nvPr/>
        </p:nvSpPr>
        <p:spPr>
          <a:xfrm>
            <a:off x="7898532" y="1753791"/>
            <a:ext cx="555461" cy="128588"/>
          </a:xfrm>
          <a:prstGeom prst="rect">
            <a:avLst/>
          </a:prstGeom>
          <a:noFill/>
          <a:ln/>
        </p:spPr>
        <p:txBody>
          <a:bodyPr wrap="none" lIns="0" tIns="0" rIns="0" bIns="0" rtlCol="0" anchor="t"/>
          <a:lstStyle/>
          <a:p>
            <a:pPr algn="l" indent="0" marL="0">
              <a:lnSpc>
                <a:spcPts val="1013"/>
              </a:lnSpc>
              <a:buNone/>
            </a:pPr>
            <a:r>
              <a:rPr lang="en-US" sz="800" dirty="0">
                <a:solidFill>
                  <a:srgbClr val="64748B"/>
                </a:solidFill>
                <a:latin typeface="Carlito" pitchFamily="34" charset="0"/>
                <a:ea typeface="Carlito" pitchFamily="34" charset="-122"/>
                <a:cs typeface="Carlito" pitchFamily="34" charset="-120"/>
              </a:rPr>
              <a:t>إطار الجسم</a:t>
            </a:r>
            <a:endParaRPr lang="en-US" sz="800" dirty="0"/>
          </a:p>
        </p:txBody>
      </p:sp>
      <p:sp>
        <p:nvSpPr>
          <p:cNvPr id="19" name="Text 15"/>
          <p:cNvSpPr/>
          <p:nvPr/>
        </p:nvSpPr>
        <p:spPr>
          <a:xfrm>
            <a:off x="4494423" y="1518047"/>
            <a:ext cx="2089100" cy="457200"/>
          </a:xfrm>
          <a:prstGeom prst="roundRect">
            <a:avLst>
              <a:gd name="adj" fmla="val 25000"/>
            </a:avLst>
          </a:prstGeom>
          <a:solidFill>
            <a:srgbClr val="F8FAFC"/>
          </a:solidFill>
          <a:ln/>
        </p:spPr>
        <p:txBody>
          <a:bodyPr wrap="square" rtlCol="0" anchor="ctr"/>
          <a:lstStyle/>
          <a:p>
            <a:pPr indent="0" marL="0">
              <a:buNone/>
            </a:pPr>
            <a:endParaRPr lang="en-US" dirty="0"/>
          </a:p>
        </p:txBody>
      </p:sp>
      <p:sp>
        <p:nvSpPr>
          <p:cNvPr id="20" name="Shape 16"/>
          <p:cNvSpPr/>
          <p:nvPr/>
        </p:nvSpPr>
        <p:spPr>
          <a:xfrm>
            <a:off x="4494423" y="1521619"/>
            <a:ext cx="2089100" cy="0"/>
          </a:xfrm>
          <a:prstGeom prst="line">
            <a:avLst/>
          </a:prstGeom>
          <a:noFill/>
          <a:ln w="7144">
            <a:solidFill>
              <a:srgbClr val="E2E8F0"/>
            </a:solidFill>
            <a:prstDash val="solid"/>
          </a:ln>
        </p:spPr>
      </p:sp>
      <p:sp>
        <p:nvSpPr>
          <p:cNvPr id="21" name="Shape 17"/>
          <p:cNvSpPr/>
          <p:nvPr/>
        </p:nvSpPr>
        <p:spPr>
          <a:xfrm>
            <a:off x="6569236" y="1518047"/>
            <a:ext cx="0" cy="457200"/>
          </a:xfrm>
          <a:prstGeom prst="line">
            <a:avLst/>
          </a:prstGeom>
          <a:noFill/>
          <a:ln w="28575">
            <a:solidFill>
              <a:srgbClr val="1E40AF"/>
            </a:solidFill>
            <a:prstDash val="solid"/>
          </a:ln>
        </p:spPr>
      </p:sp>
      <p:sp>
        <p:nvSpPr>
          <p:cNvPr id="22" name="Shape 18"/>
          <p:cNvSpPr/>
          <p:nvPr/>
        </p:nvSpPr>
        <p:spPr>
          <a:xfrm>
            <a:off x="4494423" y="1971675"/>
            <a:ext cx="2089100" cy="0"/>
          </a:xfrm>
          <a:prstGeom prst="line">
            <a:avLst/>
          </a:prstGeom>
          <a:noFill/>
          <a:ln w="7144">
            <a:solidFill>
              <a:srgbClr val="E2E8F0"/>
            </a:solidFill>
            <a:prstDash val="solid"/>
          </a:ln>
        </p:spPr>
      </p:sp>
      <p:sp>
        <p:nvSpPr>
          <p:cNvPr id="23" name="Shape 19"/>
          <p:cNvSpPr/>
          <p:nvPr/>
        </p:nvSpPr>
        <p:spPr>
          <a:xfrm>
            <a:off x="4497995" y="1518047"/>
            <a:ext cx="0" cy="457200"/>
          </a:xfrm>
          <a:prstGeom prst="line">
            <a:avLst/>
          </a:prstGeom>
          <a:noFill/>
          <a:ln w="7144">
            <a:solidFill>
              <a:srgbClr val="E2E8F0"/>
            </a:solidFill>
            <a:prstDash val="solid"/>
          </a:ln>
        </p:spPr>
      </p:sp>
      <p:sp>
        <p:nvSpPr>
          <p:cNvPr id="24" name="Text 20"/>
          <p:cNvSpPr/>
          <p:nvPr/>
        </p:nvSpPr>
        <p:spPr>
          <a:xfrm>
            <a:off x="6283486" y="1610916"/>
            <a:ext cx="171450" cy="171450"/>
          </a:xfrm>
          <a:prstGeom prst="rect">
            <a:avLst/>
          </a:prstGeom>
          <a:noFill/>
          <a:ln/>
        </p:spPr>
        <p:txBody>
          <a:bodyPr wrap="none" lIns="0" tIns="0" rIns="0" bIns="0" rtlCol="0" anchor="ctr"/>
          <a:lstStyle/>
          <a:p>
            <a:pPr algn="ctr" indent="0" marL="0">
              <a:buNone/>
            </a:pPr>
            <a:r>
              <a:rPr lang="en-US" sz="1688" dirty="0">
                <a:solidFill>
                  <a:srgbClr val="1E40AF"/>
                </a:solidFill>
                <a:latin typeface="Segoe UI Symbol" pitchFamily="34" charset="0"/>
                <a:ea typeface="Segoe UI Symbol" pitchFamily="34" charset="-122"/>
                <a:cs typeface="Segoe UI Symbol" pitchFamily="34" charset="-120"/>
              </a:rPr>
              <a:t>⛨</a:t>
            </a:r>
            <a:endParaRPr lang="en-US" sz="1688" dirty="0"/>
          </a:p>
        </p:txBody>
      </p:sp>
      <p:sp>
        <p:nvSpPr>
          <p:cNvPr id="25" name="Text 21"/>
          <p:cNvSpPr/>
          <p:nvPr/>
        </p:nvSpPr>
        <p:spPr>
          <a:xfrm>
            <a:off x="5538081" y="1610916"/>
            <a:ext cx="862679" cy="115443"/>
          </a:xfrm>
          <a:prstGeom prst="rect">
            <a:avLst/>
          </a:prstGeom>
          <a:noFill/>
          <a:ln/>
        </p:spPr>
        <p:txBody>
          <a:bodyPr wrap="none" lIns="0" tIns="0" rIns="0" bIns="0" rtlCol="0" anchor="t">
            <a:normAutofit/>
          </a:bodyPr>
          <a:lstStyle/>
          <a:p>
            <a:pPr algn="l" indent="0" marL="0">
              <a:lnSpc>
                <a:spcPts val="1013"/>
              </a:lnSpc>
              <a:buNone/>
            </a:pPr>
            <a:r>
              <a:rPr lang="en-US" sz="844" b="1" dirty="0">
                <a:solidFill>
                  <a:srgbClr val="0F172A"/>
                </a:solidFill>
                <a:latin typeface="Carlito" pitchFamily="34" charset="0"/>
                <a:ea typeface="Carlito" pitchFamily="34" charset="-122"/>
                <a:cs typeface="Carlito" pitchFamily="34" charset="-120"/>
              </a:rPr>
              <a:t>الحماية</a:t>
            </a:r>
            <a:endParaRPr lang="en-US" sz="844" dirty="0"/>
          </a:p>
        </p:txBody>
      </p:sp>
      <p:sp>
        <p:nvSpPr>
          <p:cNvPr id="26" name="Text 22"/>
          <p:cNvSpPr/>
          <p:nvPr/>
        </p:nvSpPr>
        <p:spPr>
          <a:xfrm>
            <a:off x="5538081" y="1753791"/>
            <a:ext cx="789891" cy="128588"/>
          </a:xfrm>
          <a:prstGeom prst="rect">
            <a:avLst/>
          </a:prstGeom>
          <a:noFill/>
          <a:ln/>
        </p:spPr>
        <p:txBody>
          <a:bodyPr wrap="none" lIns="0" tIns="0" rIns="0" bIns="0" rtlCol="0" anchor="t"/>
          <a:lstStyle/>
          <a:p>
            <a:pPr algn="l" indent="0" marL="0">
              <a:lnSpc>
                <a:spcPts val="1013"/>
              </a:lnSpc>
              <a:buNone/>
            </a:pPr>
            <a:r>
              <a:rPr lang="en-US" sz="675" dirty="0">
                <a:solidFill>
                  <a:srgbClr val="64748B"/>
                </a:solidFill>
                <a:latin typeface="Carlito" pitchFamily="34" charset="0"/>
                <a:ea typeface="Carlito" pitchFamily="34" charset="-122"/>
                <a:cs typeface="Carlito" pitchFamily="34" charset="-120"/>
              </a:rPr>
              <a:t>الجمجمة والأضلاع</a:t>
            </a:r>
            <a:endParaRPr lang="en-US" sz="675" dirty="0"/>
          </a:p>
        </p:txBody>
      </p:sp>
      <p:sp>
        <p:nvSpPr>
          <p:cNvPr id="27" name="Text 23"/>
          <p:cNvSpPr/>
          <p:nvPr/>
        </p:nvSpPr>
        <p:spPr>
          <a:xfrm>
            <a:off x="6654961" y="2046684"/>
            <a:ext cx="2088989" cy="457200"/>
          </a:xfrm>
          <a:prstGeom prst="roundRect">
            <a:avLst>
              <a:gd name="adj" fmla="val 25000"/>
            </a:avLst>
          </a:prstGeom>
          <a:solidFill>
            <a:srgbClr val="F8FAFC"/>
          </a:solidFill>
          <a:ln/>
        </p:spPr>
        <p:txBody>
          <a:bodyPr wrap="square" rtlCol="0" anchor="ctr"/>
          <a:lstStyle/>
          <a:p>
            <a:pPr indent="0" marL="0">
              <a:buNone/>
            </a:pPr>
            <a:endParaRPr lang="en-US" dirty="0"/>
          </a:p>
        </p:txBody>
      </p:sp>
      <p:sp>
        <p:nvSpPr>
          <p:cNvPr id="28" name="Shape 24"/>
          <p:cNvSpPr/>
          <p:nvPr/>
        </p:nvSpPr>
        <p:spPr>
          <a:xfrm>
            <a:off x="6654961" y="2050256"/>
            <a:ext cx="2088989" cy="0"/>
          </a:xfrm>
          <a:prstGeom prst="line">
            <a:avLst/>
          </a:prstGeom>
          <a:noFill/>
          <a:ln w="7144">
            <a:solidFill>
              <a:srgbClr val="E2E8F0"/>
            </a:solidFill>
            <a:prstDash val="solid"/>
          </a:ln>
        </p:spPr>
      </p:sp>
      <p:sp>
        <p:nvSpPr>
          <p:cNvPr id="29" name="Shape 25"/>
          <p:cNvSpPr/>
          <p:nvPr/>
        </p:nvSpPr>
        <p:spPr>
          <a:xfrm>
            <a:off x="8729663" y="2046684"/>
            <a:ext cx="0" cy="457200"/>
          </a:xfrm>
          <a:prstGeom prst="line">
            <a:avLst/>
          </a:prstGeom>
          <a:noFill/>
          <a:ln w="28575">
            <a:solidFill>
              <a:srgbClr val="1E40AF"/>
            </a:solidFill>
            <a:prstDash val="solid"/>
          </a:ln>
        </p:spPr>
      </p:sp>
      <p:sp>
        <p:nvSpPr>
          <p:cNvPr id="30" name="Shape 26"/>
          <p:cNvSpPr/>
          <p:nvPr/>
        </p:nvSpPr>
        <p:spPr>
          <a:xfrm>
            <a:off x="6654961" y="2500313"/>
            <a:ext cx="2088989" cy="0"/>
          </a:xfrm>
          <a:prstGeom prst="line">
            <a:avLst/>
          </a:prstGeom>
          <a:noFill/>
          <a:ln w="7144">
            <a:solidFill>
              <a:srgbClr val="E2E8F0"/>
            </a:solidFill>
            <a:prstDash val="solid"/>
          </a:ln>
        </p:spPr>
      </p:sp>
      <p:sp>
        <p:nvSpPr>
          <p:cNvPr id="31" name="Shape 27"/>
          <p:cNvSpPr/>
          <p:nvPr/>
        </p:nvSpPr>
        <p:spPr>
          <a:xfrm>
            <a:off x="6658533" y="2046684"/>
            <a:ext cx="0" cy="457200"/>
          </a:xfrm>
          <a:prstGeom prst="line">
            <a:avLst/>
          </a:prstGeom>
          <a:noFill/>
          <a:ln w="7144">
            <a:solidFill>
              <a:srgbClr val="E2E8F0"/>
            </a:solidFill>
            <a:prstDash val="solid"/>
          </a:ln>
        </p:spPr>
      </p:sp>
      <p:sp>
        <p:nvSpPr>
          <p:cNvPr id="32" name="Text 28"/>
          <p:cNvSpPr/>
          <p:nvPr/>
        </p:nvSpPr>
        <p:spPr>
          <a:xfrm>
            <a:off x="8443913" y="2139553"/>
            <a:ext cx="171450" cy="171450"/>
          </a:xfrm>
          <a:prstGeom prst="rect">
            <a:avLst/>
          </a:prstGeom>
          <a:noFill/>
          <a:ln/>
        </p:spPr>
        <p:txBody>
          <a:bodyPr wrap="none" lIns="0" tIns="0" rIns="0" bIns="0" rtlCol="0" anchor="ctr"/>
          <a:lstStyle/>
          <a:p>
            <a:pPr algn="ctr" indent="0" marL="0">
              <a:buNone/>
            </a:pPr>
            <a:r>
              <a:rPr lang="en-US" sz="1688" dirty="0">
                <a:solidFill>
                  <a:srgbClr val="1E40AF"/>
                </a:solidFill>
                <a:latin typeface="Segoe UI Symbol" pitchFamily="34" charset="0"/>
                <a:ea typeface="Segoe UI Symbol" pitchFamily="34" charset="-122"/>
                <a:cs typeface="Segoe UI Symbol" pitchFamily="34" charset="-120"/>
              </a:rPr>
              <a:t>↻</a:t>
            </a:r>
            <a:endParaRPr lang="en-US" sz="1688" dirty="0"/>
          </a:p>
        </p:txBody>
      </p:sp>
      <p:sp>
        <p:nvSpPr>
          <p:cNvPr id="33" name="Text 29"/>
          <p:cNvSpPr/>
          <p:nvPr/>
        </p:nvSpPr>
        <p:spPr>
          <a:xfrm>
            <a:off x="7764028" y="2139553"/>
            <a:ext cx="713099" cy="115443"/>
          </a:xfrm>
          <a:prstGeom prst="rect">
            <a:avLst/>
          </a:prstGeom>
          <a:noFill/>
          <a:ln/>
        </p:spPr>
        <p:txBody>
          <a:bodyPr wrap="none" lIns="0" tIns="0" rIns="0" bIns="0" rtlCol="0" anchor="t">
            <a:normAutofit/>
          </a:bodyPr>
          <a:lstStyle/>
          <a:p>
            <a:pPr algn="l" indent="0" marL="0">
              <a:lnSpc>
                <a:spcPts val="1013"/>
              </a:lnSpc>
              <a:buNone/>
            </a:pPr>
            <a:r>
              <a:rPr lang="en-US" sz="844" b="1" dirty="0">
                <a:solidFill>
                  <a:srgbClr val="0F172A"/>
                </a:solidFill>
                <a:latin typeface="Carlito" pitchFamily="34" charset="0"/>
                <a:ea typeface="Carlito" pitchFamily="34" charset="-122"/>
                <a:cs typeface="Carlito" pitchFamily="34" charset="-120"/>
              </a:rPr>
              <a:t>إنتاج الدم</a:t>
            </a:r>
            <a:endParaRPr lang="en-US" sz="844" dirty="0"/>
          </a:p>
        </p:txBody>
      </p:sp>
      <p:sp>
        <p:nvSpPr>
          <p:cNvPr id="34" name="Text 30"/>
          <p:cNvSpPr/>
          <p:nvPr/>
        </p:nvSpPr>
        <p:spPr>
          <a:xfrm>
            <a:off x="7764028" y="2282428"/>
            <a:ext cx="713099" cy="128588"/>
          </a:xfrm>
          <a:prstGeom prst="rect">
            <a:avLst/>
          </a:prstGeom>
          <a:noFill/>
          <a:ln/>
        </p:spPr>
        <p:txBody>
          <a:bodyPr wrap="none" lIns="0" tIns="0" rIns="0" bIns="0" rtlCol="0" anchor="t"/>
          <a:lstStyle/>
          <a:p>
            <a:pPr algn="l" indent="0" marL="0">
              <a:lnSpc>
                <a:spcPts val="1013"/>
              </a:lnSpc>
              <a:buNone/>
            </a:pPr>
            <a:r>
              <a:rPr lang="en-US" sz="800" dirty="0">
                <a:solidFill>
                  <a:srgbClr val="64748B"/>
                </a:solidFill>
                <a:latin typeface="Carlito" pitchFamily="34" charset="0"/>
                <a:ea typeface="Carlito" pitchFamily="34" charset="-122"/>
                <a:cs typeface="Carlito" pitchFamily="34" charset="-120"/>
              </a:rPr>
              <a:t>نخاع العظام</a:t>
            </a:r>
            <a:endParaRPr lang="en-US" sz="800" dirty="0"/>
          </a:p>
        </p:txBody>
      </p:sp>
      <p:sp>
        <p:nvSpPr>
          <p:cNvPr id="35" name="Text 31"/>
          <p:cNvSpPr/>
          <p:nvPr/>
        </p:nvSpPr>
        <p:spPr>
          <a:xfrm>
            <a:off x="4494423" y="2046684"/>
            <a:ext cx="2089100" cy="457200"/>
          </a:xfrm>
          <a:prstGeom prst="roundRect">
            <a:avLst>
              <a:gd name="adj" fmla="val 25000"/>
            </a:avLst>
          </a:prstGeom>
          <a:solidFill>
            <a:srgbClr val="F8FAFC"/>
          </a:solidFill>
          <a:ln/>
        </p:spPr>
        <p:txBody>
          <a:bodyPr wrap="square" rtlCol="0" anchor="ctr"/>
          <a:lstStyle/>
          <a:p>
            <a:pPr indent="0" marL="0">
              <a:buNone/>
            </a:pPr>
            <a:endParaRPr lang="en-US" dirty="0"/>
          </a:p>
        </p:txBody>
      </p:sp>
      <p:sp>
        <p:nvSpPr>
          <p:cNvPr id="36" name="Shape 32"/>
          <p:cNvSpPr/>
          <p:nvPr/>
        </p:nvSpPr>
        <p:spPr>
          <a:xfrm>
            <a:off x="4494423" y="2050256"/>
            <a:ext cx="2089100" cy="0"/>
          </a:xfrm>
          <a:prstGeom prst="line">
            <a:avLst/>
          </a:prstGeom>
          <a:noFill/>
          <a:ln w="7144">
            <a:solidFill>
              <a:srgbClr val="E2E8F0"/>
            </a:solidFill>
            <a:prstDash val="solid"/>
          </a:ln>
        </p:spPr>
      </p:sp>
      <p:sp>
        <p:nvSpPr>
          <p:cNvPr id="37" name="Shape 33"/>
          <p:cNvSpPr/>
          <p:nvPr/>
        </p:nvSpPr>
        <p:spPr>
          <a:xfrm>
            <a:off x="6569236" y="2046684"/>
            <a:ext cx="0" cy="457200"/>
          </a:xfrm>
          <a:prstGeom prst="line">
            <a:avLst/>
          </a:prstGeom>
          <a:noFill/>
          <a:ln w="28575">
            <a:solidFill>
              <a:srgbClr val="1E40AF"/>
            </a:solidFill>
            <a:prstDash val="solid"/>
          </a:ln>
        </p:spPr>
      </p:sp>
      <p:sp>
        <p:nvSpPr>
          <p:cNvPr id="38" name="Shape 34"/>
          <p:cNvSpPr/>
          <p:nvPr/>
        </p:nvSpPr>
        <p:spPr>
          <a:xfrm>
            <a:off x="4494423" y="2500313"/>
            <a:ext cx="2089100" cy="0"/>
          </a:xfrm>
          <a:prstGeom prst="line">
            <a:avLst/>
          </a:prstGeom>
          <a:noFill/>
          <a:ln w="7144">
            <a:solidFill>
              <a:srgbClr val="E2E8F0"/>
            </a:solidFill>
            <a:prstDash val="solid"/>
          </a:ln>
        </p:spPr>
      </p:sp>
      <p:sp>
        <p:nvSpPr>
          <p:cNvPr id="39" name="Shape 35"/>
          <p:cNvSpPr/>
          <p:nvPr/>
        </p:nvSpPr>
        <p:spPr>
          <a:xfrm>
            <a:off x="4497995" y="2046684"/>
            <a:ext cx="0" cy="457200"/>
          </a:xfrm>
          <a:prstGeom prst="line">
            <a:avLst/>
          </a:prstGeom>
          <a:noFill/>
          <a:ln w="7144">
            <a:solidFill>
              <a:srgbClr val="E2E8F0"/>
            </a:solidFill>
            <a:prstDash val="solid"/>
          </a:ln>
        </p:spPr>
      </p:sp>
      <p:sp>
        <p:nvSpPr>
          <p:cNvPr id="40" name="Text 36"/>
          <p:cNvSpPr/>
          <p:nvPr/>
        </p:nvSpPr>
        <p:spPr>
          <a:xfrm>
            <a:off x="6283486" y="2139553"/>
            <a:ext cx="171450" cy="171450"/>
          </a:xfrm>
          <a:prstGeom prst="rect">
            <a:avLst/>
          </a:prstGeom>
          <a:noFill/>
          <a:ln/>
        </p:spPr>
        <p:txBody>
          <a:bodyPr wrap="none" lIns="0" tIns="0" rIns="0" bIns="0" rtlCol="0" anchor="ctr"/>
          <a:lstStyle/>
          <a:p>
            <a:pPr algn="ctr" indent="0" marL="0">
              <a:buNone/>
            </a:pPr>
            <a:r>
              <a:rPr lang="en-US" sz="1688" dirty="0">
                <a:solidFill>
                  <a:srgbClr val="1E40AF"/>
                </a:solidFill>
                <a:latin typeface="Segoe UI Symbol" pitchFamily="34" charset="0"/>
                <a:ea typeface="Segoe UI Symbol" pitchFamily="34" charset="-122"/>
                <a:cs typeface="Segoe UI Symbol" pitchFamily="34" charset="-120"/>
              </a:rPr>
              <a:t>▣</a:t>
            </a:r>
            <a:endParaRPr lang="en-US" sz="1688" dirty="0"/>
          </a:p>
        </p:txBody>
      </p:sp>
      <p:sp>
        <p:nvSpPr>
          <p:cNvPr id="41" name="Text 37"/>
          <p:cNvSpPr/>
          <p:nvPr/>
        </p:nvSpPr>
        <p:spPr>
          <a:xfrm>
            <a:off x="5288049" y="2139553"/>
            <a:ext cx="1166887" cy="115443"/>
          </a:xfrm>
          <a:prstGeom prst="rect">
            <a:avLst/>
          </a:prstGeom>
          <a:noFill/>
          <a:ln/>
        </p:spPr>
        <p:txBody>
          <a:bodyPr wrap="none" lIns="0" tIns="0" rIns="0" bIns="0" rtlCol="0" anchor="t">
            <a:normAutofit/>
          </a:bodyPr>
          <a:lstStyle/>
          <a:p>
            <a:pPr algn="l" indent="0" marL="0">
              <a:lnSpc>
                <a:spcPts val="1013"/>
              </a:lnSpc>
              <a:buNone/>
            </a:pPr>
            <a:r>
              <a:rPr lang="en-US" sz="844" b="1" dirty="0">
                <a:solidFill>
                  <a:srgbClr val="0F172A"/>
                </a:solidFill>
                <a:latin typeface="Carlito" pitchFamily="34" charset="0"/>
                <a:ea typeface="Carlito" pitchFamily="34" charset="-122"/>
                <a:cs typeface="Carlito" pitchFamily="34" charset="-120"/>
              </a:rPr>
              <a:t>تخزين</a:t>
            </a:r>
            <a:endParaRPr lang="en-US" sz="844" dirty="0"/>
          </a:p>
        </p:txBody>
      </p:sp>
      <p:sp>
        <p:nvSpPr>
          <p:cNvPr id="42" name="Text 38"/>
          <p:cNvSpPr/>
          <p:nvPr/>
        </p:nvSpPr>
        <p:spPr>
          <a:xfrm>
            <a:off x="5288049" y="2282428"/>
            <a:ext cx="1082927" cy="128588"/>
          </a:xfrm>
          <a:prstGeom prst="rect">
            <a:avLst/>
          </a:prstGeom>
          <a:noFill/>
          <a:ln/>
        </p:spPr>
        <p:txBody>
          <a:bodyPr wrap="none" lIns="0" tIns="0" rIns="0" bIns="0" rtlCol="0" anchor="t"/>
          <a:lstStyle/>
          <a:p>
            <a:pPr algn="l" indent="0" marL="0">
              <a:lnSpc>
                <a:spcPts val="1013"/>
              </a:lnSpc>
              <a:buNone/>
            </a:pPr>
            <a:r>
              <a:rPr lang="en-US" sz="800" dirty="0">
                <a:solidFill>
                  <a:srgbClr val="64748B"/>
                </a:solidFill>
                <a:latin typeface="Carlito" pitchFamily="34" charset="0"/>
                <a:ea typeface="Carlito" pitchFamily="34" charset="-122"/>
                <a:cs typeface="Carlito" pitchFamily="34" charset="-120"/>
              </a:rPr>
              <a:t>الكالسيوم والفوسفور</a:t>
            </a:r>
            <a:endParaRPr lang="en-US" sz="800" dirty="0"/>
          </a:p>
        </p:txBody>
      </p:sp>
      <p:sp>
        <p:nvSpPr>
          <p:cNvPr id="43" name="Text 39"/>
          <p:cNvSpPr/>
          <p:nvPr/>
        </p:nvSpPr>
        <p:spPr>
          <a:xfrm>
            <a:off x="4494423" y="2589609"/>
            <a:ext cx="4249527" cy="473497"/>
          </a:xfrm>
          <a:prstGeom prst="roundRect">
            <a:avLst>
              <a:gd name="adj" fmla="val 24140"/>
            </a:avLst>
          </a:prstGeom>
          <a:solidFill>
            <a:srgbClr val="F8FAFC"/>
          </a:solidFill>
          <a:ln/>
        </p:spPr>
        <p:txBody>
          <a:bodyPr wrap="square" rtlCol="0" anchor="ctr"/>
          <a:lstStyle/>
          <a:p>
            <a:pPr indent="0" marL="0">
              <a:buNone/>
            </a:pPr>
            <a:endParaRPr lang="en-US" dirty="0"/>
          </a:p>
        </p:txBody>
      </p:sp>
      <p:sp>
        <p:nvSpPr>
          <p:cNvPr id="44" name="Shape 40"/>
          <p:cNvSpPr/>
          <p:nvPr/>
        </p:nvSpPr>
        <p:spPr>
          <a:xfrm>
            <a:off x="4494423" y="2593181"/>
            <a:ext cx="4249527" cy="0"/>
          </a:xfrm>
          <a:prstGeom prst="line">
            <a:avLst/>
          </a:prstGeom>
          <a:noFill/>
          <a:ln w="7144">
            <a:solidFill>
              <a:srgbClr val="E2E8F0"/>
            </a:solidFill>
            <a:prstDash val="solid"/>
          </a:ln>
        </p:spPr>
      </p:sp>
      <p:sp>
        <p:nvSpPr>
          <p:cNvPr id="45" name="Shape 41"/>
          <p:cNvSpPr/>
          <p:nvPr/>
        </p:nvSpPr>
        <p:spPr>
          <a:xfrm>
            <a:off x="8729663" y="2589609"/>
            <a:ext cx="0" cy="473497"/>
          </a:xfrm>
          <a:prstGeom prst="line">
            <a:avLst/>
          </a:prstGeom>
          <a:noFill/>
          <a:ln w="28575">
            <a:solidFill>
              <a:srgbClr val="DC2626"/>
            </a:solidFill>
            <a:prstDash val="solid"/>
          </a:ln>
        </p:spPr>
      </p:sp>
      <p:sp>
        <p:nvSpPr>
          <p:cNvPr id="46" name="Shape 42"/>
          <p:cNvSpPr/>
          <p:nvPr/>
        </p:nvSpPr>
        <p:spPr>
          <a:xfrm>
            <a:off x="4494423" y="3059534"/>
            <a:ext cx="4249527" cy="0"/>
          </a:xfrm>
          <a:prstGeom prst="line">
            <a:avLst/>
          </a:prstGeom>
          <a:noFill/>
          <a:ln w="7144">
            <a:solidFill>
              <a:srgbClr val="E2E8F0"/>
            </a:solidFill>
            <a:prstDash val="solid"/>
          </a:ln>
        </p:spPr>
      </p:sp>
      <p:sp>
        <p:nvSpPr>
          <p:cNvPr id="47" name="Shape 43"/>
          <p:cNvSpPr/>
          <p:nvPr/>
        </p:nvSpPr>
        <p:spPr>
          <a:xfrm>
            <a:off x="4497995" y="2589609"/>
            <a:ext cx="0" cy="473497"/>
          </a:xfrm>
          <a:prstGeom prst="line">
            <a:avLst/>
          </a:prstGeom>
          <a:noFill/>
          <a:ln w="7144">
            <a:solidFill>
              <a:srgbClr val="E2E8F0"/>
            </a:solidFill>
            <a:prstDash val="solid"/>
          </a:ln>
        </p:spPr>
      </p:sp>
      <p:sp>
        <p:nvSpPr>
          <p:cNvPr id="48" name="Text 44"/>
          <p:cNvSpPr/>
          <p:nvPr/>
        </p:nvSpPr>
        <p:spPr>
          <a:xfrm>
            <a:off x="8458200" y="2696766"/>
            <a:ext cx="157163" cy="157163"/>
          </a:xfrm>
          <a:prstGeom prst="rect">
            <a:avLst/>
          </a:prstGeom>
          <a:noFill/>
          <a:ln/>
        </p:spPr>
        <p:txBody>
          <a:bodyPr wrap="none" lIns="0" tIns="0" rIns="0" bIns="0" rtlCol="0" anchor="ctr"/>
          <a:lstStyle/>
          <a:p>
            <a:pPr algn="ctr" indent="0" marL="0">
              <a:buNone/>
            </a:pPr>
            <a:r>
              <a:rPr lang="en-US" sz="1547" dirty="0">
                <a:solidFill>
                  <a:srgbClr val="DC2626"/>
                </a:solidFill>
                <a:latin typeface="Segoe UI Symbol" pitchFamily="34" charset="0"/>
                <a:ea typeface="Segoe UI Symbol" pitchFamily="34" charset="-122"/>
                <a:cs typeface="Segoe UI Symbol" pitchFamily="34" charset="-120"/>
              </a:rPr>
              <a:t>✦</a:t>
            </a:r>
            <a:endParaRPr lang="en-US" sz="1547" dirty="0"/>
          </a:p>
        </p:txBody>
      </p:sp>
      <p:sp>
        <p:nvSpPr>
          <p:cNvPr id="49" name="Text 45"/>
          <p:cNvSpPr/>
          <p:nvPr/>
        </p:nvSpPr>
        <p:spPr>
          <a:xfrm>
            <a:off x="4601580" y="2682478"/>
            <a:ext cx="3820902" cy="287759"/>
          </a:xfrm>
          <a:prstGeom prst="rect">
            <a:avLst/>
          </a:prstGeom>
          <a:noFill/>
          <a:ln/>
        </p:spPr>
        <p:txBody>
          <a:bodyPr wrap="square" lIns="0" tIns="0" rIns="0" bIns="0" rtlCol="0" anchor="t"/>
          <a:lstStyle/>
          <a:p>
            <a:pPr algn="l" indent="0" marL="0">
              <a:lnSpc>
                <a:spcPts val="1133"/>
              </a:lnSpc>
              <a:buNone/>
            </a:pPr>
            <a:r>
              <a:rPr lang="en-US" sz="800" b="1" dirty="0">
                <a:solidFill>
                  <a:srgbClr val="0F172A"/>
                </a:solidFill>
                <a:latin typeface="Carlito" pitchFamily="34" charset="0"/>
                <a:ea typeface="Carlito" pitchFamily="34" charset="-122"/>
                <a:cs typeface="Carlito" pitchFamily="34" charset="-120"/>
              </a:rPr>
              <a:t>قسما الجهاز:</a:t>
            </a:r>
            <a:pPr algn="l" indent="0" marL="0">
              <a:lnSpc>
                <a:spcPts val="1133"/>
              </a:lnSpc>
              <a:buNone/>
            </a:pPr>
            <a:r>
              <a:rPr lang="en-US" sz="800" dirty="0">
                <a:solidFill>
                  <a:srgbClr val="334155"/>
                </a:solidFill>
                <a:latin typeface="Carlito" pitchFamily="34" charset="0"/>
                <a:ea typeface="Carlito" pitchFamily="34" charset="-122"/>
                <a:cs typeface="Carlito" pitchFamily="34" charset="-120"/>
              </a:rPr>
              <a:t> المحوري (</a:t>
            </a:r>
            <a:pPr algn="l" indent="0" marL="0">
              <a:lnSpc>
                <a:spcPts val="1133"/>
              </a:lnSpc>
              <a:buNone/>
            </a:pPr>
            <a:r>
              <a:rPr lang="en-US" sz="800" b="1" dirty="0">
                <a:solidFill>
                  <a:srgbClr val="1E40AF"/>
                </a:solidFill>
                <a:latin typeface="Liberation Sans Narrow" pitchFamily="34" charset="0"/>
                <a:ea typeface="Liberation Sans Narrow" pitchFamily="34" charset="-122"/>
                <a:cs typeface="Liberation Sans Narrow" pitchFamily="34" charset="-120"/>
              </a:rPr>
              <a:t>80</a:t>
            </a:r>
            <a:pPr algn="l" indent="0" marL="0">
              <a:lnSpc>
                <a:spcPts val="1133"/>
              </a:lnSpc>
              <a:buNone/>
            </a:pPr>
            <a:r>
              <a:rPr lang="en-US" sz="800" dirty="0">
                <a:solidFill>
                  <a:srgbClr val="334155"/>
                </a:solidFill>
                <a:latin typeface="Carlito" pitchFamily="34" charset="0"/>
                <a:ea typeface="Carlito" pitchFamily="34" charset="-122"/>
                <a:cs typeface="Carlito" pitchFamily="34" charset="-120"/>
              </a:rPr>
              <a:t> عظمة — جمجمة، عمود فقري، قفص صدري) + الطرفي (</a:t>
            </a:r>
            <a:pPr algn="l" indent="0" marL="0">
              <a:lnSpc>
                <a:spcPts val="1133"/>
              </a:lnSpc>
              <a:buNone/>
            </a:pPr>
            <a:r>
              <a:rPr lang="en-US" sz="800" b="1" dirty="0">
                <a:solidFill>
                  <a:srgbClr val="1E40AF"/>
                </a:solidFill>
                <a:latin typeface="Liberation Sans Narrow" pitchFamily="34" charset="0"/>
                <a:ea typeface="Liberation Sans Narrow" pitchFamily="34" charset="-122"/>
                <a:cs typeface="Liberation Sans Narrow" pitchFamily="34" charset="-120"/>
              </a:rPr>
              <a:t>126</a:t>
            </a:r>
            <a:pPr algn="l" indent="0" marL="0">
              <a:lnSpc>
                <a:spcPts val="1133"/>
              </a:lnSpc>
              <a:buNone/>
            </a:pPr>
            <a:r>
              <a:rPr lang="en-US" sz="800" dirty="0">
                <a:solidFill>
                  <a:srgbClr val="334155"/>
                </a:solidFill>
                <a:latin typeface="Carlito" pitchFamily="34" charset="0"/>
                <a:ea typeface="Carlito" pitchFamily="34" charset="-122"/>
                <a:cs typeface="Carlito" pitchFamily="34" charset="-120"/>
              </a:rPr>
              <a:t> عظمة — أطراف علوية وسفلية)</a:t>
            </a:r>
            <a:endParaRPr lang="en-US" sz="800" dirty="0"/>
          </a:p>
        </p:txBody>
      </p:sp>
      <p:sp>
        <p:nvSpPr>
          <p:cNvPr id="50" name="Text 46"/>
          <p:cNvSpPr/>
          <p:nvPr/>
        </p:nvSpPr>
        <p:spPr>
          <a:xfrm>
            <a:off x="403622" y="675084"/>
            <a:ext cx="3915780" cy="4264819"/>
          </a:xfrm>
          <a:prstGeom prst="roundRect">
            <a:avLst>
              <a:gd name="adj" fmla="val 3892"/>
            </a:avLst>
          </a:prstGeom>
          <a:solidFill>
            <a:srgbClr val="F8FAFC"/>
          </a:solidFill>
          <a:ln w="7144">
            <a:solidFill>
              <a:srgbClr val="E2E8F0"/>
            </a:solidFill>
            <a:prstDash val="solid"/>
          </a:ln>
          <a:effectLst>
            <a:outerShdw sx="100000" sy="100000" kx="0" ky="0" algn="bl" rotWithShape="0" blurRad="266700" dist="76200" dir="5400000">
              <a:srgbClr val="0F172A">
                <a:alpha val="6000"/>
              </a:srgbClr>
            </a:outerShdw>
          </a:effectLst>
        </p:spPr>
        <p:txBody>
          <a:bodyPr wrap="square" rtlCol="0" anchor="ctr"/>
          <a:lstStyle/>
          <a:p>
            <a:pPr indent="0" marL="0">
              <a:buNone/>
            </a:pPr>
            <a:endParaRPr lang="en-US" dirty="0"/>
          </a:p>
        </p:txBody>
      </p:sp>
      <p:pic>
        <p:nvPicPr>
          <p:cNvPr id="51" name="Image 2" descr="/tmp/h2p-fit-1789634204780-fc7728.png">    </p:cNvPr>
          <p:cNvPicPr>
            <a:picLocks noChangeAspect="1"/>
          </p:cNvPicPr>
          <p:nvPr/>
        </p:nvPicPr>
        <p:blipFill>
          <a:blip r:embed="rId3"/>
          <a:stretch>
            <a:fillRect/>
          </a:stretch>
        </p:blipFill>
        <p:spPr>
          <a:xfrm>
            <a:off x="407194" y="678656"/>
            <a:ext cx="3908636" cy="4257675"/>
          </a:xfrm>
          <a:prstGeom prst="rect">
            <a:avLst/>
          </a:prstGeom>
        </p:spPr>
      </p:pic>
      <p:sp>
        <p:nvSpPr>
          <p:cNvPr id="52" name="Text 47"/>
          <p:cNvSpPr/>
          <p:nvPr/>
        </p:nvSpPr>
        <p:spPr>
          <a:xfrm>
            <a:off x="492919" y="4636294"/>
            <a:ext cx="1800560" cy="214313"/>
          </a:xfrm>
          <a:prstGeom prst="roundRect">
            <a:avLst>
              <a:gd name="adj" fmla="val 4439990"/>
            </a:avLst>
          </a:prstGeom>
          <a:solidFill>
            <a:srgbClr val="1E40AF">
              <a:alpha val="94000"/>
            </a:srgbClr>
          </a:solidFill>
          <a:ln/>
        </p:spPr>
        <p:txBody>
          <a:bodyPr wrap="square" rtlCol="0" anchor="ctr"/>
          <a:lstStyle/>
          <a:p>
            <a:pPr indent="0" marL="0">
              <a:buNone/>
            </a:pPr>
            <a:endParaRPr lang="en-US" dirty="0"/>
          </a:p>
        </p:txBody>
      </p:sp>
      <p:sp>
        <p:nvSpPr>
          <p:cNvPr id="53" name="Text 48"/>
          <p:cNvSpPr/>
          <p:nvPr/>
        </p:nvSpPr>
        <p:spPr>
          <a:xfrm>
            <a:off x="578644" y="4693444"/>
            <a:ext cx="1486235" cy="128016"/>
          </a:xfrm>
          <a:prstGeom prst="rect">
            <a:avLst/>
          </a:prstGeom>
          <a:noFill/>
          <a:ln/>
        </p:spPr>
        <p:txBody>
          <a:bodyPr wrap="none" lIns="85725" tIns="42863" rIns="85725" bIns="42863" rtlCol="0" anchor="t"/>
          <a:lstStyle/>
          <a:p>
            <a:pPr algn="l" indent="0" marL="0">
              <a:lnSpc>
                <a:spcPts val="1013"/>
              </a:lnSpc>
              <a:buNone/>
            </a:pPr>
            <a:r>
              <a:rPr lang="en-US" sz="800" dirty="0">
                <a:solidFill>
                  <a:srgbClr val="FFFFFF"/>
                </a:solidFill>
                <a:latin typeface="Carlito" pitchFamily="34" charset="0"/>
                <a:ea typeface="Carlito" pitchFamily="34" charset="-122"/>
                <a:cs typeface="Carlito" pitchFamily="34" charset="-120"/>
              </a:rPr>
              <a:t>الهيكل العظمي البشري — عظمة</a:t>
            </a:r>
            <a:endParaRPr lang="en-US" sz="800" dirty="0"/>
          </a:p>
        </p:txBody>
      </p:sp>
      <p:sp>
        <p:nvSpPr>
          <p:cNvPr id="54" name="Text 49"/>
          <p:cNvSpPr/>
          <p:nvPr/>
        </p:nvSpPr>
        <p:spPr>
          <a:xfrm>
            <a:off x="2107741" y="4693444"/>
            <a:ext cx="100013" cy="100013"/>
          </a:xfrm>
          <a:prstGeom prst="rect">
            <a:avLst/>
          </a:prstGeom>
          <a:noFill/>
          <a:ln/>
        </p:spPr>
        <p:txBody>
          <a:bodyPr wrap="none" lIns="0" tIns="0" rIns="0" bIns="0" rtlCol="0" anchor="ctr"/>
          <a:lstStyle/>
          <a:p>
            <a:pPr algn="ctr" indent="0" marL="0">
              <a:buNone/>
            </a:pPr>
            <a:r>
              <a:rPr lang="en-US" sz="984" dirty="0">
                <a:solidFill>
                  <a:srgbClr val="FFFFFF"/>
                </a:solidFill>
                <a:latin typeface="Segoe UI Symbol" pitchFamily="34" charset="0"/>
                <a:ea typeface="Segoe UI Symbol" pitchFamily="34" charset="-122"/>
                <a:cs typeface="Segoe UI Symbol" pitchFamily="34" charset="-120"/>
              </a:rPr>
              <a:t>＋</a:t>
            </a:r>
            <a:endParaRPr lang="en-US" sz="984" dirty="0"/>
          </a:p>
        </p:txBody>
      </p:sp>
      <p:sp>
        <p:nvSpPr>
          <p:cNvPr id="55" name="Text 50"/>
          <p:cNvSpPr/>
          <p:nvPr/>
        </p:nvSpPr>
        <p:spPr>
          <a:xfrm>
            <a:off x="821531" y="4679156"/>
            <a:ext cx="1264779" cy="128588"/>
          </a:xfrm>
          <a:prstGeom prst="rect">
            <a:avLst/>
          </a:prstGeom>
          <a:noFill/>
          <a:ln/>
        </p:spPr>
        <p:txBody>
          <a:bodyPr wrap="none" lIns="0" tIns="0" rIns="0" bIns="0" rtlCol="0" anchor="t"/>
          <a:lstStyle/>
          <a:p>
            <a:pPr algn="l" indent="0" marL="0">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206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8486775" y="200025"/>
            <a:ext cx="257175" cy="257175"/>
          </a:xfrm>
          <a:prstGeom prst="ellipse">
            <a:avLst/>
          </a:prstGeom>
          <a:solidFill>
            <a:srgbClr val="DC2626"/>
          </a:solidFill>
          <a:ln/>
        </p:spPr>
        <p:txBody>
          <a:bodyPr wrap="square" rtlCol="0" anchor="ctr"/>
          <a:lstStyle/>
          <a:p>
            <a:pPr indent="0" marL="0">
              <a:buNone/>
            </a:pPr>
            <a:endParaRPr lang="en-US" dirty="0"/>
          </a:p>
        </p:txBody>
      </p:sp>
      <p:sp>
        <p:nvSpPr>
          <p:cNvPr id="5" name="Text 1"/>
          <p:cNvSpPr/>
          <p:nvPr/>
        </p:nvSpPr>
        <p:spPr>
          <a:xfrm>
            <a:off x="8486775" y="200025"/>
            <a:ext cx="257175" cy="257175"/>
          </a:xfrm>
          <a:prstGeom prst="rect">
            <a:avLst/>
          </a:prstGeom>
          <a:noFill/>
          <a:ln/>
        </p:spPr>
        <p:txBody>
          <a:bodyPr wrap="none" lIns="0" tIns="0" rIns="0" bIns="0" rtlCol="0" anchor="ctr"/>
          <a:lstStyle/>
          <a:p>
            <a:pPr algn="ctr" indent="0" marL="0">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02</a:t>
            </a:r>
            <a:endParaRPr lang="en-US" sz="800" dirty="0"/>
          </a:p>
        </p:txBody>
      </p:sp>
      <p:sp>
        <p:nvSpPr>
          <p:cNvPr id="6" name="Text 2"/>
          <p:cNvSpPr/>
          <p:nvPr/>
        </p:nvSpPr>
        <p:spPr>
          <a:xfrm>
            <a:off x="6590444" y="207169"/>
            <a:ext cx="2227538" cy="262319"/>
          </a:xfrm>
          <a:prstGeom prst="rect">
            <a:avLst/>
          </a:prstGeom>
          <a:noFill/>
          <a:ln/>
        </p:spPr>
        <p:txBody>
          <a:bodyPr wrap="none" lIns="0" tIns="0" rIns="0" bIns="0" rtlCol="0" anchor="t"/>
          <a:lstStyle/>
          <a:p>
            <a:pPr algn="l" indent="0" marL="0">
              <a:lnSpc>
                <a:spcPts val="1913"/>
              </a:lnSpc>
              <a:buNone/>
            </a:pPr>
            <a:r>
              <a:rPr lang="en-US" sz="1913" b="1" dirty="0">
                <a:solidFill>
                  <a:srgbClr val="1E40AF"/>
                </a:solidFill>
                <a:latin typeface="Carlito" pitchFamily="34" charset="0"/>
                <a:ea typeface="Carlito" pitchFamily="34" charset="-122"/>
                <a:cs typeface="Carlito" pitchFamily="34" charset="-120"/>
              </a:rPr>
              <a:t>الجهاز العضلي</a:t>
            </a:r>
            <a:endParaRPr lang="en-US" sz="1913" dirty="0"/>
          </a:p>
        </p:txBody>
      </p:sp>
      <p:sp>
        <p:nvSpPr>
          <p:cNvPr id="7" name="Text 3"/>
          <p:cNvSpPr/>
          <p:nvPr/>
        </p:nvSpPr>
        <p:spPr>
          <a:xfrm>
            <a:off x="5721028" y="258961"/>
            <a:ext cx="936439" cy="164592"/>
          </a:xfrm>
          <a:prstGeom prst="rect">
            <a:avLst/>
          </a:prstGeom>
          <a:noFill/>
          <a:ln/>
        </p:spPr>
        <p:txBody>
          <a:bodyPr wrap="none" lIns="0" tIns="0" rIns="0" bIns="0" rtlCol="0" anchor="t"/>
          <a:lstStyle/>
          <a:p>
            <a:pPr algn="l" indent="0" marL="0">
              <a:lnSpc>
                <a:spcPts val="1097"/>
              </a:lnSpc>
              <a:buNone/>
            </a:pPr>
            <a:r>
              <a:rPr lang="en-US" sz="800" i="1" spc="23" kern="0" dirty="0">
                <a:solidFill>
                  <a:srgbClr val="64748B"/>
                </a:solidFill>
                <a:latin typeface="Carlito" pitchFamily="34" charset="0"/>
                <a:ea typeface="Carlito" pitchFamily="34" charset="-122"/>
                <a:cs typeface="Carlito" pitchFamily="34" charset="-120"/>
              </a:rPr>
              <a:t>Muscular System</a:t>
            </a:r>
            <a:endParaRPr lang="en-US" sz="800" dirty="0"/>
          </a:p>
        </p:txBody>
      </p:sp>
      <p:sp>
        <p:nvSpPr>
          <p:cNvPr id="8" name="Text 4"/>
          <p:cNvSpPr/>
          <p:nvPr/>
        </p:nvSpPr>
        <p:spPr>
          <a:xfrm>
            <a:off x="8343900" y="528638"/>
            <a:ext cx="400050" cy="28575"/>
          </a:xfrm>
          <a:prstGeom prst="roundRect">
            <a:avLst>
              <a:gd name="adj" fmla="val 66667"/>
            </a:avLst>
          </a:prstGeom>
          <a:solidFill>
            <a:srgbClr val="DC2626"/>
          </a:solidFill>
          <a:ln/>
        </p:spPr>
        <p:txBody>
          <a:bodyPr wrap="square" rtlCol="0" anchor="ctr"/>
          <a:lstStyle/>
          <a:p>
            <a:pPr indent="0" marL="0">
              <a:buNone/>
            </a:pPr>
            <a:endParaRPr lang="en-US" dirty="0"/>
          </a:p>
        </p:txBody>
      </p:sp>
      <p:sp>
        <p:nvSpPr>
          <p:cNvPr id="9" name="Text 5"/>
          <p:cNvSpPr/>
          <p:nvPr/>
        </p:nvSpPr>
        <p:spPr>
          <a:xfrm>
            <a:off x="4824599" y="675084"/>
            <a:ext cx="3915780" cy="4264819"/>
          </a:xfrm>
          <a:prstGeom prst="roundRect">
            <a:avLst>
              <a:gd name="adj" fmla="val 3892"/>
            </a:avLst>
          </a:prstGeom>
          <a:solidFill>
            <a:srgbClr val="F8FAFC"/>
          </a:solidFill>
          <a:ln w="7144">
            <a:solidFill>
              <a:srgbClr val="E2E8F0"/>
            </a:solidFill>
            <a:prstDash val="solid"/>
          </a:ln>
          <a:effectLst>
            <a:outerShdw sx="100000" sy="100000" kx="0" ky="0" algn="bl" rotWithShape="0" blurRad="266700" dist="76200" dir="5400000">
              <a:srgbClr val="0F172A">
                <a:alpha val="6000"/>
              </a:srgbClr>
            </a:outerShdw>
          </a:effectLst>
        </p:spPr>
        <p:txBody>
          <a:bodyPr wrap="square" rtlCol="0" anchor="ctr"/>
          <a:lstStyle/>
          <a:p>
            <a:pPr indent="0" marL="0">
              <a:buNone/>
            </a:pPr>
            <a:endParaRPr lang="en-US" dirty="0"/>
          </a:p>
        </p:txBody>
      </p:sp>
      <p:pic>
        <p:nvPicPr>
          <p:cNvPr id="10" name="Image 2" descr="/tmp/h2p-fit-1789634204812-qz10cy.png">    </p:cNvPr>
          <p:cNvPicPr>
            <a:picLocks noChangeAspect="1"/>
          </p:cNvPicPr>
          <p:nvPr/>
        </p:nvPicPr>
        <p:blipFill>
          <a:blip r:embed="rId3"/>
          <a:stretch>
            <a:fillRect/>
          </a:stretch>
        </p:blipFill>
        <p:spPr>
          <a:xfrm>
            <a:off x="4828170" y="678656"/>
            <a:ext cx="3908636" cy="4257675"/>
          </a:xfrm>
          <a:prstGeom prst="rect">
            <a:avLst/>
          </a:prstGeom>
        </p:spPr>
      </p:pic>
      <p:sp>
        <p:nvSpPr>
          <p:cNvPr id="11" name="Text 6"/>
          <p:cNvSpPr/>
          <p:nvPr/>
        </p:nvSpPr>
        <p:spPr>
          <a:xfrm>
            <a:off x="6826746" y="4636294"/>
            <a:ext cx="1824335" cy="214313"/>
          </a:xfrm>
          <a:prstGeom prst="roundRect">
            <a:avLst>
              <a:gd name="adj" fmla="val 4439990"/>
            </a:avLst>
          </a:prstGeom>
          <a:solidFill>
            <a:srgbClr val="1E40AF">
              <a:alpha val="94000"/>
            </a:srgbClr>
          </a:solidFill>
          <a:ln/>
        </p:spPr>
        <p:txBody>
          <a:bodyPr wrap="square" rtlCol="0" anchor="ctr"/>
          <a:lstStyle/>
          <a:p>
            <a:pPr indent="0" marL="0">
              <a:buNone/>
            </a:pPr>
            <a:endParaRPr lang="en-US" dirty="0"/>
          </a:p>
        </p:txBody>
      </p:sp>
      <p:sp>
        <p:nvSpPr>
          <p:cNvPr id="12" name="Text 7"/>
          <p:cNvSpPr/>
          <p:nvPr/>
        </p:nvSpPr>
        <p:spPr>
          <a:xfrm>
            <a:off x="6912471" y="4693444"/>
            <a:ext cx="1510010" cy="128016"/>
          </a:xfrm>
          <a:prstGeom prst="rect">
            <a:avLst/>
          </a:prstGeom>
          <a:noFill/>
          <a:ln/>
        </p:spPr>
        <p:txBody>
          <a:bodyPr wrap="none" lIns="85725" tIns="42863" rIns="85725" bIns="42863" rtlCol="0" anchor="t"/>
          <a:lstStyle/>
          <a:p>
            <a:pPr algn="l" indent="0" marL="0">
              <a:lnSpc>
                <a:spcPts val="1013"/>
              </a:lnSpc>
              <a:buNone/>
            </a:pPr>
            <a:r>
              <a:rPr lang="en-US" sz="800" dirty="0">
                <a:solidFill>
                  <a:srgbClr val="FFFFFF"/>
                </a:solidFill>
                <a:latin typeface="Carlito" pitchFamily="34" charset="0"/>
                <a:ea typeface="Carlito" pitchFamily="34" charset="-122"/>
                <a:cs typeface="Carlito" pitchFamily="34" charset="-120"/>
              </a:rPr>
              <a:t>الجهاز العضلي — أكثر من عضلة</a:t>
            </a:r>
            <a:endParaRPr lang="en-US" sz="800" dirty="0"/>
          </a:p>
        </p:txBody>
      </p:sp>
      <p:sp>
        <p:nvSpPr>
          <p:cNvPr id="13" name="Text 8"/>
          <p:cNvSpPr/>
          <p:nvPr/>
        </p:nvSpPr>
        <p:spPr>
          <a:xfrm>
            <a:off x="8465344" y="4693444"/>
            <a:ext cx="100013" cy="100013"/>
          </a:xfrm>
          <a:prstGeom prst="rect">
            <a:avLst/>
          </a:prstGeom>
          <a:noFill/>
          <a:ln/>
        </p:spPr>
        <p:txBody>
          <a:bodyPr wrap="none" lIns="0" tIns="0" rIns="0" bIns="0" rtlCol="0" anchor="ctr"/>
          <a:lstStyle/>
          <a:p>
            <a:pPr algn="ctr" indent="0" marL="0">
              <a:buNone/>
            </a:pPr>
            <a:r>
              <a:rPr lang="en-US" sz="984" dirty="0">
                <a:solidFill>
                  <a:srgbClr val="FFFFFF"/>
                </a:solidFill>
                <a:latin typeface="Segoe UI Symbol" pitchFamily="34" charset="0"/>
                <a:ea typeface="Segoe UI Symbol" pitchFamily="34" charset="-122"/>
                <a:cs typeface="Segoe UI Symbol" pitchFamily="34" charset="-120"/>
              </a:rPr>
              <a:t>▣</a:t>
            </a:r>
            <a:endParaRPr lang="en-US" sz="984" dirty="0"/>
          </a:p>
        </p:txBody>
      </p:sp>
      <p:sp>
        <p:nvSpPr>
          <p:cNvPr id="14" name="Text 9"/>
          <p:cNvSpPr/>
          <p:nvPr/>
        </p:nvSpPr>
        <p:spPr>
          <a:xfrm>
            <a:off x="7155359" y="4679156"/>
            <a:ext cx="1288554" cy="128588"/>
          </a:xfrm>
          <a:prstGeom prst="rect">
            <a:avLst/>
          </a:prstGeom>
          <a:noFill/>
          <a:ln/>
        </p:spPr>
        <p:txBody>
          <a:bodyPr wrap="none" lIns="0" tIns="0" rIns="0" bIns="0" rtlCol="0" anchor="t"/>
          <a:lstStyle/>
          <a:p>
            <a:pPr algn="l" indent="0" marL="0">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600</a:t>
            </a:r>
            <a:endParaRPr lang="en-US" sz="800" dirty="0"/>
          </a:p>
        </p:txBody>
      </p:sp>
      <p:sp>
        <p:nvSpPr>
          <p:cNvPr id="15" name="Text 10"/>
          <p:cNvSpPr/>
          <p:nvPr/>
        </p:nvSpPr>
        <p:spPr>
          <a:xfrm>
            <a:off x="400050" y="671513"/>
            <a:ext cx="4249527" cy="381905"/>
          </a:xfrm>
          <a:prstGeom prst="rect">
            <a:avLst/>
          </a:prstGeom>
          <a:noFill/>
          <a:ln/>
        </p:spPr>
        <p:txBody>
          <a:bodyPr wrap="square" lIns="0" tIns="0" rIns="0" bIns="0" rtlCol="0" anchor="t"/>
          <a:lstStyle/>
          <a:p>
            <a:pPr algn="l" indent="0" marL="0">
              <a:lnSpc>
                <a:spcPts val="1392"/>
              </a:lnSpc>
              <a:buNone/>
            </a:pPr>
            <a:r>
              <a:rPr lang="en-US" sz="844" dirty="0">
                <a:solidFill>
                  <a:srgbClr val="334155"/>
                </a:solidFill>
                <a:latin typeface="Carlito" pitchFamily="34" charset="0"/>
                <a:ea typeface="Carlito" pitchFamily="34" charset="-122"/>
                <a:cs typeface="Carlito" pitchFamily="34" charset="-120"/>
              </a:rPr>
              <a:t>العضلات هي المحرّك الحيوي للجسم — تتحكم في كل حركة إرادية وغير إرادية، من رمشة العين إلى نبضات القلب. تُشكّل العضلات ما يقارب </a:t>
            </a:r>
            <a:pPr algn="l" indent="0" marL="0">
              <a:lnSpc>
                <a:spcPts val="1392"/>
              </a:lnSpc>
              <a:buNone/>
            </a:pPr>
            <a:r>
              <a:rPr lang="en-US" sz="844" b="1" dirty="0">
                <a:solidFill>
                  <a:srgbClr val="1E40AF"/>
                </a:solidFill>
                <a:latin typeface="Liberation Sans Narrow" pitchFamily="34" charset="0"/>
                <a:ea typeface="Liberation Sans Narrow" pitchFamily="34" charset="-122"/>
                <a:cs typeface="Liberation Sans Narrow" pitchFamily="34" charset="-120"/>
              </a:rPr>
              <a:t>40%</a:t>
            </a:r>
            <a:pPr algn="l" indent="0" marL="0">
              <a:lnSpc>
                <a:spcPts val="1392"/>
              </a:lnSpc>
              <a:buNone/>
            </a:pPr>
            <a:r>
              <a:rPr lang="en-US" sz="844" dirty="0">
                <a:solidFill>
                  <a:srgbClr val="334155"/>
                </a:solidFill>
                <a:latin typeface="Carlito" pitchFamily="34" charset="0"/>
                <a:ea typeface="Carlito" pitchFamily="34" charset="-122"/>
                <a:cs typeface="Carlito" pitchFamily="34" charset="-120"/>
              </a:rPr>
              <a:t> من وزن الجسم الكلي.</a:t>
            </a:r>
            <a:endParaRPr lang="en-US" sz="844" dirty="0"/>
          </a:p>
        </p:txBody>
      </p:sp>
      <p:sp>
        <p:nvSpPr>
          <p:cNvPr id="16" name="Text 11"/>
          <p:cNvSpPr/>
          <p:nvPr/>
        </p:nvSpPr>
        <p:spPr>
          <a:xfrm>
            <a:off x="400050" y="1096566"/>
            <a:ext cx="4462003" cy="131159"/>
          </a:xfrm>
          <a:prstGeom prst="rect">
            <a:avLst/>
          </a:prstGeom>
          <a:noFill/>
          <a:ln/>
        </p:spPr>
        <p:txBody>
          <a:bodyPr wrap="none" lIns="0" tIns="0" rIns="0" bIns="0" rtlCol="0" anchor="t"/>
          <a:lstStyle/>
          <a:p>
            <a:pPr algn="l" indent="0" marL="0">
              <a:lnSpc>
                <a:spcPts val="956"/>
              </a:lnSpc>
              <a:buNone/>
            </a:pPr>
            <a:r>
              <a:rPr lang="en-US" sz="956" b="1" dirty="0">
                <a:solidFill>
                  <a:srgbClr val="1E40AF"/>
                </a:solidFill>
                <a:latin typeface="Carlito" pitchFamily="34" charset="0"/>
                <a:ea typeface="Carlito" pitchFamily="34" charset="-122"/>
                <a:cs typeface="Carlito" pitchFamily="34" charset="-120"/>
              </a:rPr>
              <a:t>ثلاثة أنواع من العضلات:</a:t>
            </a:r>
            <a:endParaRPr lang="en-US" sz="956" dirty="0"/>
          </a:p>
        </p:txBody>
      </p:sp>
      <p:sp>
        <p:nvSpPr>
          <p:cNvPr id="17" name="Text 12"/>
          <p:cNvSpPr/>
          <p:nvPr/>
        </p:nvSpPr>
        <p:spPr>
          <a:xfrm>
            <a:off x="400050" y="1289447"/>
            <a:ext cx="4249527" cy="557213"/>
          </a:xfrm>
          <a:prstGeom prst="roundRect">
            <a:avLst>
              <a:gd name="adj" fmla="val 20513"/>
            </a:avLst>
          </a:prstGeom>
          <a:solidFill>
            <a:srgbClr val="F8FAFC"/>
          </a:solidFill>
          <a:ln/>
          <a:effectLst>
            <a:outerShdw sx="100000" sy="100000" kx="0" ky="0" algn="bl" rotWithShape="0" blurRad="133350" dist="38100" dir="5400000">
              <a:srgbClr val="0F172A">
                <a:alpha val="4000"/>
              </a:srgbClr>
            </a:outerShdw>
          </a:effectLst>
        </p:spPr>
        <p:txBody>
          <a:bodyPr wrap="square" rtlCol="0" anchor="ctr"/>
          <a:lstStyle/>
          <a:p>
            <a:pPr indent="0" marL="0">
              <a:buNone/>
            </a:pPr>
            <a:endParaRPr lang="en-US" dirty="0"/>
          </a:p>
        </p:txBody>
      </p:sp>
      <p:sp>
        <p:nvSpPr>
          <p:cNvPr id="18" name="Shape 13"/>
          <p:cNvSpPr/>
          <p:nvPr/>
        </p:nvSpPr>
        <p:spPr>
          <a:xfrm>
            <a:off x="400050" y="1293019"/>
            <a:ext cx="4249527" cy="0"/>
          </a:xfrm>
          <a:prstGeom prst="line">
            <a:avLst/>
          </a:prstGeom>
          <a:noFill/>
          <a:ln w="7144">
            <a:solidFill>
              <a:srgbClr val="E2E8F0"/>
            </a:solidFill>
            <a:prstDash val="solid"/>
          </a:ln>
        </p:spPr>
      </p:sp>
      <p:sp>
        <p:nvSpPr>
          <p:cNvPr id="19" name="Shape 14"/>
          <p:cNvSpPr/>
          <p:nvPr/>
        </p:nvSpPr>
        <p:spPr>
          <a:xfrm>
            <a:off x="4635289" y="1289447"/>
            <a:ext cx="0" cy="557213"/>
          </a:xfrm>
          <a:prstGeom prst="line">
            <a:avLst/>
          </a:prstGeom>
          <a:noFill/>
          <a:ln w="28575">
            <a:solidFill>
              <a:srgbClr val="1E40AF"/>
            </a:solidFill>
            <a:prstDash val="solid"/>
          </a:ln>
        </p:spPr>
      </p:sp>
      <p:sp>
        <p:nvSpPr>
          <p:cNvPr id="20" name="Shape 15"/>
          <p:cNvSpPr/>
          <p:nvPr/>
        </p:nvSpPr>
        <p:spPr>
          <a:xfrm>
            <a:off x="400050" y="1843088"/>
            <a:ext cx="4249527" cy="0"/>
          </a:xfrm>
          <a:prstGeom prst="line">
            <a:avLst/>
          </a:prstGeom>
          <a:noFill/>
          <a:ln w="7144">
            <a:solidFill>
              <a:srgbClr val="E2E8F0"/>
            </a:solidFill>
            <a:prstDash val="solid"/>
          </a:ln>
        </p:spPr>
      </p:sp>
      <p:sp>
        <p:nvSpPr>
          <p:cNvPr id="21" name="Shape 16"/>
          <p:cNvSpPr/>
          <p:nvPr/>
        </p:nvSpPr>
        <p:spPr>
          <a:xfrm>
            <a:off x="403622" y="1289447"/>
            <a:ext cx="0" cy="557213"/>
          </a:xfrm>
          <a:prstGeom prst="line">
            <a:avLst/>
          </a:prstGeom>
          <a:noFill/>
          <a:ln w="7144">
            <a:solidFill>
              <a:srgbClr val="E2E8F0"/>
            </a:solidFill>
            <a:prstDash val="solid"/>
          </a:ln>
        </p:spPr>
      </p:sp>
      <p:sp>
        <p:nvSpPr>
          <p:cNvPr id="22" name="Text 17"/>
          <p:cNvSpPr/>
          <p:nvPr/>
        </p:nvSpPr>
        <p:spPr>
          <a:xfrm>
            <a:off x="4163802" y="1396603"/>
            <a:ext cx="342900" cy="342900"/>
          </a:xfrm>
          <a:prstGeom prst="roundRect">
            <a:avLst>
              <a:gd name="adj" fmla="val 33333"/>
            </a:avLst>
          </a:prstGeom>
          <a:solidFill>
            <a:srgbClr val="DBEAFE"/>
          </a:solidFill>
          <a:ln/>
        </p:spPr>
        <p:txBody>
          <a:bodyPr wrap="square" rtlCol="0" anchor="ctr"/>
          <a:lstStyle/>
          <a:p>
            <a:pPr indent="0" marL="0">
              <a:buNone/>
            </a:pPr>
            <a:endParaRPr lang="en-US" dirty="0"/>
          </a:p>
        </p:txBody>
      </p:sp>
      <p:sp>
        <p:nvSpPr>
          <p:cNvPr id="23" name="Text 18"/>
          <p:cNvSpPr/>
          <p:nvPr/>
        </p:nvSpPr>
        <p:spPr>
          <a:xfrm>
            <a:off x="4190234" y="1423035"/>
            <a:ext cx="290036" cy="290036"/>
          </a:xfrm>
          <a:prstGeom prst="rect">
            <a:avLst/>
          </a:prstGeom>
          <a:noFill/>
          <a:ln/>
        </p:spPr>
        <p:txBody>
          <a:bodyPr wrap="none" lIns="0" tIns="0" rIns="0" bIns="0" rtlCol="0" anchor="ctr"/>
          <a:lstStyle/>
          <a:p>
            <a:pPr algn="ctr" indent="0" marL="0">
              <a:buNone/>
            </a:pPr>
            <a:r>
              <a:rPr lang="en-US" sz="1969" dirty="0">
                <a:solidFill>
                  <a:srgbClr val="1E40AF"/>
                </a:solidFill>
                <a:latin typeface="Segoe UI Symbol" pitchFamily="34" charset="0"/>
                <a:ea typeface="Segoe UI Symbol" pitchFamily="34" charset="-122"/>
                <a:cs typeface="Segoe UI Symbol" pitchFamily="34" charset="-120"/>
              </a:rPr>
              <a:t>▣</a:t>
            </a:r>
            <a:endParaRPr lang="en-US" sz="1969" dirty="0"/>
          </a:p>
        </p:txBody>
      </p:sp>
      <p:sp>
        <p:nvSpPr>
          <p:cNvPr id="24" name="Text 19"/>
          <p:cNvSpPr/>
          <p:nvPr/>
        </p:nvSpPr>
        <p:spPr>
          <a:xfrm>
            <a:off x="3029843" y="1422946"/>
            <a:ext cx="1211785" cy="157319"/>
          </a:xfrm>
          <a:prstGeom prst="rect">
            <a:avLst/>
          </a:prstGeom>
          <a:noFill/>
          <a:ln/>
        </p:spPr>
        <p:txBody>
          <a:bodyPr wrap="none" lIns="0" tIns="0" rIns="0" bIns="0" rtlCol="0" anchor="t"/>
          <a:lstStyle/>
          <a:p>
            <a:pPr algn="l" indent="0" marL="0">
              <a:lnSpc>
                <a:spcPts val="1148"/>
              </a:lnSpc>
              <a:buNone/>
            </a:pPr>
            <a:r>
              <a:rPr lang="en-US" sz="956" b="1" dirty="0">
                <a:solidFill>
                  <a:srgbClr val="0F172A"/>
                </a:solidFill>
                <a:latin typeface="Carlito" pitchFamily="34" charset="0"/>
                <a:ea typeface="Carlito" pitchFamily="34" charset="-122"/>
                <a:cs typeface="Carlito" pitchFamily="34" charset="-120"/>
              </a:rPr>
              <a:t>العضلات الهيكلية</a:t>
            </a:r>
            <a:endParaRPr lang="en-US" sz="956" dirty="0"/>
          </a:p>
        </p:txBody>
      </p:sp>
      <p:sp>
        <p:nvSpPr>
          <p:cNvPr id="25" name="Text 20"/>
          <p:cNvSpPr/>
          <p:nvPr/>
        </p:nvSpPr>
        <p:spPr>
          <a:xfrm>
            <a:off x="2466045" y="1430089"/>
            <a:ext cx="663213" cy="164592"/>
          </a:xfrm>
          <a:prstGeom prst="rect">
            <a:avLst/>
          </a:prstGeom>
          <a:noFill/>
          <a:ln/>
        </p:spPr>
        <p:txBody>
          <a:bodyPr wrap="none" lIns="0" tIns="0" rIns="0" bIns="0" rtlCol="0" anchor="t"/>
          <a:lstStyle/>
          <a:p>
            <a:pPr algn="l" indent="0" marL="0">
              <a:lnSpc>
                <a:spcPts val="1097"/>
              </a:lnSpc>
              <a:buNone/>
            </a:pPr>
            <a:r>
              <a:rPr lang="en-US" sz="800" b="1" dirty="0">
                <a:solidFill>
                  <a:srgbClr val="DC2626"/>
                </a:solidFill>
                <a:latin typeface="Carlito" pitchFamily="34" charset="0"/>
                <a:ea typeface="Carlito" pitchFamily="34" charset="-122"/>
                <a:cs typeface="Carlito" pitchFamily="34" charset="-120"/>
              </a:rPr>
              <a:t>~640 عضلة</a:t>
            </a:r>
            <a:endParaRPr lang="en-US" sz="800" dirty="0"/>
          </a:p>
        </p:txBody>
      </p:sp>
      <p:sp>
        <p:nvSpPr>
          <p:cNvPr id="26" name="Text 21"/>
          <p:cNvSpPr/>
          <p:nvPr/>
        </p:nvSpPr>
        <p:spPr>
          <a:xfrm>
            <a:off x="521494" y="1583680"/>
            <a:ext cx="3825679" cy="155823"/>
          </a:xfrm>
          <a:prstGeom prst="rect">
            <a:avLst/>
          </a:prstGeom>
          <a:noFill/>
          <a:ln/>
        </p:spPr>
        <p:txBody>
          <a:bodyPr wrap="square" lIns="0" tIns="0" rIns="0" bIns="0" rtlCol="0" anchor="t"/>
          <a:lstStyle/>
          <a:p>
            <a:pPr algn="l" indent="0" marL="0">
              <a:lnSpc>
                <a:spcPts val="1020"/>
              </a:lnSpc>
              <a:buNone/>
            </a:pPr>
            <a:r>
              <a:rPr lang="en-US" sz="800" dirty="0">
                <a:solidFill>
                  <a:srgbClr val="334155"/>
                </a:solidFill>
                <a:latin typeface="Carlito" pitchFamily="34" charset="0"/>
                <a:ea typeface="Carlito" pitchFamily="34" charset="-122"/>
                <a:cs typeface="Carlito" pitchFamily="34" charset="-120"/>
              </a:rPr>
              <a:t>إرادية — تُحرّك العظام عبر الأوتار</a:t>
            </a:r>
            <a:endParaRPr lang="en-US" sz="800" dirty="0"/>
          </a:p>
        </p:txBody>
      </p:sp>
      <p:sp>
        <p:nvSpPr>
          <p:cNvPr id="27" name="Text 22"/>
          <p:cNvSpPr/>
          <p:nvPr/>
        </p:nvSpPr>
        <p:spPr>
          <a:xfrm>
            <a:off x="400050" y="1918097"/>
            <a:ext cx="4249527" cy="557213"/>
          </a:xfrm>
          <a:prstGeom prst="roundRect">
            <a:avLst>
              <a:gd name="adj" fmla="val 20513"/>
            </a:avLst>
          </a:prstGeom>
          <a:solidFill>
            <a:srgbClr val="F8FAFC"/>
          </a:solidFill>
          <a:ln/>
          <a:effectLst>
            <a:outerShdw sx="100000" sy="100000" kx="0" ky="0" algn="bl" rotWithShape="0" blurRad="133350" dist="38100" dir="5400000">
              <a:srgbClr val="0F172A">
                <a:alpha val="4000"/>
              </a:srgbClr>
            </a:outerShdw>
          </a:effectLst>
        </p:spPr>
        <p:txBody>
          <a:bodyPr wrap="square" rtlCol="0" anchor="ctr"/>
          <a:lstStyle/>
          <a:p>
            <a:pPr indent="0" marL="0">
              <a:buNone/>
            </a:pPr>
            <a:endParaRPr lang="en-US" dirty="0"/>
          </a:p>
        </p:txBody>
      </p:sp>
      <p:sp>
        <p:nvSpPr>
          <p:cNvPr id="28" name="Shape 23"/>
          <p:cNvSpPr/>
          <p:nvPr/>
        </p:nvSpPr>
        <p:spPr>
          <a:xfrm>
            <a:off x="400050" y="1921669"/>
            <a:ext cx="4249527" cy="0"/>
          </a:xfrm>
          <a:prstGeom prst="line">
            <a:avLst/>
          </a:prstGeom>
          <a:noFill/>
          <a:ln w="7144">
            <a:solidFill>
              <a:srgbClr val="E2E8F0"/>
            </a:solidFill>
            <a:prstDash val="solid"/>
          </a:ln>
        </p:spPr>
      </p:sp>
      <p:sp>
        <p:nvSpPr>
          <p:cNvPr id="29" name="Shape 24"/>
          <p:cNvSpPr/>
          <p:nvPr/>
        </p:nvSpPr>
        <p:spPr>
          <a:xfrm>
            <a:off x="4635289" y="1918097"/>
            <a:ext cx="0" cy="557213"/>
          </a:xfrm>
          <a:prstGeom prst="line">
            <a:avLst/>
          </a:prstGeom>
          <a:noFill/>
          <a:ln w="28575">
            <a:solidFill>
              <a:srgbClr val="DC2626"/>
            </a:solidFill>
            <a:prstDash val="solid"/>
          </a:ln>
        </p:spPr>
      </p:sp>
      <p:sp>
        <p:nvSpPr>
          <p:cNvPr id="30" name="Shape 25"/>
          <p:cNvSpPr/>
          <p:nvPr/>
        </p:nvSpPr>
        <p:spPr>
          <a:xfrm>
            <a:off x="400050" y="2471738"/>
            <a:ext cx="4249527" cy="0"/>
          </a:xfrm>
          <a:prstGeom prst="line">
            <a:avLst/>
          </a:prstGeom>
          <a:noFill/>
          <a:ln w="7144">
            <a:solidFill>
              <a:srgbClr val="E2E8F0"/>
            </a:solidFill>
            <a:prstDash val="solid"/>
          </a:ln>
        </p:spPr>
      </p:sp>
      <p:sp>
        <p:nvSpPr>
          <p:cNvPr id="31" name="Shape 26"/>
          <p:cNvSpPr/>
          <p:nvPr/>
        </p:nvSpPr>
        <p:spPr>
          <a:xfrm>
            <a:off x="403622" y="1918097"/>
            <a:ext cx="0" cy="557213"/>
          </a:xfrm>
          <a:prstGeom prst="line">
            <a:avLst/>
          </a:prstGeom>
          <a:noFill/>
          <a:ln w="7144">
            <a:solidFill>
              <a:srgbClr val="E2E8F0"/>
            </a:solidFill>
            <a:prstDash val="solid"/>
          </a:ln>
        </p:spPr>
      </p:sp>
      <p:sp>
        <p:nvSpPr>
          <p:cNvPr id="32" name="Text 27"/>
          <p:cNvSpPr/>
          <p:nvPr/>
        </p:nvSpPr>
        <p:spPr>
          <a:xfrm>
            <a:off x="4163802" y="2025253"/>
            <a:ext cx="342900" cy="342900"/>
          </a:xfrm>
          <a:prstGeom prst="roundRect">
            <a:avLst>
              <a:gd name="adj" fmla="val 33333"/>
            </a:avLst>
          </a:prstGeom>
          <a:solidFill>
            <a:srgbClr val="FEE2E2"/>
          </a:solidFill>
          <a:ln/>
        </p:spPr>
        <p:txBody>
          <a:bodyPr wrap="square" rtlCol="0" anchor="ctr"/>
          <a:lstStyle/>
          <a:p>
            <a:pPr indent="0" marL="0">
              <a:buNone/>
            </a:pPr>
            <a:endParaRPr lang="en-US" dirty="0"/>
          </a:p>
        </p:txBody>
      </p:sp>
      <p:sp>
        <p:nvSpPr>
          <p:cNvPr id="33" name="Text 28"/>
          <p:cNvSpPr/>
          <p:nvPr/>
        </p:nvSpPr>
        <p:spPr>
          <a:xfrm>
            <a:off x="4190234" y="2051685"/>
            <a:ext cx="290036" cy="290036"/>
          </a:xfrm>
          <a:prstGeom prst="rect">
            <a:avLst/>
          </a:prstGeom>
          <a:noFill/>
          <a:ln/>
        </p:spPr>
        <p:txBody>
          <a:bodyPr wrap="none" lIns="0" tIns="0" rIns="0" bIns="0" rtlCol="0" anchor="ctr"/>
          <a:lstStyle/>
          <a:p>
            <a:pPr algn="ctr" indent="0" marL="0">
              <a:buNone/>
            </a:pPr>
            <a:r>
              <a:rPr lang="en-US" sz="1969" dirty="0">
                <a:solidFill>
                  <a:srgbClr val="DC2626"/>
                </a:solidFill>
                <a:latin typeface="Segoe UI Symbol" pitchFamily="34" charset="0"/>
                <a:ea typeface="Segoe UI Symbol" pitchFamily="34" charset="-122"/>
                <a:cs typeface="Segoe UI Symbol" pitchFamily="34" charset="-120"/>
              </a:rPr>
              <a:t>✦</a:t>
            </a:r>
            <a:endParaRPr lang="en-US" sz="1969" dirty="0"/>
          </a:p>
        </p:txBody>
      </p:sp>
      <p:sp>
        <p:nvSpPr>
          <p:cNvPr id="34" name="Text 29"/>
          <p:cNvSpPr/>
          <p:nvPr/>
        </p:nvSpPr>
        <p:spPr>
          <a:xfrm>
            <a:off x="3101280" y="2051596"/>
            <a:ext cx="1128060" cy="157319"/>
          </a:xfrm>
          <a:prstGeom prst="rect">
            <a:avLst/>
          </a:prstGeom>
          <a:noFill/>
          <a:ln/>
        </p:spPr>
        <p:txBody>
          <a:bodyPr wrap="none" lIns="0" tIns="0" rIns="0" bIns="0" rtlCol="0" anchor="t"/>
          <a:lstStyle/>
          <a:p>
            <a:pPr algn="l" indent="0" marL="0">
              <a:lnSpc>
                <a:spcPts val="1148"/>
              </a:lnSpc>
              <a:buNone/>
            </a:pPr>
            <a:r>
              <a:rPr lang="en-US" sz="956" b="1" dirty="0">
                <a:solidFill>
                  <a:srgbClr val="0F172A"/>
                </a:solidFill>
                <a:latin typeface="Carlito" pitchFamily="34" charset="0"/>
                <a:ea typeface="Carlito" pitchFamily="34" charset="-122"/>
                <a:cs typeface="Carlito" pitchFamily="34" charset="-120"/>
              </a:rPr>
              <a:t>العضلات الملساء</a:t>
            </a:r>
            <a:endParaRPr lang="en-US" sz="956" dirty="0"/>
          </a:p>
        </p:txBody>
      </p:sp>
      <p:sp>
        <p:nvSpPr>
          <p:cNvPr id="35" name="Text 30"/>
          <p:cNvSpPr/>
          <p:nvPr/>
        </p:nvSpPr>
        <p:spPr>
          <a:xfrm>
            <a:off x="2575322" y="2058739"/>
            <a:ext cx="609103" cy="164592"/>
          </a:xfrm>
          <a:prstGeom prst="rect">
            <a:avLst/>
          </a:prstGeom>
          <a:noFill/>
          <a:ln/>
        </p:spPr>
        <p:txBody>
          <a:bodyPr wrap="none" lIns="0" tIns="0" rIns="0" bIns="0" rtlCol="0" anchor="t"/>
          <a:lstStyle/>
          <a:p>
            <a:pPr algn="l" indent="0" marL="0">
              <a:lnSpc>
                <a:spcPts val="1097"/>
              </a:lnSpc>
              <a:buNone/>
            </a:pPr>
            <a:r>
              <a:rPr lang="en-US" sz="800" b="1" dirty="0">
                <a:solidFill>
                  <a:srgbClr val="DC2626"/>
                </a:solidFill>
                <a:latin typeface="Carlito" pitchFamily="34" charset="0"/>
                <a:ea typeface="Carlito" pitchFamily="34" charset="-122"/>
                <a:cs typeface="Carlito" pitchFamily="34" charset="-120"/>
              </a:rPr>
              <a:t>لا إرادية</a:t>
            </a:r>
            <a:endParaRPr lang="en-US" sz="800" dirty="0"/>
          </a:p>
        </p:txBody>
      </p:sp>
      <p:sp>
        <p:nvSpPr>
          <p:cNvPr id="36" name="Text 31"/>
          <p:cNvSpPr/>
          <p:nvPr/>
        </p:nvSpPr>
        <p:spPr>
          <a:xfrm>
            <a:off x="521494" y="2212330"/>
            <a:ext cx="3542295" cy="155823"/>
          </a:xfrm>
          <a:prstGeom prst="rect">
            <a:avLst/>
          </a:prstGeom>
          <a:noFill/>
          <a:ln/>
        </p:spPr>
        <p:txBody>
          <a:bodyPr wrap="square" lIns="0" tIns="0" rIns="0" bIns="0" rtlCol="0" anchor="t"/>
          <a:lstStyle/>
          <a:p>
            <a:pPr algn="l" indent="0" marL="0">
              <a:lnSpc>
                <a:spcPts val="1020"/>
              </a:lnSpc>
              <a:buNone/>
            </a:pPr>
            <a:r>
              <a:rPr lang="en-US" sz="800" dirty="0">
                <a:solidFill>
                  <a:srgbClr val="334155"/>
                </a:solidFill>
                <a:latin typeface="Carlito" pitchFamily="34" charset="0"/>
                <a:ea typeface="Carlito" pitchFamily="34" charset="-122"/>
                <a:cs typeface="Carlito" pitchFamily="34" charset="-120"/>
              </a:rPr>
              <a:t>تبطّن الأعضاء الداخلية — المعدة والأمعاء والأوعية</a:t>
            </a:r>
            <a:endParaRPr lang="en-US" sz="800" dirty="0"/>
          </a:p>
        </p:txBody>
      </p:sp>
      <p:sp>
        <p:nvSpPr>
          <p:cNvPr id="37" name="Text 32"/>
          <p:cNvSpPr/>
          <p:nvPr/>
        </p:nvSpPr>
        <p:spPr>
          <a:xfrm>
            <a:off x="400050" y="2546747"/>
            <a:ext cx="4249527" cy="557213"/>
          </a:xfrm>
          <a:prstGeom prst="roundRect">
            <a:avLst>
              <a:gd name="adj" fmla="val 20513"/>
            </a:avLst>
          </a:prstGeom>
          <a:solidFill>
            <a:srgbClr val="F8FAFC"/>
          </a:solidFill>
          <a:ln/>
          <a:effectLst>
            <a:outerShdw sx="100000" sy="100000" kx="0" ky="0" algn="bl" rotWithShape="0" blurRad="133350" dist="38100" dir="5400000">
              <a:srgbClr val="0F172A">
                <a:alpha val="4000"/>
              </a:srgbClr>
            </a:outerShdw>
          </a:effectLst>
        </p:spPr>
        <p:txBody>
          <a:bodyPr wrap="square" rtlCol="0" anchor="ctr"/>
          <a:lstStyle/>
          <a:p>
            <a:pPr indent="0" marL="0">
              <a:buNone/>
            </a:pPr>
            <a:endParaRPr lang="en-US" dirty="0"/>
          </a:p>
        </p:txBody>
      </p:sp>
      <p:sp>
        <p:nvSpPr>
          <p:cNvPr id="38" name="Shape 33"/>
          <p:cNvSpPr/>
          <p:nvPr/>
        </p:nvSpPr>
        <p:spPr>
          <a:xfrm>
            <a:off x="400050" y="2550319"/>
            <a:ext cx="4249527" cy="0"/>
          </a:xfrm>
          <a:prstGeom prst="line">
            <a:avLst/>
          </a:prstGeom>
          <a:noFill/>
          <a:ln w="7144">
            <a:solidFill>
              <a:srgbClr val="E2E8F0"/>
            </a:solidFill>
            <a:prstDash val="solid"/>
          </a:ln>
        </p:spPr>
      </p:sp>
      <p:sp>
        <p:nvSpPr>
          <p:cNvPr id="39" name="Shape 34"/>
          <p:cNvSpPr/>
          <p:nvPr/>
        </p:nvSpPr>
        <p:spPr>
          <a:xfrm>
            <a:off x="4635289" y="2546747"/>
            <a:ext cx="0" cy="557213"/>
          </a:xfrm>
          <a:prstGeom prst="line">
            <a:avLst/>
          </a:prstGeom>
          <a:noFill/>
          <a:ln w="28575">
            <a:solidFill>
              <a:srgbClr val="0D9488"/>
            </a:solidFill>
            <a:prstDash val="solid"/>
          </a:ln>
        </p:spPr>
      </p:sp>
      <p:sp>
        <p:nvSpPr>
          <p:cNvPr id="40" name="Shape 35"/>
          <p:cNvSpPr/>
          <p:nvPr/>
        </p:nvSpPr>
        <p:spPr>
          <a:xfrm>
            <a:off x="400050" y="3100388"/>
            <a:ext cx="4249527" cy="0"/>
          </a:xfrm>
          <a:prstGeom prst="line">
            <a:avLst/>
          </a:prstGeom>
          <a:noFill/>
          <a:ln w="7144">
            <a:solidFill>
              <a:srgbClr val="E2E8F0"/>
            </a:solidFill>
            <a:prstDash val="solid"/>
          </a:ln>
        </p:spPr>
      </p:sp>
      <p:sp>
        <p:nvSpPr>
          <p:cNvPr id="41" name="Shape 36"/>
          <p:cNvSpPr/>
          <p:nvPr/>
        </p:nvSpPr>
        <p:spPr>
          <a:xfrm>
            <a:off x="403622" y="2546747"/>
            <a:ext cx="0" cy="557213"/>
          </a:xfrm>
          <a:prstGeom prst="line">
            <a:avLst/>
          </a:prstGeom>
          <a:noFill/>
          <a:ln w="7144">
            <a:solidFill>
              <a:srgbClr val="E2E8F0"/>
            </a:solidFill>
            <a:prstDash val="solid"/>
          </a:ln>
        </p:spPr>
      </p:sp>
      <p:sp>
        <p:nvSpPr>
          <p:cNvPr id="42" name="Text 37"/>
          <p:cNvSpPr/>
          <p:nvPr/>
        </p:nvSpPr>
        <p:spPr>
          <a:xfrm>
            <a:off x="4163802" y="2653903"/>
            <a:ext cx="342900" cy="342900"/>
          </a:xfrm>
          <a:prstGeom prst="roundRect">
            <a:avLst>
              <a:gd name="adj" fmla="val 33333"/>
            </a:avLst>
          </a:prstGeom>
          <a:solidFill>
            <a:srgbClr val="CCFBF1"/>
          </a:solidFill>
          <a:ln/>
        </p:spPr>
        <p:txBody>
          <a:bodyPr wrap="square" rtlCol="0" anchor="ctr"/>
          <a:lstStyle/>
          <a:p>
            <a:pPr indent="0" marL="0">
              <a:buNone/>
            </a:pPr>
            <a:endParaRPr lang="en-US" dirty="0"/>
          </a:p>
        </p:txBody>
      </p:sp>
      <p:sp>
        <p:nvSpPr>
          <p:cNvPr id="43" name="Text 38"/>
          <p:cNvSpPr/>
          <p:nvPr/>
        </p:nvSpPr>
        <p:spPr>
          <a:xfrm>
            <a:off x="4190234" y="2680335"/>
            <a:ext cx="290036" cy="290036"/>
          </a:xfrm>
          <a:prstGeom prst="rect">
            <a:avLst/>
          </a:prstGeom>
          <a:noFill/>
          <a:ln/>
        </p:spPr>
        <p:txBody>
          <a:bodyPr wrap="none" lIns="0" tIns="0" rIns="0" bIns="0" rtlCol="0" anchor="ctr"/>
          <a:lstStyle/>
          <a:p>
            <a:pPr algn="ctr" indent="0" marL="0">
              <a:buNone/>
            </a:pPr>
            <a:r>
              <a:rPr lang="en-US" sz="1969" dirty="0">
                <a:solidFill>
                  <a:srgbClr val="0D9488"/>
                </a:solidFill>
                <a:latin typeface="Segoe UI Symbol" pitchFamily="34" charset="0"/>
                <a:ea typeface="Segoe UI Symbol" pitchFamily="34" charset="-122"/>
                <a:cs typeface="Segoe UI Symbol" pitchFamily="34" charset="-120"/>
              </a:rPr>
              <a:t>♥</a:t>
            </a:r>
            <a:endParaRPr lang="en-US" sz="1969" dirty="0"/>
          </a:p>
        </p:txBody>
      </p:sp>
      <p:sp>
        <p:nvSpPr>
          <p:cNvPr id="44" name="Text 39"/>
          <p:cNvSpPr/>
          <p:nvPr/>
        </p:nvSpPr>
        <p:spPr>
          <a:xfrm>
            <a:off x="3101280" y="2680246"/>
            <a:ext cx="1128060" cy="157319"/>
          </a:xfrm>
          <a:prstGeom prst="rect">
            <a:avLst/>
          </a:prstGeom>
          <a:noFill/>
          <a:ln/>
        </p:spPr>
        <p:txBody>
          <a:bodyPr wrap="none" lIns="0" tIns="0" rIns="0" bIns="0" rtlCol="0" anchor="t"/>
          <a:lstStyle/>
          <a:p>
            <a:pPr algn="l" indent="0" marL="0">
              <a:lnSpc>
                <a:spcPts val="1148"/>
              </a:lnSpc>
              <a:buNone/>
            </a:pPr>
            <a:r>
              <a:rPr lang="en-US" sz="956" b="1" dirty="0">
                <a:solidFill>
                  <a:srgbClr val="0F172A"/>
                </a:solidFill>
                <a:latin typeface="Carlito" pitchFamily="34" charset="0"/>
                <a:ea typeface="Carlito" pitchFamily="34" charset="-122"/>
                <a:cs typeface="Carlito" pitchFamily="34" charset="-120"/>
              </a:rPr>
              <a:t>العضلة القلبية</a:t>
            </a:r>
            <a:endParaRPr lang="en-US" sz="956" dirty="0"/>
          </a:p>
        </p:txBody>
      </p:sp>
      <p:sp>
        <p:nvSpPr>
          <p:cNvPr id="45" name="Text 40"/>
          <p:cNvSpPr/>
          <p:nvPr/>
        </p:nvSpPr>
        <p:spPr>
          <a:xfrm>
            <a:off x="2378087" y="2687389"/>
            <a:ext cx="778976" cy="164592"/>
          </a:xfrm>
          <a:prstGeom prst="rect">
            <a:avLst/>
          </a:prstGeom>
          <a:noFill/>
          <a:ln/>
        </p:spPr>
        <p:txBody>
          <a:bodyPr wrap="none" lIns="0" tIns="0" rIns="0" bIns="0" rtlCol="0" anchor="t"/>
          <a:lstStyle/>
          <a:p>
            <a:pPr algn="l" indent="0" marL="0">
              <a:lnSpc>
                <a:spcPts val="1097"/>
              </a:lnSpc>
              <a:buNone/>
            </a:pPr>
            <a:r>
              <a:rPr lang="en-US" sz="800" b="1" dirty="0">
                <a:solidFill>
                  <a:srgbClr val="0D9488"/>
                </a:solidFill>
                <a:latin typeface="Carlito" pitchFamily="34" charset="0"/>
                <a:ea typeface="Carlito" pitchFamily="34" charset="-122"/>
                <a:cs typeface="Carlito" pitchFamily="34" charset="-120"/>
              </a:rPr>
              <a:t>فقط في القلب</a:t>
            </a:r>
            <a:endParaRPr lang="en-US" sz="800" dirty="0"/>
          </a:p>
        </p:txBody>
      </p:sp>
      <p:sp>
        <p:nvSpPr>
          <p:cNvPr id="46" name="Text 41"/>
          <p:cNvSpPr/>
          <p:nvPr/>
        </p:nvSpPr>
        <p:spPr>
          <a:xfrm>
            <a:off x="521494" y="2840980"/>
            <a:ext cx="3825679" cy="155823"/>
          </a:xfrm>
          <a:prstGeom prst="rect">
            <a:avLst/>
          </a:prstGeom>
          <a:noFill/>
          <a:ln/>
        </p:spPr>
        <p:txBody>
          <a:bodyPr wrap="square" lIns="0" tIns="0" rIns="0" bIns="0" rtlCol="0" anchor="t"/>
          <a:lstStyle/>
          <a:p>
            <a:pPr algn="l" indent="0" marL="0">
              <a:lnSpc>
                <a:spcPts val="1020"/>
              </a:lnSpc>
              <a:buNone/>
            </a:pPr>
            <a:r>
              <a:rPr lang="en-US" sz="800" dirty="0">
                <a:solidFill>
                  <a:srgbClr val="334155"/>
                </a:solidFill>
                <a:latin typeface="Carlito" pitchFamily="34" charset="0"/>
                <a:ea typeface="Carlito" pitchFamily="34" charset="-122"/>
                <a:cs typeface="Carlito" pitchFamily="34" charset="-120"/>
              </a:rPr>
              <a:t>تنقبض لا إرائياً مدى الحياة — </a:t>
            </a:r>
            <a:pPr algn="l" indent="0" marL="0">
              <a:lnSpc>
                <a:spcPts val="1020"/>
              </a:lnSpc>
              <a:buNone/>
            </a:pPr>
            <a:r>
              <a:rPr lang="en-US" sz="800" b="1" dirty="0">
                <a:solidFill>
                  <a:srgbClr val="0D9488"/>
                </a:solidFill>
                <a:latin typeface="Carlito" pitchFamily="34" charset="0"/>
                <a:ea typeface="Carlito" pitchFamily="34" charset="-122"/>
                <a:cs typeface="Carlito" pitchFamily="34" charset="-120"/>
              </a:rPr>
              <a:t>~3</a:t>
            </a:r>
            <a:pPr algn="l" indent="0" marL="0">
              <a:lnSpc>
                <a:spcPts val="1020"/>
              </a:lnSpc>
              <a:buNone/>
            </a:pPr>
            <a:r>
              <a:rPr lang="en-US" sz="800" dirty="0">
                <a:solidFill>
                  <a:srgbClr val="334155"/>
                </a:solidFill>
                <a:latin typeface="Carlito" pitchFamily="34" charset="0"/>
                <a:ea typeface="Carlito" pitchFamily="34" charset="-122"/>
                <a:cs typeface="Carlito" pitchFamily="34" charset="-120"/>
              </a:rPr>
              <a:t> مليار مرة</a:t>
            </a:r>
            <a:endParaRPr lang="en-US" sz="800" dirty="0"/>
          </a:p>
        </p:txBody>
      </p:sp>
      <p:sp>
        <p:nvSpPr>
          <p:cNvPr id="47" name="Text 42"/>
          <p:cNvSpPr/>
          <p:nvPr/>
        </p:nvSpPr>
        <p:spPr>
          <a:xfrm>
            <a:off x="400050" y="3175397"/>
            <a:ext cx="4249527" cy="300038"/>
          </a:xfrm>
          <a:prstGeom prst="roundRect">
            <a:avLst>
              <a:gd name="adj" fmla="val 25397"/>
            </a:avLst>
          </a:prstGeom>
          <a:solidFill>
            <a:srgbClr val="E2E8F0"/>
          </a:solidFill>
          <a:ln/>
        </p:spPr>
        <p:txBody>
          <a:bodyPr wrap="square" rtlCol="0" anchor="ctr"/>
          <a:lstStyle/>
          <a:p>
            <a:pPr indent="0" marL="0">
              <a:buNone/>
            </a:pPr>
            <a:endParaRPr lang="en-US" dirty="0"/>
          </a:p>
        </p:txBody>
      </p:sp>
      <p:sp>
        <p:nvSpPr>
          <p:cNvPr id="48" name="Text 43"/>
          <p:cNvSpPr/>
          <p:nvPr/>
        </p:nvSpPr>
        <p:spPr>
          <a:xfrm>
            <a:off x="4392402" y="3246834"/>
            <a:ext cx="157163" cy="157163"/>
          </a:xfrm>
          <a:prstGeom prst="rect">
            <a:avLst/>
          </a:prstGeom>
          <a:noFill/>
          <a:ln/>
        </p:spPr>
        <p:txBody>
          <a:bodyPr wrap="none" lIns="0" tIns="0" rIns="0" bIns="0" rtlCol="0" anchor="ctr"/>
          <a:lstStyle/>
          <a:p>
            <a:pPr algn="ctr" indent="0" marL="0">
              <a:buNone/>
            </a:pPr>
            <a:r>
              <a:rPr lang="en-US" sz="1547" dirty="0">
                <a:solidFill>
                  <a:srgbClr val="DC2626"/>
                </a:solidFill>
                <a:latin typeface="Segoe UI Symbol" pitchFamily="34" charset="0"/>
                <a:ea typeface="Segoe UI Symbol" pitchFamily="34" charset="-122"/>
                <a:cs typeface="Segoe UI Symbol" pitchFamily="34" charset="-120"/>
              </a:rPr>
              <a:t>⚡</a:t>
            </a:r>
            <a:endParaRPr lang="en-US" sz="1547" dirty="0"/>
          </a:p>
        </p:txBody>
      </p:sp>
      <p:sp>
        <p:nvSpPr>
          <p:cNvPr id="49" name="Text 44"/>
          <p:cNvSpPr/>
          <p:nvPr/>
        </p:nvSpPr>
        <p:spPr>
          <a:xfrm>
            <a:off x="1131838" y="3255764"/>
            <a:ext cx="3224845" cy="148233"/>
          </a:xfrm>
          <a:prstGeom prst="rect">
            <a:avLst/>
          </a:prstGeom>
          <a:noFill/>
          <a:ln/>
        </p:spPr>
        <p:txBody>
          <a:bodyPr wrap="square" lIns="0" tIns="0" rIns="0" bIns="0" rtlCol="0" anchor="t"/>
          <a:lstStyle/>
          <a:p>
            <a:pPr algn="l" indent="0" marL="0">
              <a:lnSpc>
                <a:spcPts val="1097"/>
              </a:lnSpc>
              <a:buNone/>
            </a:pPr>
            <a:r>
              <a:rPr lang="en-US" sz="800" b="1" dirty="0">
                <a:solidFill>
                  <a:srgbClr val="0F172A"/>
                </a:solidFill>
                <a:latin typeface="Carlito" pitchFamily="34" charset="0"/>
                <a:ea typeface="Carlito" pitchFamily="34" charset="-122"/>
                <a:cs typeface="Carlito" pitchFamily="34" charset="-120"/>
              </a:rPr>
              <a:t>معلومة:</a:t>
            </a:r>
            <a:pPr algn="l" indent="0" marL="0">
              <a:lnSpc>
                <a:spcPts val="1097"/>
              </a:lnSpc>
              <a:buNone/>
            </a:pPr>
            <a:r>
              <a:rPr lang="en-US" sz="800" dirty="0">
                <a:solidFill>
                  <a:srgbClr val="334155"/>
                </a:solidFill>
                <a:latin typeface="Carlito" pitchFamily="34" charset="0"/>
                <a:ea typeface="Carlito" pitchFamily="34" charset="-122"/>
                <a:cs typeface="Carlito" pitchFamily="34" charset="-120"/>
              </a:rPr>
              <a:t> أصغر عضلة في الجسم هي الرِكابية في الأذن الوسطى (</a:t>
            </a:r>
            <a:pPr algn="l" indent="0" marL="0">
              <a:lnSpc>
                <a:spcPts val="1097"/>
              </a:lnSpc>
              <a:buNone/>
            </a:pPr>
            <a:r>
              <a:rPr lang="en-US" sz="800" b="1" dirty="0">
                <a:solidFill>
                  <a:srgbClr val="334155"/>
                </a:solidFill>
                <a:latin typeface="Liberation Sans Narrow" pitchFamily="34" charset="0"/>
                <a:ea typeface="Liberation Sans Narrow" pitchFamily="34" charset="-122"/>
                <a:cs typeface="Liberation Sans Narrow" pitchFamily="34" charset="-120"/>
              </a:rPr>
              <a:t>~1.3</a:t>
            </a:r>
            <a:pPr algn="l" indent="0" marL="0">
              <a:lnSpc>
                <a:spcPts val="1097"/>
              </a:lnSpc>
              <a:buNone/>
            </a:pPr>
            <a:r>
              <a:rPr lang="en-US" sz="800" dirty="0">
                <a:solidFill>
                  <a:srgbClr val="334155"/>
                </a:solidFill>
                <a:latin typeface="Carlito" pitchFamily="34" charset="0"/>
                <a:ea typeface="Carlito" pitchFamily="34" charset="-122"/>
                <a:cs typeface="Carlito" pitchFamily="34" charset="-120"/>
              </a:rPr>
              <a:t> ملم)</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8486775" y="200025"/>
            <a:ext cx="257175" cy="257175"/>
          </a:xfrm>
          <a:prstGeom prst="ellipse">
            <a:avLst/>
          </a:prstGeom>
          <a:solidFill>
            <a:srgbClr val="DC2626"/>
          </a:solidFill>
          <a:ln/>
        </p:spPr>
        <p:txBody>
          <a:bodyPr wrap="square" rtlCol="0" anchor="ctr"/>
          <a:lstStyle/>
          <a:p>
            <a:pPr indent="0" marL="0">
              <a:buNone/>
            </a:pPr>
            <a:endParaRPr lang="en-US" dirty="0"/>
          </a:p>
        </p:txBody>
      </p:sp>
      <p:sp>
        <p:nvSpPr>
          <p:cNvPr id="5" name="Text 1"/>
          <p:cNvSpPr/>
          <p:nvPr/>
        </p:nvSpPr>
        <p:spPr>
          <a:xfrm>
            <a:off x="8486775" y="200025"/>
            <a:ext cx="257175" cy="257175"/>
          </a:xfrm>
          <a:prstGeom prst="rect">
            <a:avLst/>
          </a:prstGeom>
          <a:noFill/>
          <a:ln/>
        </p:spPr>
        <p:txBody>
          <a:bodyPr wrap="none" lIns="0" tIns="0" rIns="0" bIns="0" rtlCol="0" anchor="ctr"/>
          <a:lstStyle/>
          <a:p>
            <a:pPr algn="ctr" indent="0" marL="0">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03</a:t>
            </a:r>
            <a:endParaRPr lang="en-US" sz="800" dirty="0"/>
          </a:p>
        </p:txBody>
      </p:sp>
      <p:sp>
        <p:nvSpPr>
          <p:cNvPr id="6" name="Text 2"/>
          <p:cNvSpPr/>
          <p:nvPr/>
        </p:nvSpPr>
        <p:spPr>
          <a:xfrm>
            <a:off x="6590444" y="207169"/>
            <a:ext cx="2227538" cy="262319"/>
          </a:xfrm>
          <a:prstGeom prst="rect">
            <a:avLst/>
          </a:prstGeom>
          <a:noFill/>
          <a:ln/>
        </p:spPr>
        <p:txBody>
          <a:bodyPr wrap="none" lIns="0" tIns="0" rIns="0" bIns="0" rtlCol="0" anchor="t"/>
          <a:lstStyle/>
          <a:p>
            <a:pPr algn="l" indent="0" marL="0">
              <a:lnSpc>
                <a:spcPts val="1913"/>
              </a:lnSpc>
              <a:buNone/>
            </a:pPr>
            <a:r>
              <a:rPr lang="en-US" sz="1913" b="1" dirty="0">
                <a:solidFill>
                  <a:srgbClr val="1E40AF"/>
                </a:solidFill>
                <a:latin typeface="Carlito" pitchFamily="34" charset="0"/>
                <a:ea typeface="Carlito" pitchFamily="34" charset="-122"/>
                <a:cs typeface="Carlito" pitchFamily="34" charset="-120"/>
              </a:rPr>
              <a:t>الجهاز الدوري</a:t>
            </a:r>
            <a:endParaRPr lang="en-US" sz="1913" dirty="0"/>
          </a:p>
        </p:txBody>
      </p:sp>
      <p:sp>
        <p:nvSpPr>
          <p:cNvPr id="7" name="Text 3"/>
          <p:cNvSpPr/>
          <p:nvPr/>
        </p:nvSpPr>
        <p:spPr>
          <a:xfrm>
            <a:off x="5645460" y="258961"/>
            <a:ext cx="1030152" cy="164592"/>
          </a:xfrm>
          <a:prstGeom prst="rect">
            <a:avLst/>
          </a:prstGeom>
          <a:noFill/>
          <a:ln/>
        </p:spPr>
        <p:txBody>
          <a:bodyPr wrap="none" lIns="0" tIns="0" rIns="0" bIns="0" rtlCol="0" anchor="t"/>
          <a:lstStyle/>
          <a:p>
            <a:pPr algn="l" indent="0" marL="0">
              <a:lnSpc>
                <a:spcPts val="1097"/>
              </a:lnSpc>
              <a:buNone/>
            </a:pPr>
            <a:r>
              <a:rPr lang="en-US" sz="731" i="1" spc="23" kern="0" dirty="0">
                <a:solidFill>
                  <a:srgbClr val="64748B"/>
                </a:solidFill>
                <a:latin typeface="Carlito" pitchFamily="34" charset="0"/>
                <a:ea typeface="Carlito" pitchFamily="34" charset="-122"/>
                <a:cs typeface="Carlito" pitchFamily="34" charset="-120"/>
              </a:rPr>
              <a:t>Circulatory System</a:t>
            </a:r>
            <a:endParaRPr lang="en-US" sz="731" dirty="0"/>
          </a:p>
        </p:txBody>
      </p:sp>
      <p:sp>
        <p:nvSpPr>
          <p:cNvPr id="8" name="Text 4"/>
          <p:cNvSpPr/>
          <p:nvPr/>
        </p:nvSpPr>
        <p:spPr>
          <a:xfrm>
            <a:off x="8343900" y="528638"/>
            <a:ext cx="400050" cy="28575"/>
          </a:xfrm>
          <a:prstGeom prst="roundRect">
            <a:avLst>
              <a:gd name="adj" fmla="val 66667"/>
            </a:avLst>
          </a:prstGeom>
          <a:solidFill>
            <a:srgbClr val="DC2626"/>
          </a:solidFill>
          <a:ln/>
        </p:spPr>
        <p:txBody>
          <a:bodyPr wrap="square" rtlCol="0" anchor="ctr"/>
          <a:lstStyle/>
          <a:p>
            <a:pPr indent="0" marL="0">
              <a:buNone/>
            </a:pPr>
            <a:endParaRPr lang="en-US" dirty="0"/>
          </a:p>
        </p:txBody>
      </p:sp>
      <p:sp>
        <p:nvSpPr>
          <p:cNvPr id="9" name="Text 5"/>
          <p:cNvSpPr/>
          <p:nvPr/>
        </p:nvSpPr>
        <p:spPr>
          <a:xfrm>
            <a:off x="4249303" y="671513"/>
            <a:ext cx="4494647" cy="369126"/>
          </a:xfrm>
          <a:prstGeom prst="rect">
            <a:avLst/>
          </a:prstGeom>
          <a:noFill/>
          <a:ln/>
        </p:spPr>
        <p:txBody>
          <a:bodyPr wrap="square" lIns="0" tIns="0" rIns="0" bIns="0" rtlCol="0" anchor="t"/>
          <a:lstStyle/>
          <a:p>
            <a:pPr algn="l" indent="0" marL="0">
              <a:lnSpc>
                <a:spcPts val="1346"/>
              </a:lnSpc>
              <a:buNone/>
            </a:pPr>
            <a:r>
              <a:rPr lang="en-US" sz="816" dirty="0">
                <a:solidFill>
                  <a:srgbClr val="334155"/>
                </a:solidFill>
                <a:latin typeface="Carlito" pitchFamily="34" charset="0"/>
                <a:ea typeface="Carlito" pitchFamily="34" charset="-122"/>
                <a:cs typeface="Carlito" pitchFamily="34" charset="-120"/>
              </a:rPr>
              <a:t>الجهاز الدوري هو شبكة النقل في الجسم — يضخ القلب الدم عبر آلاف الكيلومترات من الأوعية الدموية ليوصّل الأكسجين والغذاء إلى كل خلية وينقل الفضلات بعيداً.</a:t>
            </a:r>
            <a:endParaRPr lang="en-US" sz="816" dirty="0"/>
          </a:p>
        </p:txBody>
      </p:sp>
      <p:sp>
        <p:nvSpPr>
          <p:cNvPr id="10" name="Text 6"/>
          <p:cNvSpPr/>
          <p:nvPr/>
        </p:nvSpPr>
        <p:spPr>
          <a:xfrm>
            <a:off x="7297006" y="1102593"/>
            <a:ext cx="1443372" cy="804007"/>
          </a:xfrm>
          <a:prstGeom prst="roundRect">
            <a:avLst>
              <a:gd name="adj" fmla="val 16586"/>
            </a:avLst>
          </a:prstGeom>
          <a:solidFill>
            <a:srgbClr val="F8FAFC"/>
          </a:solidFill>
          <a:ln w="7144">
            <a:solidFill>
              <a:srgbClr val="E2E8F0"/>
            </a:solidFill>
            <a:prstDash val="solid"/>
          </a:ln>
          <a:effectLst>
            <a:outerShdw sx="100000" sy="100000" kx="0" ky="0" algn="bl" rotWithShape="0" blurRad="133350" dist="38100" dir="5400000">
              <a:srgbClr val="0F172A">
                <a:alpha val="5000"/>
              </a:srgbClr>
            </a:outerShdw>
          </a:effectLst>
        </p:spPr>
        <p:txBody>
          <a:bodyPr wrap="square" rtlCol="0" anchor="ctr"/>
          <a:lstStyle/>
          <a:p>
            <a:pPr indent="0" marL="0">
              <a:buNone/>
            </a:pPr>
            <a:endParaRPr lang="en-US" dirty="0"/>
          </a:p>
        </p:txBody>
      </p:sp>
      <p:sp>
        <p:nvSpPr>
          <p:cNvPr id="11" name="Text 7"/>
          <p:cNvSpPr/>
          <p:nvPr/>
        </p:nvSpPr>
        <p:spPr>
          <a:xfrm>
            <a:off x="7372015" y="1177603"/>
            <a:ext cx="128588" cy="128588"/>
          </a:xfrm>
          <a:prstGeom prst="rect">
            <a:avLst/>
          </a:prstGeom>
          <a:noFill/>
          <a:ln/>
        </p:spPr>
        <p:txBody>
          <a:bodyPr wrap="none" lIns="0" tIns="0" rIns="0" bIns="0" rtlCol="0" anchor="ctr"/>
          <a:lstStyle/>
          <a:p>
            <a:pPr algn="ctr" indent="0" marL="0">
              <a:buNone/>
            </a:pPr>
            <a:r>
              <a:rPr lang="en-US" sz="1266" dirty="0">
                <a:solidFill>
                  <a:srgbClr val="DC2626"/>
                </a:solidFill>
                <a:latin typeface="Segoe UI Symbol" pitchFamily="34" charset="0"/>
                <a:ea typeface="Segoe UI Symbol" pitchFamily="34" charset="-122"/>
                <a:cs typeface="Segoe UI Symbol" pitchFamily="34" charset="-120"/>
              </a:rPr>
              <a:t>✦</a:t>
            </a:r>
            <a:endParaRPr lang="en-US" sz="1266" dirty="0"/>
          </a:p>
        </p:txBody>
      </p:sp>
      <p:sp>
        <p:nvSpPr>
          <p:cNvPr id="12" name="Text 8"/>
          <p:cNvSpPr/>
          <p:nvPr/>
        </p:nvSpPr>
        <p:spPr>
          <a:xfrm>
            <a:off x="7340959" y="1206178"/>
            <a:ext cx="1355467" cy="258318"/>
          </a:xfrm>
          <a:prstGeom prst="rect">
            <a:avLst/>
          </a:prstGeom>
          <a:noFill/>
          <a:ln/>
        </p:spPr>
        <p:txBody>
          <a:bodyPr wrap="none" lIns="0" tIns="0" rIns="0" bIns="0" rtlCol="0" anchor="t">
            <a:normAutofit/>
          </a:bodyPr>
          <a:lstStyle/>
          <a:p>
            <a:pPr algn="l" indent="0" marL="0">
              <a:lnSpc>
                <a:spcPts val="2025"/>
              </a:lnSpc>
              <a:buNone/>
            </a:pPr>
            <a:r>
              <a:rPr lang="en-US" sz="2025" b="1" spc="-56" kern="0" dirty="0">
                <a:solidFill>
                  <a:srgbClr val="DC2626"/>
                </a:solidFill>
                <a:latin typeface="Liberation Sans Narrow" pitchFamily="34" charset="0"/>
                <a:ea typeface="Liberation Sans Narrow" pitchFamily="34" charset="-122"/>
                <a:cs typeface="Liberation Sans Narrow" pitchFamily="34" charset="-120"/>
              </a:rPr>
              <a:t>100,000</a:t>
            </a:r>
            <a:endParaRPr lang="en-US" sz="2025" dirty="0"/>
          </a:p>
        </p:txBody>
      </p:sp>
      <p:sp>
        <p:nvSpPr>
          <p:cNvPr id="13" name="Text 9"/>
          <p:cNvSpPr/>
          <p:nvPr/>
        </p:nvSpPr>
        <p:spPr>
          <a:xfrm>
            <a:off x="7400590" y="1491928"/>
            <a:ext cx="1236204" cy="158306"/>
          </a:xfrm>
          <a:prstGeom prst="rect">
            <a:avLst/>
          </a:prstGeom>
          <a:noFill/>
          <a:ln/>
        </p:spPr>
        <p:txBody>
          <a:bodyPr wrap="none" lIns="0" tIns="0" rIns="0" bIns="0" rtlCol="0" anchor="t">
            <a:normAutofit/>
          </a:bodyPr>
          <a:lstStyle/>
          <a:p>
            <a:pPr algn="l" indent="0" marL="0">
              <a:lnSpc>
                <a:spcPts val="1013"/>
              </a:lnSpc>
              <a:buNone/>
            </a:pPr>
            <a:r>
              <a:rPr lang="en-US" sz="800" dirty="0">
                <a:solidFill>
                  <a:srgbClr val="64748B"/>
                </a:solidFill>
                <a:latin typeface="Carlito" pitchFamily="34" charset="0"/>
                <a:ea typeface="Carlito" pitchFamily="34" charset="-122"/>
                <a:cs typeface="Carlito" pitchFamily="34" charset="-120"/>
              </a:rPr>
              <a:t>كم</a:t>
            </a:r>
            <a:endParaRPr lang="en-US" sz="800" dirty="0"/>
          </a:p>
        </p:txBody>
      </p:sp>
      <p:sp>
        <p:nvSpPr>
          <p:cNvPr id="14" name="Text 10"/>
          <p:cNvSpPr/>
          <p:nvPr/>
        </p:nvSpPr>
        <p:spPr>
          <a:xfrm>
            <a:off x="7400590" y="1677665"/>
            <a:ext cx="1236204" cy="125350"/>
          </a:xfrm>
          <a:prstGeom prst="rect">
            <a:avLst/>
          </a:prstGeom>
          <a:noFill/>
          <a:ln/>
        </p:spPr>
        <p:txBody>
          <a:bodyPr wrap="none" lIns="0" tIns="0" rIns="0" bIns="0" rtlCol="0" anchor="t"/>
          <a:lstStyle/>
          <a:p>
            <a:pPr algn="l" indent="0" marL="0">
              <a:lnSpc>
                <a:spcPts val="987"/>
              </a:lnSpc>
              <a:buNone/>
            </a:pPr>
            <a:r>
              <a:rPr lang="en-US" sz="800" dirty="0">
                <a:solidFill>
                  <a:srgbClr val="334155"/>
                </a:solidFill>
                <a:latin typeface="Carlito" pitchFamily="34" charset="0"/>
                <a:ea typeface="Carlito" pitchFamily="34" charset="-122"/>
                <a:cs typeface="Carlito" pitchFamily="34" charset="-120"/>
              </a:rPr>
              <a:t>طول الأوعية الدموية</a:t>
            </a:r>
            <a:endParaRPr lang="en-US" sz="800" dirty="0"/>
          </a:p>
        </p:txBody>
      </p:sp>
      <p:sp>
        <p:nvSpPr>
          <p:cNvPr id="15" name="Text 11"/>
          <p:cNvSpPr/>
          <p:nvPr/>
        </p:nvSpPr>
        <p:spPr>
          <a:xfrm>
            <a:off x="5774941" y="1102593"/>
            <a:ext cx="1443484" cy="804007"/>
          </a:xfrm>
          <a:prstGeom prst="roundRect">
            <a:avLst>
              <a:gd name="adj" fmla="val 16586"/>
            </a:avLst>
          </a:prstGeom>
          <a:solidFill>
            <a:srgbClr val="F8FAFC"/>
          </a:solidFill>
          <a:ln w="7144">
            <a:solidFill>
              <a:srgbClr val="E2E8F0"/>
            </a:solidFill>
            <a:prstDash val="solid"/>
          </a:ln>
          <a:effectLst>
            <a:outerShdw sx="100000" sy="100000" kx="0" ky="0" algn="bl" rotWithShape="0" blurRad="133350" dist="38100" dir="5400000">
              <a:srgbClr val="0F172A">
                <a:alpha val="5000"/>
              </a:srgbClr>
            </a:outerShdw>
          </a:effectLst>
        </p:spPr>
        <p:txBody>
          <a:bodyPr wrap="square" rtlCol="0" anchor="ctr"/>
          <a:lstStyle/>
          <a:p>
            <a:pPr indent="0" marL="0">
              <a:buNone/>
            </a:pPr>
            <a:endParaRPr lang="en-US" dirty="0"/>
          </a:p>
        </p:txBody>
      </p:sp>
      <p:sp>
        <p:nvSpPr>
          <p:cNvPr id="16" name="Text 12"/>
          <p:cNvSpPr/>
          <p:nvPr/>
        </p:nvSpPr>
        <p:spPr>
          <a:xfrm>
            <a:off x="5849950" y="1177603"/>
            <a:ext cx="128588" cy="128588"/>
          </a:xfrm>
          <a:prstGeom prst="rect">
            <a:avLst/>
          </a:prstGeom>
          <a:noFill/>
          <a:ln/>
        </p:spPr>
        <p:txBody>
          <a:bodyPr wrap="none" lIns="0" tIns="0" rIns="0" bIns="0" rtlCol="0" anchor="ctr"/>
          <a:lstStyle/>
          <a:p>
            <a:pPr algn="ctr" indent="0" marL="0">
              <a:buNone/>
            </a:pPr>
            <a:r>
              <a:rPr lang="en-US" sz="1266" dirty="0">
                <a:solidFill>
                  <a:srgbClr val="1E40AF"/>
                </a:solidFill>
                <a:latin typeface="Segoe UI Symbol" pitchFamily="34" charset="0"/>
                <a:ea typeface="Segoe UI Symbol" pitchFamily="34" charset="-122"/>
                <a:cs typeface="Segoe UI Symbol" pitchFamily="34" charset="-120"/>
              </a:rPr>
              <a:t>◐</a:t>
            </a:r>
            <a:endParaRPr lang="en-US" sz="1266" dirty="0"/>
          </a:p>
        </p:txBody>
      </p:sp>
      <p:sp>
        <p:nvSpPr>
          <p:cNvPr id="17" name="Text 13"/>
          <p:cNvSpPr/>
          <p:nvPr/>
        </p:nvSpPr>
        <p:spPr>
          <a:xfrm>
            <a:off x="5878525" y="1206178"/>
            <a:ext cx="1236315" cy="258318"/>
          </a:xfrm>
          <a:prstGeom prst="rect">
            <a:avLst/>
          </a:prstGeom>
          <a:noFill/>
          <a:ln/>
        </p:spPr>
        <p:txBody>
          <a:bodyPr wrap="none" lIns="0" tIns="0" rIns="0" bIns="0" rtlCol="0" anchor="t">
            <a:normAutofit/>
          </a:bodyPr>
          <a:lstStyle/>
          <a:p>
            <a:pPr algn="l" indent="0" marL="0">
              <a:lnSpc>
                <a:spcPts val="2025"/>
              </a:lnSpc>
              <a:buNone/>
            </a:pPr>
            <a:r>
              <a:rPr lang="en-US" sz="2025" b="1" spc="-56" kern="0" dirty="0">
                <a:solidFill>
                  <a:srgbClr val="1E40AF"/>
                </a:solidFill>
                <a:latin typeface="Liberation Sans Narrow" pitchFamily="34" charset="0"/>
                <a:ea typeface="Liberation Sans Narrow" pitchFamily="34" charset="-122"/>
                <a:cs typeface="Liberation Sans Narrow" pitchFamily="34" charset="-120"/>
              </a:rPr>
              <a:t>5</a:t>
            </a:r>
            <a:endParaRPr lang="en-US" sz="2025" dirty="0"/>
          </a:p>
        </p:txBody>
      </p:sp>
      <p:sp>
        <p:nvSpPr>
          <p:cNvPr id="18" name="Text 14"/>
          <p:cNvSpPr/>
          <p:nvPr/>
        </p:nvSpPr>
        <p:spPr>
          <a:xfrm>
            <a:off x="5878525" y="1491928"/>
            <a:ext cx="1236315" cy="158306"/>
          </a:xfrm>
          <a:prstGeom prst="rect">
            <a:avLst/>
          </a:prstGeom>
          <a:noFill/>
          <a:ln/>
        </p:spPr>
        <p:txBody>
          <a:bodyPr wrap="none" lIns="0" tIns="0" rIns="0" bIns="0" rtlCol="0" anchor="t">
            <a:normAutofit/>
          </a:bodyPr>
          <a:lstStyle/>
          <a:p>
            <a:pPr algn="l" indent="0" marL="0">
              <a:lnSpc>
                <a:spcPts val="1013"/>
              </a:lnSpc>
              <a:buNone/>
            </a:pPr>
            <a:r>
              <a:rPr lang="en-US" sz="800" dirty="0">
                <a:solidFill>
                  <a:srgbClr val="64748B"/>
                </a:solidFill>
                <a:latin typeface="Carlito" pitchFamily="34" charset="0"/>
                <a:ea typeface="Carlito" pitchFamily="34" charset="-122"/>
                <a:cs typeface="Carlito" pitchFamily="34" charset="-120"/>
              </a:rPr>
              <a:t>لترات</a:t>
            </a:r>
            <a:endParaRPr lang="en-US" sz="800" dirty="0"/>
          </a:p>
        </p:txBody>
      </p:sp>
      <p:sp>
        <p:nvSpPr>
          <p:cNvPr id="19" name="Text 15"/>
          <p:cNvSpPr/>
          <p:nvPr/>
        </p:nvSpPr>
        <p:spPr>
          <a:xfrm>
            <a:off x="5878525" y="1677665"/>
            <a:ext cx="1236315" cy="125350"/>
          </a:xfrm>
          <a:prstGeom prst="rect">
            <a:avLst/>
          </a:prstGeom>
          <a:noFill/>
          <a:ln/>
        </p:spPr>
        <p:txBody>
          <a:bodyPr wrap="none" lIns="0" tIns="0" rIns="0" bIns="0" rtlCol="0" anchor="t"/>
          <a:lstStyle/>
          <a:p>
            <a:pPr algn="l" indent="0" marL="0">
              <a:lnSpc>
                <a:spcPts val="987"/>
              </a:lnSpc>
              <a:buNone/>
            </a:pPr>
            <a:r>
              <a:rPr lang="en-US" sz="800" dirty="0">
                <a:solidFill>
                  <a:srgbClr val="334155"/>
                </a:solidFill>
                <a:latin typeface="Carlito" pitchFamily="34" charset="0"/>
                <a:ea typeface="Carlito" pitchFamily="34" charset="-122"/>
                <a:cs typeface="Carlito" pitchFamily="34" charset="-120"/>
              </a:rPr>
              <a:t>حجم الدم في الجسم</a:t>
            </a:r>
            <a:endParaRPr lang="en-US" sz="800" dirty="0"/>
          </a:p>
        </p:txBody>
      </p:sp>
      <p:sp>
        <p:nvSpPr>
          <p:cNvPr id="20" name="Text 16"/>
          <p:cNvSpPr/>
          <p:nvPr/>
        </p:nvSpPr>
        <p:spPr>
          <a:xfrm>
            <a:off x="4252875" y="1102593"/>
            <a:ext cx="1443484" cy="804007"/>
          </a:xfrm>
          <a:prstGeom prst="roundRect">
            <a:avLst>
              <a:gd name="adj" fmla="val 16586"/>
            </a:avLst>
          </a:prstGeom>
          <a:solidFill>
            <a:srgbClr val="F8FAFC"/>
          </a:solidFill>
          <a:ln w="7144">
            <a:solidFill>
              <a:srgbClr val="E2E8F0"/>
            </a:solidFill>
            <a:prstDash val="solid"/>
          </a:ln>
          <a:effectLst>
            <a:outerShdw sx="100000" sy="100000" kx="0" ky="0" algn="bl" rotWithShape="0" blurRad="133350" dist="38100" dir="5400000">
              <a:srgbClr val="0F172A">
                <a:alpha val="5000"/>
              </a:srgbClr>
            </a:outerShdw>
          </a:effectLst>
        </p:spPr>
        <p:txBody>
          <a:bodyPr wrap="square" rtlCol="0" anchor="ctr"/>
          <a:lstStyle/>
          <a:p>
            <a:pPr indent="0" marL="0">
              <a:buNone/>
            </a:pPr>
            <a:endParaRPr lang="en-US" dirty="0"/>
          </a:p>
        </p:txBody>
      </p:sp>
      <p:sp>
        <p:nvSpPr>
          <p:cNvPr id="21" name="Text 17"/>
          <p:cNvSpPr/>
          <p:nvPr/>
        </p:nvSpPr>
        <p:spPr>
          <a:xfrm>
            <a:off x="4327885" y="1177603"/>
            <a:ext cx="128588" cy="128588"/>
          </a:xfrm>
          <a:prstGeom prst="rect">
            <a:avLst/>
          </a:prstGeom>
          <a:noFill/>
          <a:ln/>
        </p:spPr>
        <p:txBody>
          <a:bodyPr wrap="none" lIns="0" tIns="0" rIns="0" bIns="0" rtlCol="0" anchor="ctr"/>
          <a:lstStyle/>
          <a:p>
            <a:pPr algn="ctr" indent="0" marL="0">
              <a:buNone/>
            </a:pPr>
            <a:r>
              <a:rPr lang="en-US" sz="1266" dirty="0">
                <a:solidFill>
                  <a:srgbClr val="0D9488"/>
                </a:solidFill>
                <a:latin typeface="Segoe UI Symbol" pitchFamily="34" charset="0"/>
                <a:ea typeface="Segoe UI Symbol" pitchFamily="34" charset="-122"/>
                <a:cs typeface="Segoe UI Symbol" pitchFamily="34" charset="-120"/>
              </a:rPr>
              <a:t>♥</a:t>
            </a:r>
            <a:endParaRPr lang="en-US" sz="1266" dirty="0"/>
          </a:p>
        </p:txBody>
      </p:sp>
      <p:sp>
        <p:nvSpPr>
          <p:cNvPr id="22" name="Text 18"/>
          <p:cNvSpPr/>
          <p:nvPr/>
        </p:nvSpPr>
        <p:spPr>
          <a:xfrm>
            <a:off x="4356460" y="1206178"/>
            <a:ext cx="1236315" cy="258318"/>
          </a:xfrm>
          <a:prstGeom prst="rect">
            <a:avLst/>
          </a:prstGeom>
          <a:noFill/>
          <a:ln/>
        </p:spPr>
        <p:txBody>
          <a:bodyPr wrap="none" lIns="0" tIns="0" rIns="0" bIns="0" rtlCol="0" anchor="t">
            <a:normAutofit/>
          </a:bodyPr>
          <a:lstStyle/>
          <a:p>
            <a:pPr algn="l" indent="0" marL="0">
              <a:lnSpc>
                <a:spcPts val="2025"/>
              </a:lnSpc>
              <a:buNone/>
            </a:pPr>
            <a:r>
              <a:rPr lang="en-US" sz="2025" b="1" spc="-56" kern="0" dirty="0">
                <a:solidFill>
                  <a:srgbClr val="0D9488"/>
                </a:solidFill>
                <a:latin typeface="Liberation Sans Narrow" pitchFamily="34" charset="0"/>
                <a:ea typeface="Liberation Sans Narrow" pitchFamily="34" charset="-122"/>
                <a:cs typeface="Liberation Sans Narrow" pitchFamily="34" charset="-120"/>
              </a:rPr>
              <a:t>100K</a:t>
            </a:r>
            <a:endParaRPr lang="en-US" sz="2025" dirty="0"/>
          </a:p>
        </p:txBody>
      </p:sp>
      <p:sp>
        <p:nvSpPr>
          <p:cNvPr id="23" name="Text 19"/>
          <p:cNvSpPr/>
          <p:nvPr/>
        </p:nvSpPr>
        <p:spPr>
          <a:xfrm>
            <a:off x="4356460" y="1491928"/>
            <a:ext cx="1236315" cy="158306"/>
          </a:xfrm>
          <a:prstGeom prst="rect">
            <a:avLst/>
          </a:prstGeom>
          <a:noFill/>
          <a:ln/>
        </p:spPr>
        <p:txBody>
          <a:bodyPr wrap="none" lIns="0" tIns="0" rIns="0" bIns="0" rtlCol="0" anchor="t">
            <a:normAutofit/>
          </a:bodyPr>
          <a:lstStyle/>
          <a:p>
            <a:pPr algn="l" indent="0" marL="0">
              <a:lnSpc>
                <a:spcPts val="1013"/>
              </a:lnSpc>
              <a:buNone/>
            </a:pPr>
            <a:r>
              <a:rPr lang="en-US" sz="800" dirty="0">
                <a:solidFill>
                  <a:srgbClr val="64748B"/>
                </a:solidFill>
                <a:latin typeface="Carlito" pitchFamily="34" charset="0"/>
                <a:ea typeface="Carlito" pitchFamily="34" charset="-122"/>
                <a:cs typeface="Carlito" pitchFamily="34" charset="-120"/>
              </a:rPr>
              <a:t>نبضة / يوم</a:t>
            </a:r>
            <a:endParaRPr lang="en-US" sz="800" dirty="0"/>
          </a:p>
        </p:txBody>
      </p:sp>
      <p:sp>
        <p:nvSpPr>
          <p:cNvPr id="24" name="Text 20"/>
          <p:cNvSpPr/>
          <p:nvPr/>
        </p:nvSpPr>
        <p:spPr>
          <a:xfrm>
            <a:off x="4356460" y="1677665"/>
            <a:ext cx="1236315" cy="125350"/>
          </a:xfrm>
          <a:prstGeom prst="rect">
            <a:avLst/>
          </a:prstGeom>
          <a:noFill/>
          <a:ln/>
        </p:spPr>
        <p:txBody>
          <a:bodyPr wrap="none" lIns="0" tIns="0" rIns="0" bIns="0" rtlCol="0" anchor="t"/>
          <a:lstStyle/>
          <a:p>
            <a:pPr algn="l" indent="0" marL="0">
              <a:lnSpc>
                <a:spcPts val="987"/>
              </a:lnSpc>
              <a:buNone/>
            </a:pPr>
            <a:r>
              <a:rPr lang="en-US" sz="800" dirty="0">
                <a:solidFill>
                  <a:srgbClr val="334155"/>
                </a:solidFill>
                <a:latin typeface="Carlito" pitchFamily="34" charset="0"/>
                <a:ea typeface="Carlito" pitchFamily="34" charset="-122"/>
                <a:cs typeface="Carlito" pitchFamily="34" charset="-120"/>
              </a:rPr>
              <a:t>انقباضات القلب يومياً</a:t>
            </a:r>
            <a:endParaRPr lang="en-US" sz="800" dirty="0"/>
          </a:p>
        </p:txBody>
      </p:sp>
      <p:sp>
        <p:nvSpPr>
          <p:cNvPr id="25" name="Text 21"/>
          <p:cNvSpPr/>
          <p:nvPr/>
        </p:nvSpPr>
        <p:spPr>
          <a:xfrm>
            <a:off x="4249303" y="2010184"/>
            <a:ext cx="4719379" cy="123444"/>
          </a:xfrm>
          <a:prstGeom prst="rect">
            <a:avLst/>
          </a:prstGeom>
          <a:noFill/>
          <a:ln/>
        </p:spPr>
        <p:txBody>
          <a:bodyPr wrap="none" lIns="0" tIns="0" rIns="0" bIns="0" rtlCol="0" anchor="t"/>
          <a:lstStyle/>
          <a:p>
            <a:pPr algn="l" indent="0" marL="0">
              <a:lnSpc>
                <a:spcPts val="900"/>
              </a:lnSpc>
              <a:buNone/>
            </a:pPr>
            <a:r>
              <a:rPr lang="en-US" sz="900" b="1" dirty="0">
                <a:solidFill>
                  <a:srgbClr val="1E40AF"/>
                </a:solidFill>
                <a:latin typeface="Carlito" pitchFamily="34" charset="0"/>
                <a:ea typeface="Carlito" pitchFamily="34" charset="-122"/>
                <a:cs typeface="Carlito" pitchFamily="34" charset="-120"/>
              </a:rPr>
              <a:t>مكوّنات الجهاز:</a:t>
            </a:r>
            <a:endParaRPr lang="en-US" sz="900" dirty="0"/>
          </a:p>
        </p:txBody>
      </p:sp>
      <p:sp>
        <p:nvSpPr>
          <p:cNvPr id="26" name="Text 22"/>
          <p:cNvSpPr/>
          <p:nvPr/>
        </p:nvSpPr>
        <p:spPr>
          <a:xfrm>
            <a:off x="7898643" y="2197408"/>
            <a:ext cx="845307" cy="239916"/>
          </a:xfrm>
          <a:prstGeom prst="roundRect">
            <a:avLst>
              <a:gd name="adj" fmla="val 3966169"/>
            </a:avLst>
          </a:prstGeom>
          <a:solidFill>
            <a:srgbClr val="E2E8F0"/>
          </a:solidFill>
          <a:ln w="7144">
            <a:solidFill>
              <a:srgbClr val="E2E8F0"/>
            </a:solidFill>
            <a:prstDash val="solid"/>
          </a:ln>
        </p:spPr>
        <p:txBody>
          <a:bodyPr wrap="square" rtlCol="0" anchor="ctr"/>
          <a:lstStyle/>
          <a:p>
            <a:pPr indent="0" marL="0">
              <a:buNone/>
            </a:pPr>
            <a:endParaRPr lang="en-US" dirty="0"/>
          </a:p>
        </p:txBody>
      </p:sp>
      <p:sp>
        <p:nvSpPr>
          <p:cNvPr id="27" name="Text 23"/>
          <p:cNvSpPr/>
          <p:nvPr/>
        </p:nvSpPr>
        <p:spPr>
          <a:xfrm>
            <a:off x="7984368" y="2267359"/>
            <a:ext cx="759582" cy="128016"/>
          </a:xfrm>
          <a:prstGeom prst="rect">
            <a:avLst/>
          </a:prstGeom>
          <a:noFill/>
          <a:ln/>
        </p:spPr>
        <p:txBody>
          <a:bodyPr wrap="none" lIns="0" tIns="0" rIns="0" bIns="0" rtlCol="0" anchor="t"/>
          <a:lstStyle/>
          <a:p>
            <a:pPr algn="l" indent="0" marL="0">
              <a:lnSpc>
                <a:spcPts val="1013"/>
              </a:lnSpc>
              <a:buNone/>
            </a:pPr>
            <a:r>
              <a:rPr lang="en-US" sz="800" dirty="0">
                <a:solidFill>
                  <a:srgbClr val="1E40AF"/>
                </a:solidFill>
                <a:latin typeface="Carlito" pitchFamily="34" charset="0"/>
                <a:ea typeface="Carlito" pitchFamily="34" charset="-122"/>
                <a:cs typeface="Carlito" pitchFamily="34" charset="-120"/>
              </a:rPr>
              <a:t>القلب (مضخة)</a:t>
            </a:r>
            <a:endParaRPr lang="en-US" sz="800" dirty="0"/>
          </a:p>
        </p:txBody>
      </p:sp>
      <p:sp>
        <p:nvSpPr>
          <p:cNvPr id="28" name="Text 24"/>
          <p:cNvSpPr/>
          <p:nvPr/>
        </p:nvSpPr>
        <p:spPr>
          <a:xfrm>
            <a:off x="8558213" y="2267359"/>
            <a:ext cx="100013" cy="100013"/>
          </a:xfrm>
          <a:prstGeom prst="rect">
            <a:avLst/>
          </a:prstGeom>
          <a:noFill/>
          <a:ln/>
        </p:spPr>
        <p:txBody>
          <a:bodyPr wrap="none" lIns="0" tIns="0" rIns="0" bIns="0" rtlCol="0" anchor="ctr"/>
          <a:lstStyle/>
          <a:p>
            <a:pPr algn="ctr" indent="0" marL="0">
              <a:buNone/>
            </a:pPr>
            <a:r>
              <a:rPr lang="en-US" sz="984" dirty="0">
                <a:solidFill>
                  <a:srgbClr val="1E40AF"/>
                </a:solidFill>
                <a:latin typeface="Segoe UI Symbol" pitchFamily="34" charset="0"/>
                <a:ea typeface="Segoe UI Symbol" pitchFamily="34" charset="-122"/>
                <a:cs typeface="Segoe UI Symbol" pitchFamily="34" charset="-120"/>
              </a:rPr>
              <a:t>♥</a:t>
            </a:r>
            <a:endParaRPr lang="en-US" sz="984" dirty="0"/>
          </a:p>
        </p:txBody>
      </p:sp>
      <p:sp>
        <p:nvSpPr>
          <p:cNvPr id="29" name="Text 25"/>
          <p:cNvSpPr/>
          <p:nvPr/>
        </p:nvSpPr>
        <p:spPr>
          <a:xfrm>
            <a:off x="6522244" y="2197408"/>
            <a:ext cx="1319250" cy="239916"/>
          </a:xfrm>
          <a:prstGeom prst="roundRect">
            <a:avLst>
              <a:gd name="adj" fmla="val 3966169"/>
            </a:avLst>
          </a:prstGeom>
          <a:solidFill>
            <a:srgbClr val="E2E8F0"/>
          </a:solidFill>
          <a:ln w="7144">
            <a:solidFill>
              <a:srgbClr val="E2E8F0"/>
            </a:solidFill>
            <a:prstDash val="solid"/>
          </a:ln>
        </p:spPr>
        <p:txBody>
          <a:bodyPr wrap="square" rtlCol="0" anchor="ctr"/>
          <a:lstStyle/>
          <a:p>
            <a:pPr indent="0" marL="0">
              <a:buNone/>
            </a:pPr>
            <a:endParaRPr lang="en-US" dirty="0"/>
          </a:p>
        </p:txBody>
      </p:sp>
      <p:sp>
        <p:nvSpPr>
          <p:cNvPr id="30" name="Text 26"/>
          <p:cNvSpPr/>
          <p:nvPr/>
        </p:nvSpPr>
        <p:spPr>
          <a:xfrm>
            <a:off x="6607969" y="2267359"/>
            <a:ext cx="1062075" cy="128016"/>
          </a:xfrm>
          <a:prstGeom prst="rect">
            <a:avLst/>
          </a:prstGeom>
          <a:noFill/>
          <a:ln/>
        </p:spPr>
        <p:txBody>
          <a:bodyPr wrap="none" lIns="0" tIns="0" rIns="0" bIns="0" rtlCol="0" anchor="t"/>
          <a:lstStyle/>
          <a:p>
            <a:pPr algn="l" indent="0" marL="0">
              <a:lnSpc>
                <a:spcPts val="1013"/>
              </a:lnSpc>
              <a:buNone/>
            </a:pPr>
            <a:r>
              <a:rPr lang="en-US" sz="675" dirty="0">
                <a:solidFill>
                  <a:srgbClr val="1E40AF"/>
                </a:solidFill>
                <a:latin typeface="Carlito" pitchFamily="34" charset="0"/>
                <a:ea typeface="Carlito" pitchFamily="34" charset="-122"/>
                <a:cs typeface="Carlito" pitchFamily="34" charset="-120"/>
              </a:rPr>
              <a:t>الشرايين (تنقل للخارج)</a:t>
            </a:r>
            <a:endParaRPr lang="en-US" sz="675" dirty="0"/>
          </a:p>
        </p:txBody>
      </p:sp>
      <p:sp>
        <p:nvSpPr>
          <p:cNvPr id="31" name="Text 27"/>
          <p:cNvSpPr/>
          <p:nvPr/>
        </p:nvSpPr>
        <p:spPr>
          <a:xfrm>
            <a:off x="7655756" y="2267359"/>
            <a:ext cx="100013" cy="100013"/>
          </a:xfrm>
          <a:prstGeom prst="rect">
            <a:avLst/>
          </a:prstGeom>
          <a:noFill/>
          <a:ln/>
        </p:spPr>
        <p:txBody>
          <a:bodyPr wrap="none" lIns="0" tIns="0" rIns="0" bIns="0" rtlCol="0" anchor="ctr"/>
          <a:lstStyle/>
          <a:p>
            <a:pPr algn="ctr" indent="0" marL="0">
              <a:buNone/>
            </a:pPr>
            <a:r>
              <a:rPr lang="en-US" sz="984" dirty="0">
                <a:solidFill>
                  <a:srgbClr val="1E40AF"/>
                </a:solidFill>
                <a:latin typeface="Segoe UI Symbol" pitchFamily="34" charset="0"/>
                <a:ea typeface="Segoe UI Symbol" pitchFamily="34" charset="-122"/>
                <a:cs typeface="Segoe UI Symbol" pitchFamily="34" charset="-120"/>
              </a:rPr>
              <a:t>↑</a:t>
            </a:r>
            <a:endParaRPr lang="en-US" sz="984" dirty="0"/>
          </a:p>
        </p:txBody>
      </p:sp>
      <p:sp>
        <p:nvSpPr>
          <p:cNvPr id="32" name="Text 28"/>
          <p:cNvSpPr/>
          <p:nvPr/>
        </p:nvSpPr>
        <p:spPr>
          <a:xfrm>
            <a:off x="5295863" y="2197408"/>
            <a:ext cx="1169231" cy="239916"/>
          </a:xfrm>
          <a:prstGeom prst="roundRect">
            <a:avLst>
              <a:gd name="adj" fmla="val 3966169"/>
            </a:avLst>
          </a:prstGeom>
          <a:solidFill>
            <a:srgbClr val="E2E8F0"/>
          </a:solidFill>
          <a:ln w="7144">
            <a:solidFill>
              <a:srgbClr val="E2E8F0"/>
            </a:solidFill>
            <a:prstDash val="solid"/>
          </a:ln>
        </p:spPr>
        <p:txBody>
          <a:bodyPr wrap="square" rtlCol="0" anchor="ctr"/>
          <a:lstStyle/>
          <a:p>
            <a:pPr indent="0" marL="0">
              <a:buNone/>
            </a:pPr>
            <a:endParaRPr lang="en-US" dirty="0"/>
          </a:p>
        </p:txBody>
      </p:sp>
      <p:sp>
        <p:nvSpPr>
          <p:cNvPr id="33" name="Text 29"/>
          <p:cNvSpPr/>
          <p:nvPr/>
        </p:nvSpPr>
        <p:spPr>
          <a:xfrm>
            <a:off x="5381588" y="2267359"/>
            <a:ext cx="1112081" cy="128016"/>
          </a:xfrm>
          <a:prstGeom prst="rect">
            <a:avLst/>
          </a:prstGeom>
          <a:noFill/>
          <a:ln/>
        </p:spPr>
        <p:txBody>
          <a:bodyPr wrap="none" lIns="0" tIns="0" rIns="0" bIns="0" rtlCol="0" anchor="t"/>
          <a:lstStyle/>
          <a:p>
            <a:pPr algn="l" indent="0" marL="0">
              <a:lnSpc>
                <a:spcPts val="1013"/>
              </a:lnSpc>
              <a:buNone/>
            </a:pPr>
            <a:r>
              <a:rPr lang="en-US" sz="800" dirty="0">
                <a:solidFill>
                  <a:srgbClr val="1E40AF"/>
                </a:solidFill>
                <a:latin typeface="Carlito" pitchFamily="34" charset="0"/>
                <a:ea typeface="Carlito" pitchFamily="34" charset="-122"/>
                <a:cs typeface="Carlito" pitchFamily="34" charset="-120"/>
              </a:rPr>
              <a:t>الأوردة (ترجع للقلب)</a:t>
            </a:r>
            <a:endParaRPr lang="en-US" sz="800" dirty="0"/>
          </a:p>
        </p:txBody>
      </p:sp>
      <p:sp>
        <p:nvSpPr>
          <p:cNvPr id="34" name="Text 30"/>
          <p:cNvSpPr/>
          <p:nvPr/>
        </p:nvSpPr>
        <p:spPr>
          <a:xfrm>
            <a:off x="6279356" y="2267359"/>
            <a:ext cx="100013" cy="100013"/>
          </a:xfrm>
          <a:prstGeom prst="rect">
            <a:avLst/>
          </a:prstGeom>
          <a:noFill/>
          <a:ln/>
        </p:spPr>
        <p:txBody>
          <a:bodyPr wrap="none" lIns="0" tIns="0" rIns="0" bIns="0" rtlCol="0" anchor="ctr"/>
          <a:lstStyle/>
          <a:p>
            <a:pPr algn="ctr" indent="0" marL="0">
              <a:buNone/>
            </a:pPr>
            <a:r>
              <a:rPr lang="en-US" sz="984" dirty="0">
                <a:solidFill>
                  <a:srgbClr val="1E40AF"/>
                </a:solidFill>
                <a:latin typeface="Segoe UI Symbol" pitchFamily="34" charset="0"/>
                <a:ea typeface="Segoe UI Symbol" pitchFamily="34" charset="-122"/>
                <a:cs typeface="Segoe UI Symbol" pitchFamily="34" charset="-120"/>
              </a:rPr>
              <a:t>↓</a:t>
            </a:r>
            <a:endParaRPr lang="en-US" sz="984" dirty="0"/>
          </a:p>
        </p:txBody>
      </p:sp>
      <p:sp>
        <p:nvSpPr>
          <p:cNvPr id="35" name="Text 31"/>
          <p:cNvSpPr/>
          <p:nvPr/>
        </p:nvSpPr>
        <p:spPr>
          <a:xfrm>
            <a:off x="7675758" y="2468870"/>
            <a:ext cx="1091052" cy="239916"/>
          </a:xfrm>
          <a:prstGeom prst="roundRect">
            <a:avLst>
              <a:gd name="adj" fmla="val 3966169"/>
            </a:avLst>
          </a:prstGeom>
          <a:solidFill>
            <a:srgbClr val="E2E8F0"/>
          </a:solidFill>
          <a:ln w="7144">
            <a:solidFill>
              <a:srgbClr val="E2E8F0"/>
            </a:solidFill>
            <a:prstDash val="solid"/>
          </a:ln>
        </p:spPr>
        <p:txBody>
          <a:bodyPr wrap="square" rtlCol="0" anchor="ctr"/>
          <a:lstStyle/>
          <a:p>
            <a:pPr indent="0" marL="0">
              <a:buNone/>
            </a:pPr>
            <a:endParaRPr lang="en-US" dirty="0"/>
          </a:p>
        </p:txBody>
      </p:sp>
      <p:sp>
        <p:nvSpPr>
          <p:cNvPr id="36" name="Text 32"/>
          <p:cNvSpPr/>
          <p:nvPr/>
        </p:nvSpPr>
        <p:spPr>
          <a:xfrm>
            <a:off x="7784343" y="2538822"/>
            <a:ext cx="959607" cy="128016"/>
          </a:xfrm>
          <a:prstGeom prst="rect">
            <a:avLst/>
          </a:prstGeom>
          <a:noFill/>
          <a:ln/>
        </p:spPr>
        <p:txBody>
          <a:bodyPr wrap="none" lIns="0" tIns="0" rIns="0" bIns="0" rtlCol="0" anchor="t"/>
          <a:lstStyle/>
          <a:p>
            <a:pPr algn="l" indent="0" marL="0">
              <a:lnSpc>
                <a:spcPts val="1013"/>
              </a:lnSpc>
              <a:buNone/>
            </a:pPr>
            <a:r>
              <a:rPr lang="en-US" sz="800" dirty="0">
                <a:solidFill>
                  <a:srgbClr val="1E40AF"/>
                </a:solidFill>
                <a:latin typeface="Carlito" pitchFamily="34" charset="0"/>
                <a:ea typeface="Carlito" pitchFamily="34" charset="-122"/>
                <a:cs typeface="Carlito" pitchFamily="34" charset="-120"/>
              </a:rPr>
              <a:t>الشعيرات (تبادل)</a:t>
            </a:r>
            <a:endParaRPr lang="en-US" sz="800" dirty="0"/>
          </a:p>
        </p:txBody>
      </p:sp>
      <p:sp>
        <p:nvSpPr>
          <p:cNvPr id="37" name="Text 33"/>
          <p:cNvSpPr/>
          <p:nvPr/>
        </p:nvSpPr>
        <p:spPr>
          <a:xfrm>
            <a:off x="8558213" y="2538822"/>
            <a:ext cx="100013" cy="100013"/>
          </a:xfrm>
          <a:prstGeom prst="rect">
            <a:avLst/>
          </a:prstGeom>
          <a:noFill/>
          <a:ln/>
        </p:spPr>
        <p:txBody>
          <a:bodyPr wrap="none" lIns="0" tIns="0" rIns="0" bIns="0" rtlCol="0" anchor="ctr"/>
          <a:lstStyle/>
          <a:p>
            <a:pPr algn="ctr" indent="0" marL="0">
              <a:buNone/>
            </a:pPr>
            <a:r>
              <a:rPr lang="en-US" sz="984" dirty="0">
                <a:solidFill>
                  <a:srgbClr val="1E40AF"/>
                </a:solidFill>
                <a:latin typeface="Segoe UI Symbol" pitchFamily="34" charset="0"/>
                <a:ea typeface="Segoe UI Symbol" pitchFamily="34" charset="-122"/>
                <a:cs typeface="Segoe UI Symbol" pitchFamily="34" charset="-120"/>
              </a:rPr>
              <a:t>⇄</a:t>
            </a:r>
            <a:endParaRPr lang="en-US" sz="984" dirty="0"/>
          </a:p>
        </p:txBody>
      </p:sp>
      <p:sp>
        <p:nvSpPr>
          <p:cNvPr id="38" name="Text 34"/>
          <p:cNvSpPr/>
          <p:nvPr/>
        </p:nvSpPr>
        <p:spPr>
          <a:xfrm>
            <a:off x="6532401" y="2781709"/>
            <a:ext cx="2211549" cy="500955"/>
          </a:xfrm>
          <a:prstGeom prst="roundRect">
            <a:avLst>
              <a:gd name="adj" fmla="val 22816"/>
            </a:avLst>
          </a:prstGeom>
          <a:solidFill>
            <a:srgbClr val="F8FAFC"/>
          </a:solidFill>
          <a:ln/>
        </p:spPr>
        <p:txBody>
          <a:bodyPr wrap="square" rtlCol="0" anchor="ctr"/>
          <a:lstStyle/>
          <a:p>
            <a:pPr indent="0" marL="0">
              <a:buNone/>
            </a:pPr>
            <a:endParaRPr lang="en-US" dirty="0"/>
          </a:p>
        </p:txBody>
      </p:sp>
      <p:sp>
        <p:nvSpPr>
          <p:cNvPr id="39" name="Shape 35"/>
          <p:cNvSpPr/>
          <p:nvPr/>
        </p:nvSpPr>
        <p:spPr>
          <a:xfrm>
            <a:off x="6532401" y="2785281"/>
            <a:ext cx="2211549" cy="0"/>
          </a:xfrm>
          <a:prstGeom prst="line">
            <a:avLst/>
          </a:prstGeom>
          <a:noFill/>
          <a:ln w="7144">
            <a:solidFill>
              <a:srgbClr val="E2E8F0"/>
            </a:solidFill>
            <a:prstDash val="solid"/>
          </a:ln>
        </p:spPr>
      </p:sp>
      <p:sp>
        <p:nvSpPr>
          <p:cNvPr id="40" name="Shape 36"/>
          <p:cNvSpPr/>
          <p:nvPr/>
        </p:nvSpPr>
        <p:spPr>
          <a:xfrm>
            <a:off x="8729663" y="2781709"/>
            <a:ext cx="0" cy="500955"/>
          </a:xfrm>
          <a:prstGeom prst="line">
            <a:avLst/>
          </a:prstGeom>
          <a:noFill/>
          <a:ln w="28575">
            <a:solidFill>
              <a:srgbClr val="1E40AF"/>
            </a:solidFill>
            <a:prstDash val="solid"/>
          </a:ln>
        </p:spPr>
      </p:sp>
      <p:sp>
        <p:nvSpPr>
          <p:cNvPr id="41" name="Shape 37"/>
          <p:cNvSpPr/>
          <p:nvPr/>
        </p:nvSpPr>
        <p:spPr>
          <a:xfrm>
            <a:off x="6532401" y="3279093"/>
            <a:ext cx="2211549" cy="0"/>
          </a:xfrm>
          <a:prstGeom prst="line">
            <a:avLst/>
          </a:prstGeom>
          <a:noFill/>
          <a:ln w="7144">
            <a:solidFill>
              <a:srgbClr val="E2E8F0"/>
            </a:solidFill>
            <a:prstDash val="solid"/>
          </a:ln>
        </p:spPr>
      </p:sp>
      <p:sp>
        <p:nvSpPr>
          <p:cNvPr id="42" name="Shape 38"/>
          <p:cNvSpPr/>
          <p:nvPr/>
        </p:nvSpPr>
        <p:spPr>
          <a:xfrm>
            <a:off x="6535973" y="2781709"/>
            <a:ext cx="0" cy="500955"/>
          </a:xfrm>
          <a:prstGeom prst="line">
            <a:avLst/>
          </a:prstGeom>
          <a:noFill/>
          <a:ln w="7144">
            <a:solidFill>
              <a:srgbClr val="E2E8F0"/>
            </a:solidFill>
            <a:prstDash val="solid"/>
          </a:ln>
        </p:spPr>
      </p:sp>
      <p:sp>
        <p:nvSpPr>
          <p:cNvPr id="43" name="Text 39"/>
          <p:cNvSpPr/>
          <p:nvPr/>
        </p:nvSpPr>
        <p:spPr>
          <a:xfrm>
            <a:off x="8458200" y="2874578"/>
            <a:ext cx="157163" cy="157163"/>
          </a:xfrm>
          <a:prstGeom prst="rect">
            <a:avLst/>
          </a:prstGeom>
          <a:noFill/>
          <a:ln/>
        </p:spPr>
        <p:txBody>
          <a:bodyPr wrap="none" lIns="0" tIns="0" rIns="0" bIns="0" rtlCol="0" anchor="ctr"/>
          <a:lstStyle/>
          <a:p>
            <a:pPr algn="ctr" indent="0" marL="0">
              <a:buNone/>
            </a:pPr>
            <a:r>
              <a:rPr lang="en-US" sz="1547" dirty="0">
                <a:solidFill>
                  <a:srgbClr val="1E40AF"/>
                </a:solidFill>
                <a:latin typeface="Segoe UI Symbol" pitchFamily="34" charset="0"/>
                <a:ea typeface="Segoe UI Symbol" pitchFamily="34" charset="-122"/>
                <a:cs typeface="Segoe UI Symbol" pitchFamily="34" charset="-120"/>
              </a:rPr>
              <a:t>↻</a:t>
            </a:r>
            <a:endParaRPr lang="en-US" sz="1547" dirty="0"/>
          </a:p>
        </p:txBody>
      </p:sp>
      <p:sp>
        <p:nvSpPr>
          <p:cNvPr id="44" name="Text 40"/>
          <p:cNvSpPr/>
          <p:nvPr/>
        </p:nvSpPr>
        <p:spPr>
          <a:xfrm>
            <a:off x="7599722" y="2888866"/>
            <a:ext cx="1001660" cy="138875"/>
          </a:xfrm>
          <a:prstGeom prst="rect">
            <a:avLst/>
          </a:prstGeom>
          <a:noFill/>
          <a:ln/>
        </p:spPr>
        <p:txBody>
          <a:bodyPr wrap="none" lIns="0" tIns="0" rIns="0" bIns="0" rtlCol="0" anchor="t"/>
          <a:lstStyle/>
          <a:p>
            <a:pPr algn="l" indent="0" marL="0">
              <a:lnSpc>
                <a:spcPts val="1013"/>
              </a:lnSpc>
              <a:buNone/>
            </a:pPr>
            <a:r>
              <a:rPr lang="en-US" sz="844" b="1" dirty="0">
                <a:solidFill>
                  <a:srgbClr val="0F172A"/>
                </a:solidFill>
                <a:latin typeface="Carlito" pitchFamily="34" charset="0"/>
                <a:ea typeface="Carlito" pitchFamily="34" charset="-122"/>
                <a:cs typeface="Carlito" pitchFamily="34" charset="-120"/>
              </a:rPr>
              <a:t>الدورة الكبرى</a:t>
            </a:r>
            <a:endParaRPr lang="en-US" sz="844" dirty="0"/>
          </a:p>
        </p:txBody>
      </p:sp>
      <p:sp>
        <p:nvSpPr>
          <p:cNvPr id="45" name="Text 41"/>
          <p:cNvSpPr/>
          <p:nvPr/>
        </p:nvSpPr>
        <p:spPr>
          <a:xfrm>
            <a:off x="6639558" y="3060316"/>
            <a:ext cx="2085533" cy="129480"/>
          </a:xfrm>
          <a:prstGeom prst="rect">
            <a:avLst/>
          </a:prstGeom>
          <a:noFill/>
          <a:ln/>
        </p:spPr>
        <p:txBody>
          <a:bodyPr wrap="square" lIns="0" tIns="0" rIns="0" bIns="0" rtlCol="0" anchor="t"/>
          <a:lstStyle/>
          <a:p>
            <a:pPr algn="l" indent="0" marL="0">
              <a:lnSpc>
                <a:spcPts val="1020"/>
              </a:lnSpc>
              <a:buNone/>
            </a:pPr>
            <a:r>
              <a:rPr lang="en-US" sz="800" dirty="0">
                <a:solidFill>
                  <a:srgbClr val="334155"/>
                </a:solidFill>
                <a:latin typeface="Carlito" pitchFamily="34" charset="0"/>
                <a:ea typeface="Carlito" pitchFamily="34" charset="-122"/>
                <a:cs typeface="Carlito" pitchFamily="34" charset="-120"/>
              </a:rPr>
              <a:t>من القلب للجسم كاملاً — توزيع الأكسجين</a:t>
            </a:r>
            <a:endParaRPr lang="en-US" sz="800" dirty="0"/>
          </a:p>
        </p:txBody>
      </p:sp>
      <p:sp>
        <p:nvSpPr>
          <p:cNvPr id="46" name="Text 42"/>
          <p:cNvSpPr/>
          <p:nvPr/>
        </p:nvSpPr>
        <p:spPr>
          <a:xfrm>
            <a:off x="4249303" y="2781709"/>
            <a:ext cx="2211660" cy="500955"/>
          </a:xfrm>
          <a:prstGeom prst="roundRect">
            <a:avLst>
              <a:gd name="adj" fmla="val 22816"/>
            </a:avLst>
          </a:prstGeom>
          <a:solidFill>
            <a:srgbClr val="F8FAFC"/>
          </a:solidFill>
          <a:ln/>
        </p:spPr>
        <p:txBody>
          <a:bodyPr wrap="square" rtlCol="0" anchor="ctr"/>
          <a:lstStyle/>
          <a:p>
            <a:pPr indent="0" marL="0">
              <a:buNone/>
            </a:pPr>
            <a:endParaRPr lang="en-US" dirty="0"/>
          </a:p>
        </p:txBody>
      </p:sp>
      <p:sp>
        <p:nvSpPr>
          <p:cNvPr id="47" name="Shape 43"/>
          <p:cNvSpPr/>
          <p:nvPr/>
        </p:nvSpPr>
        <p:spPr>
          <a:xfrm>
            <a:off x="4249303" y="2785281"/>
            <a:ext cx="2211660" cy="0"/>
          </a:xfrm>
          <a:prstGeom prst="line">
            <a:avLst/>
          </a:prstGeom>
          <a:noFill/>
          <a:ln w="7144">
            <a:solidFill>
              <a:srgbClr val="E2E8F0"/>
            </a:solidFill>
            <a:prstDash val="solid"/>
          </a:ln>
        </p:spPr>
      </p:sp>
      <p:sp>
        <p:nvSpPr>
          <p:cNvPr id="48" name="Shape 44"/>
          <p:cNvSpPr/>
          <p:nvPr/>
        </p:nvSpPr>
        <p:spPr>
          <a:xfrm>
            <a:off x="6446676" y="2781709"/>
            <a:ext cx="0" cy="500955"/>
          </a:xfrm>
          <a:prstGeom prst="line">
            <a:avLst/>
          </a:prstGeom>
          <a:noFill/>
          <a:ln w="28575">
            <a:solidFill>
              <a:srgbClr val="DC2626"/>
            </a:solidFill>
            <a:prstDash val="solid"/>
          </a:ln>
        </p:spPr>
      </p:sp>
      <p:sp>
        <p:nvSpPr>
          <p:cNvPr id="49" name="Shape 45"/>
          <p:cNvSpPr/>
          <p:nvPr/>
        </p:nvSpPr>
        <p:spPr>
          <a:xfrm>
            <a:off x="4249303" y="3279093"/>
            <a:ext cx="2211660" cy="0"/>
          </a:xfrm>
          <a:prstGeom prst="line">
            <a:avLst/>
          </a:prstGeom>
          <a:noFill/>
          <a:ln w="7144">
            <a:solidFill>
              <a:srgbClr val="E2E8F0"/>
            </a:solidFill>
            <a:prstDash val="solid"/>
          </a:ln>
        </p:spPr>
      </p:sp>
      <p:sp>
        <p:nvSpPr>
          <p:cNvPr id="50" name="Shape 46"/>
          <p:cNvSpPr/>
          <p:nvPr/>
        </p:nvSpPr>
        <p:spPr>
          <a:xfrm>
            <a:off x="4252875" y="2781709"/>
            <a:ext cx="0" cy="500955"/>
          </a:xfrm>
          <a:prstGeom prst="line">
            <a:avLst/>
          </a:prstGeom>
          <a:noFill/>
          <a:ln w="7144">
            <a:solidFill>
              <a:srgbClr val="E2E8F0"/>
            </a:solidFill>
            <a:prstDash val="solid"/>
          </a:ln>
        </p:spPr>
      </p:sp>
      <p:sp>
        <p:nvSpPr>
          <p:cNvPr id="51" name="Text 47"/>
          <p:cNvSpPr/>
          <p:nvPr/>
        </p:nvSpPr>
        <p:spPr>
          <a:xfrm>
            <a:off x="6175214" y="2874578"/>
            <a:ext cx="157163" cy="157163"/>
          </a:xfrm>
          <a:prstGeom prst="rect">
            <a:avLst/>
          </a:prstGeom>
          <a:noFill/>
          <a:ln/>
        </p:spPr>
        <p:txBody>
          <a:bodyPr wrap="none" lIns="0" tIns="0" rIns="0" bIns="0" rtlCol="0" anchor="ctr"/>
          <a:lstStyle/>
          <a:p>
            <a:pPr algn="ctr" indent="0" marL="0">
              <a:buNone/>
            </a:pPr>
            <a:r>
              <a:rPr lang="en-US" sz="1547" dirty="0">
                <a:solidFill>
                  <a:srgbClr val="DC2626"/>
                </a:solidFill>
                <a:latin typeface="Segoe UI Symbol" pitchFamily="34" charset="0"/>
                <a:ea typeface="Segoe UI Symbol" pitchFamily="34" charset="-122"/>
                <a:cs typeface="Segoe UI Symbol" pitchFamily="34" charset="-120"/>
              </a:rPr>
              <a:t>✦</a:t>
            </a:r>
            <a:endParaRPr lang="en-US" sz="1547" dirty="0"/>
          </a:p>
        </p:txBody>
      </p:sp>
      <p:sp>
        <p:nvSpPr>
          <p:cNvPr id="52" name="Text 48"/>
          <p:cNvSpPr/>
          <p:nvPr/>
        </p:nvSpPr>
        <p:spPr>
          <a:xfrm>
            <a:off x="5316736" y="2888866"/>
            <a:ext cx="1001660" cy="138875"/>
          </a:xfrm>
          <a:prstGeom prst="rect">
            <a:avLst/>
          </a:prstGeom>
          <a:noFill/>
          <a:ln/>
        </p:spPr>
        <p:txBody>
          <a:bodyPr wrap="none" lIns="0" tIns="0" rIns="0" bIns="0" rtlCol="0" anchor="t"/>
          <a:lstStyle/>
          <a:p>
            <a:pPr algn="l" indent="0" marL="0">
              <a:lnSpc>
                <a:spcPts val="1013"/>
              </a:lnSpc>
              <a:buNone/>
            </a:pPr>
            <a:r>
              <a:rPr lang="en-US" sz="844" b="1" dirty="0">
                <a:solidFill>
                  <a:srgbClr val="0F172A"/>
                </a:solidFill>
                <a:latin typeface="Carlito" pitchFamily="34" charset="0"/>
                <a:ea typeface="Carlito" pitchFamily="34" charset="-122"/>
                <a:cs typeface="Carlito" pitchFamily="34" charset="-120"/>
              </a:rPr>
              <a:t>الدورة الصغرى</a:t>
            </a:r>
            <a:endParaRPr lang="en-US" sz="844" dirty="0"/>
          </a:p>
        </p:txBody>
      </p:sp>
      <p:sp>
        <p:nvSpPr>
          <p:cNvPr id="53" name="Text 49"/>
          <p:cNvSpPr/>
          <p:nvPr/>
        </p:nvSpPr>
        <p:spPr>
          <a:xfrm>
            <a:off x="4356460" y="3060316"/>
            <a:ext cx="2085645" cy="129480"/>
          </a:xfrm>
          <a:prstGeom prst="rect">
            <a:avLst/>
          </a:prstGeom>
          <a:noFill/>
          <a:ln/>
        </p:spPr>
        <p:txBody>
          <a:bodyPr wrap="square" lIns="0" tIns="0" rIns="0" bIns="0" rtlCol="0" anchor="t"/>
          <a:lstStyle/>
          <a:p>
            <a:pPr algn="l" indent="0" marL="0">
              <a:lnSpc>
                <a:spcPts val="1020"/>
              </a:lnSpc>
              <a:buNone/>
            </a:pPr>
            <a:r>
              <a:rPr lang="en-US" sz="800" dirty="0">
                <a:solidFill>
                  <a:srgbClr val="334155"/>
                </a:solidFill>
                <a:latin typeface="Carlito" pitchFamily="34" charset="0"/>
                <a:ea typeface="Carlito" pitchFamily="34" charset="-122"/>
                <a:cs typeface="Carlito" pitchFamily="34" charset="-120"/>
              </a:rPr>
              <a:t>من القلب للرئتين — تحميل الأكسجين</a:t>
            </a:r>
            <a:endParaRPr lang="en-US" sz="800" dirty="0"/>
          </a:p>
        </p:txBody>
      </p:sp>
      <p:sp>
        <p:nvSpPr>
          <p:cNvPr id="54" name="Text 50"/>
          <p:cNvSpPr/>
          <p:nvPr/>
        </p:nvSpPr>
        <p:spPr>
          <a:xfrm>
            <a:off x="403622" y="675084"/>
            <a:ext cx="3670660" cy="4264819"/>
          </a:xfrm>
          <a:prstGeom prst="roundRect">
            <a:avLst>
              <a:gd name="adj" fmla="val 4152"/>
            </a:avLst>
          </a:prstGeom>
          <a:solidFill>
            <a:srgbClr val="F8FAFC"/>
          </a:solidFill>
          <a:ln w="7144">
            <a:solidFill>
              <a:srgbClr val="E2E8F0"/>
            </a:solidFill>
            <a:prstDash val="solid"/>
          </a:ln>
          <a:effectLst>
            <a:outerShdw sx="100000" sy="100000" kx="0" ky="0" algn="bl" rotWithShape="0" blurRad="266700" dist="76200" dir="5400000">
              <a:srgbClr val="0F172A">
                <a:alpha val="6000"/>
              </a:srgbClr>
            </a:outerShdw>
          </a:effectLst>
        </p:spPr>
        <p:txBody>
          <a:bodyPr wrap="square" rtlCol="0" anchor="ctr"/>
          <a:lstStyle/>
          <a:p>
            <a:pPr indent="0" marL="0">
              <a:buNone/>
            </a:pPr>
            <a:endParaRPr lang="en-US" dirty="0"/>
          </a:p>
        </p:txBody>
      </p:sp>
      <p:pic>
        <p:nvPicPr>
          <p:cNvPr id="55" name="Image 2" descr="/tmp/h2p-fit-1789634204798-7b9934.png">    </p:cNvPr>
          <p:cNvPicPr>
            <a:picLocks noChangeAspect="1"/>
          </p:cNvPicPr>
          <p:nvPr/>
        </p:nvPicPr>
        <p:blipFill>
          <a:blip r:embed="rId3"/>
          <a:stretch>
            <a:fillRect/>
          </a:stretch>
        </p:blipFill>
        <p:spPr>
          <a:xfrm>
            <a:off x="407194" y="678656"/>
            <a:ext cx="3663516" cy="4257675"/>
          </a:xfrm>
          <a:prstGeom prst="rect">
            <a:avLst/>
          </a:prstGeom>
        </p:spPr>
      </p:pic>
      <p:sp>
        <p:nvSpPr>
          <p:cNvPr id="56" name="Text 51"/>
          <p:cNvSpPr/>
          <p:nvPr/>
        </p:nvSpPr>
        <p:spPr>
          <a:xfrm>
            <a:off x="492919" y="4636294"/>
            <a:ext cx="1645518" cy="214313"/>
          </a:xfrm>
          <a:prstGeom prst="roundRect">
            <a:avLst>
              <a:gd name="adj" fmla="val 4439990"/>
            </a:avLst>
          </a:prstGeom>
          <a:solidFill>
            <a:srgbClr val="1E40AF">
              <a:alpha val="94000"/>
            </a:srgbClr>
          </a:solidFill>
          <a:ln/>
        </p:spPr>
        <p:txBody>
          <a:bodyPr wrap="square" rtlCol="0" anchor="ctr"/>
          <a:lstStyle/>
          <a:p>
            <a:pPr indent="0" marL="0">
              <a:buNone/>
            </a:pPr>
            <a:endParaRPr lang="en-US" dirty="0"/>
          </a:p>
        </p:txBody>
      </p:sp>
      <p:sp>
        <p:nvSpPr>
          <p:cNvPr id="57" name="Text 52"/>
          <p:cNvSpPr/>
          <p:nvPr/>
        </p:nvSpPr>
        <p:spPr>
          <a:xfrm>
            <a:off x="578644" y="4693444"/>
            <a:ext cx="1331193" cy="128016"/>
          </a:xfrm>
          <a:prstGeom prst="rect">
            <a:avLst/>
          </a:prstGeom>
          <a:noFill/>
          <a:ln/>
        </p:spPr>
        <p:txBody>
          <a:bodyPr wrap="none" lIns="85725" tIns="42863" rIns="85725" bIns="42863" rtlCol="0" anchor="t"/>
          <a:lstStyle/>
          <a:p>
            <a:pPr algn="l" indent="0" marL="0">
              <a:lnSpc>
                <a:spcPts val="1013"/>
              </a:lnSpc>
              <a:buNone/>
            </a:pPr>
            <a:r>
              <a:rPr lang="en-US" sz="675" dirty="0">
                <a:solidFill>
                  <a:srgbClr val="FFFFFF"/>
                </a:solidFill>
                <a:latin typeface="Carlito" pitchFamily="34" charset="0"/>
                <a:ea typeface="Carlito" pitchFamily="34" charset="-122"/>
                <a:cs typeface="Carlito" pitchFamily="34" charset="-120"/>
              </a:rPr>
              <a:t>نموذج تشريحي — القلب والأوعية</a:t>
            </a:r>
            <a:endParaRPr lang="en-US" sz="675" dirty="0"/>
          </a:p>
        </p:txBody>
      </p:sp>
      <p:sp>
        <p:nvSpPr>
          <p:cNvPr id="58" name="Text 53"/>
          <p:cNvSpPr/>
          <p:nvPr/>
        </p:nvSpPr>
        <p:spPr>
          <a:xfrm>
            <a:off x="1952699" y="4693444"/>
            <a:ext cx="100013" cy="100013"/>
          </a:xfrm>
          <a:prstGeom prst="rect">
            <a:avLst/>
          </a:prstGeom>
          <a:noFill/>
          <a:ln/>
        </p:spPr>
        <p:txBody>
          <a:bodyPr wrap="none" lIns="0" tIns="0" rIns="0" bIns="0" rtlCol="0" anchor="ctr"/>
          <a:lstStyle/>
          <a:p>
            <a:pPr algn="ctr" indent="0" marL="0">
              <a:buNone/>
            </a:pPr>
            <a:r>
              <a:rPr lang="en-US" sz="984" dirty="0">
                <a:solidFill>
                  <a:srgbClr val="FFFFFF"/>
                </a:solidFill>
                <a:latin typeface="Segoe UI Symbol" pitchFamily="34" charset="0"/>
                <a:ea typeface="Segoe UI Symbol" pitchFamily="34" charset="-122"/>
                <a:cs typeface="Segoe UI Symbol" pitchFamily="34" charset="-120"/>
              </a:rPr>
              <a:t>♥</a:t>
            </a:r>
            <a:endParaRPr lang="en-US" sz="984"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8486775" y="200025"/>
            <a:ext cx="257175" cy="257175"/>
          </a:xfrm>
          <a:prstGeom prst="ellipse">
            <a:avLst/>
          </a:prstGeom>
          <a:solidFill>
            <a:srgbClr val="DC2626"/>
          </a:solidFill>
          <a:ln/>
        </p:spPr>
        <p:txBody>
          <a:bodyPr wrap="square" rtlCol="0" anchor="ctr"/>
          <a:lstStyle/>
          <a:p>
            <a:pPr indent="0" marL="0">
              <a:buNone/>
            </a:pPr>
            <a:endParaRPr lang="en-US" dirty="0"/>
          </a:p>
        </p:txBody>
      </p:sp>
      <p:sp>
        <p:nvSpPr>
          <p:cNvPr id="5" name="Text 1"/>
          <p:cNvSpPr/>
          <p:nvPr/>
        </p:nvSpPr>
        <p:spPr>
          <a:xfrm>
            <a:off x="8486775" y="200025"/>
            <a:ext cx="257175" cy="257175"/>
          </a:xfrm>
          <a:prstGeom prst="rect">
            <a:avLst/>
          </a:prstGeom>
          <a:noFill/>
          <a:ln/>
        </p:spPr>
        <p:txBody>
          <a:bodyPr wrap="none" lIns="0" tIns="0" rIns="0" bIns="0" rtlCol="0" anchor="ctr"/>
          <a:lstStyle/>
          <a:p>
            <a:pPr algn="ctr" indent="0" marL="0">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04</a:t>
            </a:r>
            <a:endParaRPr lang="en-US" sz="800" dirty="0"/>
          </a:p>
        </p:txBody>
      </p:sp>
      <p:sp>
        <p:nvSpPr>
          <p:cNvPr id="6" name="Text 2"/>
          <p:cNvSpPr/>
          <p:nvPr/>
        </p:nvSpPr>
        <p:spPr>
          <a:xfrm>
            <a:off x="6447569" y="207169"/>
            <a:ext cx="2406132" cy="262319"/>
          </a:xfrm>
          <a:prstGeom prst="rect">
            <a:avLst/>
          </a:prstGeom>
          <a:noFill/>
          <a:ln/>
        </p:spPr>
        <p:txBody>
          <a:bodyPr wrap="none" lIns="0" tIns="0" rIns="0" bIns="0" rtlCol="0" anchor="t"/>
          <a:lstStyle/>
          <a:p>
            <a:pPr algn="l" indent="0" marL="0">
              <a:lnSpc>
                <a:spcPts val="1913"/>
              </a:lnSpc>
              <a:buNone/>
            </a:pPr>
            <a:r>
              <a:rPr lang="en-US" sz="1913" b="1" dirty="0">
                <a:solidFill>
                  <a:srgbClr val="1E40AF"/>
                </a:solidFill>
                <a:latin typeface="Carlito" pitchFamily="34" charset="0"/>
                <a:ea typeface="Carlito" pitchFamily="34" charset="-122"/>
                <a:cs typeface="Carlito" pitchFamily="34" charset="-120"/>
              </a:rPr>
              <a:t>الجهاز التنفسي</a:t>
            </a:r>
            <a:endParaRPr lang="en-US" sz="1913" dirty="0"/>
          </a:p>
        </p:txBody>
      </p:sp>
      <p:sp>
        <p:nvSpPr>
          <p:cNvPr id="7" name="Text 3"/>
          <p:cNvSpPr/>
          <p:nvPr/>
        </p:nvSpPr>
        <p:spPr>
          <a:xfrm>
            <a:off x="5471554" y="258961"/>
            <a:ext cx="1068634" cy="164592"/>
          </a:xfrm>
          <a:prstGeom prst="rect">
            <a:avLst/>
          </a:prstGeom>
          <a:noFill/>
          <a:ln/>
        </p:spPr>
        <p:txBody>
          <a:bodyPr wrap="none" lIns="0" tIns="0" rIns="0" bIns="0" rtlCol="0" anchor="t"/>
          <a:lstStyle/>
          <a:p>
            <a:pPr algn="l" indent="0" marL="0">
              <a:lnSpc>
                <a:spcPts val="1097"/>
              </a:lnSpc>
              <a:buNone/>
            </a:pPr>
            <a:r>
              <a:rPr lang="en-US" sz="800" i="1" spc="23" kern="0" dirty="0">
                <a:solidFill>
                  <a:srgbClr val="64748B"/>
                </a:solidFill>
                <a:latin typeface="Carlito" pitchFamily="34" charset="0"/>
                <a:ea typeface="Carlito" pitchFamily="34" charset="-122"/>
                <a:cs typeface="Carlito" pitchFamily="34" charset="-120"/>
              </a:rPr>
              <a:t>Respiratory System</a:t>
            </a:r>
            <a:endParaRPr lang="en-US" sz="800" dirty="0"/>
          </a:p>
        </p:txBody>
      </p:sp>
      <p:sp>
        <p:nvSpPr>
          <p:cNvPr id="8" name="Text 4"/>
          <p:cNvSpPr/>
          <p:nvPr/>
        </p:nvSpPr>
        <p:spPr>
          <a:xfrm>
            <a:off x="8343900" y="528638"/>
            <a:ext cx="400050" cy="28575"/>
          </a:xfrm>
          <a:prstGeom prst="roundRect">
            <a:avLst>
              <a:gd name="adj" fmla="val 66667"/>
            </a:avLst>
          </a:prstGeom>
          <a:solidFill>
            <a:srgbClr val="DC2626"/>
          </a:solidFill>
          <a:ln/>
        </p:spPr>
        <p:txBody>
          <a:bodyPr wrap="square" rtlCol="0" anchor="ctr"/>
          <a:lstStyle/>
          <a:p>
            <a:pPr indent="0" marL="0">
              <a:buNone/>
            </a:pPr>
            <a:endParaRPr lang="en-US" dirty="0"/>
          </a:p>
        </p:txBody>
      </p:sp>
      <p:sp>
        <p:nvSpPr>
          <p:cNvPr id="9" name="Text 5"/>
          <p:cNvSpPr/>
          <p:nvPr/>
        </p:nvSpPr>
        <p:spPr>
          <a:xfrm>
            <a:off x="5164150" y="675084"/>
            <a:ext cx="3576228" cy="4264819"/>
          </a:xfrm>
          <a:prstGeom prst="roundRect">
            <a:avLst>
              <a:gd name="adj" fmla="val 4261"/>
            </a:avLst>
          </a:prstGeom>
          <a:solidFill>
            <a:srgbClr val="F8FAFC"/>
          </a:solidFill>
          <a:ln w="7144">
            <a:solidFill>
              <a:srgbClr val="E2E8F0"/>
            </a:solidFill>
            <a:prstDash val="solid"/>
          </a:ln>
          <a:effectLst>
            <a:outerShdw sx="100000" sy="100000" kx="0" ky="0" algn="bl" rotWithShape="0" blurRad="266700" dist="76200" dir="5400000">
              <a:srgbClr val="0F172A">
                <a:alpha val="6000"/>
              </a:srgbClr>
            </a:outerShdw>
          </a:effectLst>
        </p:spPr>
        <p:txBody>
          <a:bodyPr wrap="square" rtlCol="0" anchor="ctr"/>
          <a:lstStyle/>
          <a:p>
            <a:pPr indent="0" marL="0">
              <a:buNone/>
            </a:pPr>
            <a:endParaRPr lang="en-US" dirty="0"/>
          </a:p>
        </p:txBody>
      </p:sp>
      <p:pic>
        <p:nvPicPr>
          <p:cNvPr id="10" name="Image 2" descr="/tmp/h2p-fit-1789634205722-z77flm.png">    </p:cNvPr>
          <p:cNvPicPr>
            <a:picLocks noChangeAspect="1"/>
          </p:cNvPicPr>
          <p:nvPr/>
        </p:nvPicPr>
        <p:blipFill>
          <a:blip r:embed="rId3"/>
          <a:stretch>
            <a:fillRect/>
          </a:stretch>
        </p:blipFill>
        <p:spPr>
          <a:xfrm>
            <a:off x="5167722" y="678656"/>
            <a:ext cx="3569084" cy="4257675"/>
          </a:xfrm>
          <a:prstGeom prst="rect">
            <a:avLst/>
          </a:prstGeom>
        </p:spPr>
      </p:pic>
      <p:sp>
        <p:nvSpPr>
          <p:cNvPr id="11" name="Text 6"/>
          <p:cNvSpPr/>
          <p:nvPr/>
        </p:nvSpPr>
        <p:spPr>
          <a:xfrm>
            <a:off x="6781763" y="4636294"/>
            <a:ext cx="1869318" cy="214313"/>
          </a:xfrm>
          <a:prstGeom prst="roundRect">
            <a:avLst>
              <a:gd name="adj" fmla="val 4439990"/>
            </a:avLst>
          </a:prstGeom>
          <a:solidFill>
            <a:srgbClr val="1E40AF">
              <a:alpha val="94000"/>
            </a:srgbClr>
          </a:solidFill>
          <a:ln/>
        </p:spPr>
        <p:txBody>
          <a:bodyPr wrap="square" rtlCol="0" anchor="ctr"/>
          <a:lstStyle/>
          <a:p>
            <a:pPr indent="0" marL="0">
              <a:buNone/>
            </a:pPr>
            <a:endParaRPr lang="en-US" dirty="0"/>
          </a:p>
        </p:txBody>
      </p:sp>
      <p:sp>
        <p:nvSpPr>
          <p:cNvPr id="12" name="Text 7"/>
          <p:cNvSpPr/>
          <p:nvPr/>
        </p:nvSpPr>
        <p:spPr>
          <a:xfrm>
            <a:off x="6867488" y="4693444"/>
            <a:ext cx="1554993" cy="128016"/>
          </a:xfrm>
          <a:prstGeom prst="rect">
            <a:avLst/>
          </a:prstGeom>
          <a:noFill/>
          <a:ln/>
        </p:spPr>
        <p:txBody>
          <a:bodyPr wrap="square" lIns="85725" tIns="42863" rIns="85725" bIns="42863" rtlCol="0" anchor="t"/>
          <a:lstStyle/>
          <a:p>
            <a:pPr algn="l" indent="0" marL="0">
              <a:lnSpc>
                <a:spcPts val="1013"/>
              </a:lnSpc>
              <a:buNone/>
            </a:pPr>
            <a:r>
              <a:rPr lang="en-US" sz="675" dirty="0">
                <a:solidFill>
                  <a:srgbClr val="FFFFFF"/>
                </a:solidFill>
                <a:latin typeface="Carlito" pitchFamily="34" charset="0"/>
                <a:ea typeface="Carlito" pitchFamily="34" charset="-122"/>
                <a:cs typeface="Carlito" pitchFamily="34" charset="-120"/>
              </a:rPr>
              <a:t>القلب بين الرئتين — تبادل الغازات</a:t>
            </a:r>
            <a:endParaRPr lang="en-US" sz="675" dirty="0"/>
          </a:p>
        </p:txBody>
      </p:sp>
      <p:sp>
        <p:nvSpPr>
          <p:cNvPr id="13" name="Text 8"/>
          <p:cNvSpPr/>
          <p:nvPr/>
        </p:nvSpPr>
        <p:spPr>
          <a:xfrm>
            <a:off x="8465344" y="4693444"/>
            <a:ext cx="100013" cy="100013"/>
          </a:xfrm>
          <a:prstGeom prst="rect">
            <a:avLst/>
          </a:prstGeom>
          <a:noFill/>
          <a:ln/>
        </p:spPr>
        <p:txBody>
          <a:bodyPr wrap="none" lIns="0" tIns="0" rIns="0" bIns="0" rtlCol="0" anchor="ctr"/>
          <a:lstStyle/>
          <a:p>
            <a:pPr algn="ctr" indent="0" marL="0">
              <a:buNone/>
            </a:pPr>
            <a:r>
              <a:rPr lang="en-US" sz="984" dirty="0">
                <a:solidFill>
                  <a:srgbClr val="FFFFFF"/>
                </a:solidFill>
                <a:latin typeface="Segoe UI Symbol" pitchFamily="34" charset="0"/>
                <a:ea typeface="Segoe UI Symbol" pitchFamily="34" charset="-122"/>
                <a:cs typeface="Segoe UI Symbol" pitchFamily="34" charset="-120"/>
              </a:rPr>
              <a:t>♥</a:t>
            </a:r>
            <a:endParaRPr lang="en-US" sz="984" dirty="0"/>
          </a:p>
        </p:txBody>
      </p:sp>
      <p:sp>
        <p:nvSpPr>
          <p:cNvPr id="14" name="Text 9"/>
          <p:cNvSpPr/>
          <p:nvPr/>
        </p:nvSpPr>
        <p:spPr>
          <a:xfrm>
            <a:off x="400050" y="671513"/>
            <a:ext cx="4589078" cy="369126"/>
          </a:xfrm>
          <a:prstGeom prst="rect">
            <a:avLst/>
          </a:prstGeom>
          <a:noFill/>
          <a:ln/>
        </p:spPr>
        <p:txBody>
          <a:bodyPr wrap="square" lIns="0" tIns="0" rIns="0" bIns="0" rtlCol="0" anchor="t"/>
          <a:lstStyle/>
          <a:p>
            <a:pPr algn="l" indent="0" marL="0">
              <a:lnSpc>
                <a:spcPts val="1346"/>
              </a:lnSpc>
              <a:buNone/>
            </a:pPr>
            <a:r>
              <a:rPr lang="en-US" sz="816" dirty="0">
                <a:solidFill>
                  <a:srgbClr val="334155"/>
                </a:solidFill>
                <a:latin typeface="Carlito" pitchFamily="34" charset="0"/>
                <a:ea typeface="Carlito" pitchFamily="34" charset="-122"/>
                <a:cs typeface="Carlito" pitchFamily="34" charset="-120"/>
              </a:rPr>
              <a:t>الجهاز التنفسي مسؤول عن تبادل الغازات الحيوي — يدخل الأكسجين إلى الجسم ويخرج ثاني أكسيد الكربون. تتم العملية تلقائياً </a:t>
            </a:r>
            <a:pPr algn="l" indent="0" marL="0">
              <a:lnSpc>
                <a:spcPts val="1346"/>
              </a:lnSpc>
              <a:buNone/>
            </a:pPr>
            <a:r>
              <a:rPr lang="en-US" sz="816" b="1" dirty="0">
                <a:solidFill>
                  <a:srgbClr val="1E40AF"/>
                </a:solidFill>
                <a:latin typeface="Liberation Sans Narrow" pitchFamily="34" charset="0"/>
                <a:ea typeface="Liberation Sans Narrow" pitchFamily="34" charset="-122"/>
                <a:cs typeface="Liberation Sans Narrow" pitchFamily="34" charset="-120"/>
              </a:rPr>
              <a:t>~20,000</a:t>
            </a:r>
            <a:pPr algn="l" indent="0" marL="0">
              <a:lnSpc>
                <a:spcPts val="1346"/>
              </a:lnSpc>
              <a:buNone/>
            </a:pPr>
            <a:r>
              <a:rPr lang="en-US" sz="816" dirty="0">
                <a:solidFill>
                  <a:srgbClr val="334155"/>
                </a:solidFill>
                <a:latin typeface="Carlito" pitchFamily="34" charset="0"/>
                <a:ea typeface="Carlito" pitchFamily="34" charset="-122"/>
                <a:cs typeface="Carlito" pitchFamily="34" charset="-120"/>
              </a:rPr>
              <a:t> مرة يومياً دون أي جهد واعٍ منا.</a:t>
            </a:r>
            <a:endParaRPr lang="en-US" sz="816" dirty="0"/>
          </a:p>
        </p:txBody>
      </p:sp>
      <p:sp>
        <p:nvSpPr>
          <p:cNvPr id="15" name="Text 10"/>
          <p:cNvSpPr/>
          <p:nvPr/>
        </p:nvSpPr>
        <p:spPr>
          <a:xfrm>
            <a:off x="400050" y="1091878"/>
            <a:ext cx="5378399" cy="123444"/>
          </a:xfrm>
          <a:prstGeom prst="rect">
            <a:avLst/>
          </a:prstGeom>
          <a:noFill/>
          <a:ln/>
        </p:spPr>
        <p:txBody>
          <a:bodyPr wrap="none" lIns="0" tIns="0" rIns="0" bIns="0" rtlCol="0" anchor="t"/>
          <a:lstStyle/>
          <a:p>
            <a:pPr algn="l" indent="0" marL="0">
              <a:lnSpc>
                <a:spcPts val="900"/>
              </a:lnSpc>
              <a:buNone/>
            </a:pPr>
            <a:r>
              <a:rPr lang="en-US" sz="900" b="1" dirty="0">
                <a:solidFill>
                  <a:srgbClr val="1E40AF"/>
                </a:solidFill>
                <a:latin typeface="Carlito" pitchFamily="34" charset="0"/>
                <a:ea typeface="Carlito" pitchFamily="34" charset="-122"/>
                <a:cs typeface="Carlito" pitchFamily="34" charset="-120"/>
              </a:rPr>
              <a:t>مسار الهواء:</a:t>
            </a:r>
            <a:endParaRPr lang="en-US" sz="900" dirty="0"/>
          </a:p>
        </p:txBody>
      </p:sp>
      <p:sp>
        <p:nvSpPr>
          <p:cNvPr id="16" name="Text 11"/>
          <p:cNvSpPr/>
          <p:nvPr/>
        </p:nvSpPr>
        <p:spPr>
          <a:xfrm>
            <a:off x="4417628" y="1271957"/>
            <a:ext cx="571500" cy="279206"/>
          </a:xfrm>
          <a:prstGeom prst="roundRect">
            <a:avLst>
              <a:gd name="adj" fmla="val 3408048"/>
            </a:avLst>
          </a:prstGeom>
          <a:solidFill>
            <a:srgbClr val="F8FAFC"/>
          </a:solidFill>
          <a:ln w="7144">
            <a:solidFill>
              <a:srgbClr val="E2E8F0"/>
            </a:solidFill>
            <a:prstDash val="solid"/>
          </a:ln>
          <a:effectLst>
            <a:outerShdw sx="100000" sy="100000" kx="0" ky="0" algn="bl" rotWithShape="0" blurRad="57150" dist="19050" dir="5400000">
              <a:srgbClr val="0F172A">
                <a:alpha val="4000"/>
              </a:srgbClr>
            </a:outerShdw>
          </a:effectLst>
        </p:spPr>
        <p:txBody>
          <a:bodyPr wrap="square" rtlCol="0" anchor="ctr"/>
          <a:lstStyle/>
          <a:p>
            <a:pPr indent="0" marL="0">
              <a:buNone/>
            </a:pPr>
            <a:endParaRPr lang="en-US" dirty="0"/>
          </a:p>
        </p:txBody>
      </p:sp>
      <p:sp>
        <p:nvSpPr>
          <p:cNvPr id="17" name="Text 12"/>
          <p:cNvSpPr/>
          <p:nvPr/>
        </p:nvSpPr>
        <p:spPr>
          <a:xfrm>
            <a:off x="4510497" y="1356196"/>
            <a:ext cx="478631" cy="126609"/>
          </a:xfrm>
          <a:prstGeom prst="rect">
            <a:avLst/>
          </a:prstGeom>
          <a:noFill/>
          <a:ln/>
        </p:spPr>
        <p:txBody>
          <a:bodyPr wrap="none" lIns="0" tIns="0" rIns="0" bIns="0" rtlCol="0" anchor="t"/>
          <a:lstStyle/>
          <a:p>
            <a:pPr algn="l" indent="0" marL="0">
              <a:lnSpc>
                <a:spcPts val="1097"/>
              </a:lnSpc>
              <a:buNone/>
            </a:pPr>
            <a:r>
              <a:rPr lang="en-US" sz="800" b="1" dirty="0">
                <a:solidFill>
                  <a:srgbClr val="1E40AF"/>
                </a:solidFill>
                <a:latin typeface="Carlito" pitchFamily="34" charset="0"/>
                <a:ea typeface="Carlito" pitchFamily="34" charset="-122"/>
                <a:cs typeface="Carlito" pitchFamily="34" charset="-120"/>
              </a:rPr>
              <a:t>الأنف</a:t>
            </a:r>
            <a:endParaRPr lang="en-US" sz="800" dirty="0"/>
          </a:p>
        </p:txBody>
      </p:sp>
      <p:sp>
        <p:nvSpPr>
          <p:cNvPr id="18" name="Text 13"/>
          <p:cNvSpPr/>
          <p:nvPr/>
        </p:nvSpPr>
        <p:spPr>
          <a:xfrm>
            <a:off x="4781959" y="1354410"/>
            <a:ext cx="114300" cy="114300"/>
          </a:xfrm>
          <a:prstGeom prst="rect">
            <a:avLst/>
          </a:prstGeom>
          <a:noFill/>
          <a:ln/>
        </p:spPr>
        <p:txBody>
          <a:bodyPr wrap="none" lIns="0" tIns="0" rIns="0" bIns="0" rtlCol="0" anchor="ctr"/>
          <a:lstStyle/>
          <a:p>
            <a:pPr algn="ctr" indent="0" marL="0">
              <a:buNone/>
            </a:pPr>
            <a:r>
              <a:rPr lang="en-US" sz="1125" dirty="0">
                <a:solidFill>
                  <a:srgbClr val="DC2626"/>
                </a:solidFill>
                <a:latin typeface="Segoe UI Symbol" pitchFamily="34" charset="0"/>
                <a:ea typeface="Segoe UI Symbol" pitchFamily="34" charset="-122"/>
                <a:cs typeface="Segoe UI Symbol" pitchFamily="34" charset="-120"/>
              </a:rPr>
              <a:t>✦</a:t>
            </a:r>
            <a:endParaRPr lang="en-US" sz="1125" dirty="0"/>
          </a:p>
        </p:txBody>
      </p:sp>
      <p:sp>
        <p:nvSpPr>
          <p:cNvPr id="19" name="Text 14"/>
          <p:cNvSpPr/>
          <p:nvPr/>
        </p:nvSpPr>
        <p:spPr>
          <a:xfrm>
            <a:off x="4260466" y="1347267"/>
            <a:ext cx="128588" cy="128588"/>
          </a:xfrm>
          <a:prstGeom prst="rect">
            <a:avLst/>
          </a:prstGeom>
          <a:noFill/>
          <a:ln/>
        </p:spPr>
        <p:txBody>
          <a:bodyPr wrap="none" lIns="0" tIns="0" rIns="0" bIns="0" rtlCol="0" anchor="ctr"/>
          <a:lstStyle/>
          <a:p>
            <a:pPr algn="ctr" indent="0" marL="0">
              <a:buNone/>
            </a:pPr>
            <a:r>
              <a:rPr lang="en-US" sz="1266" dirty="0">
                <a:solidFill>
                  <a:srgbClr val="64748B"/>
                </a:solidFill>
                <a:latin typeface="Segoe UI Symbol" pitchFamily="34" charset="0"/>
                <a:ea typeface="Segoe UI Symbol" pitchFamily="34" charset="-122"/>
                <a:cs typeface="Segoe UI Symbol" pitchFamily="34" charset="-120"/>
              </a:rPr>
              <a:t>←</a:t>
            </a:r>
            <a:endParaRPr lang="en-US" sz="1266" dirty="0"/>
          </a:p>
        </p:txBody>
      </p:sp>
      <p:sp>
        <p:nvSpPr>
          <p:cNvPr id="20" name="Text 15"/>
          <p:cNvSpPr/>
          <p:nvPr/>
        </p:nvSpPr>
        <p:spPr>
          <a:xfrm>
            <a:off x="3488941" y="1271957"/>
            <a:ext cx="742950" cy="279206"/>
          </a:xfrm>
          <a:prstGeom prst="roundRect">
            <a:avLst>
              <a:gd name="adj" fmla="val 3408048"/>
            </a:avLst>
          </a:prstGeom>
          <a:solidFill>
            <a:srgbClr val="F8FAFC"/>
          </a:solidFill>
          <a:ln w="7144">
            <a:solidFill>
              <a:srgbClr val="E2E8F0"/>
            </a:solidFill>
            <a:prstDash val="solid"/>
          </a:ln>
          <a:effectLst>
            <a:outerShdw sx="100000" sy="100000" kx="0" ky="0" algn="bl" rotWithShape="0" blurRad="57150" dist="19050" dir="5400000">
              <a:srgbClr val="0F172A">
                <a:alpha val="4000"/>
              </a:srgbClr>
            </a:outerShdw>
          </a:effectLst>
        </p:spPr>
        <p:txBody>
          <a:bodyPr wrap="square" rtlCol="0" anchor="ctr"/>
          <a:lstStyle/>
          <a:p>
            <a:pPr indent="0" marL="0">
              <a:buNone/>
            </a:pPr>
            <a:endParaRPr lang="en-US" dirty="0"/>
          </a:p>
        </p:txBody>
      </p:sp>
      <p:sp>
        <p:nvSpPr>
          <p:cNvPr id="21" name="Text 16"/>
          <p:cNvSpPr/>
          <p:nvPr/>
        </p:nvSpPr>
        <p:spPr>
          <a:xfrm>
            <a:off x="3581809" y="1356196"/>
            <a:ext cx="664369" cy="126609"/>
          </a:xfrm>
          <a:prstGeom prst="rect">
            <a:avLst/>
          </a:prstGeom>
          <a:noFill/>
          <a:ln/>
        </p:spPr>
        <p:txBody>
          <a:bodyPr wrap="none" lIns="0" tIns="0" rIns="0" bIns="0" rtlCol="0" anchor="t"/>
          <a:lstStyle/>
          <a:p>
            <a:pPr algn="l" indent="0" marL="0">
              <a:lnSpc>
                <a:spcPts val="1097"/>
              </a:lnSpc>
              <a:buNone/>
            </a:pPr>
            <a:r>
              <a:rPr lang="en-US" sz="800" b="1" dirty="0">
                <a:solidFill>
                  <a:srgbClr val="1E40AF"/>
                </a:solidFill>
                <a:latin typeface="Carlito" pitchFamily="34" charset="0"/>
                <a:ea typeface="Carlito" pitchFamily="34" charset="-122"/>
                <a:cs typeface="Carlito" pitchFamily="34" charset="-120"/>
              </a:rPr>
              <a:t>البلعوم</a:t>
            </a:r>
            <a:endParaRPr lang="en-US" sz="800" dirty="0"/>
          </a:p>
        </p:txBody>
      </p:sp>
      <p:sp>
        <p:nvSpPr>
          <p:cNvPr id="22" name="Text 17"/>
          <p:cNvSpPr/>
          <p:nvPr/>
        </p:nvSpPr>
        <p:spPr>
          <a:xfrm>
            <a:off x="4024722" y="1354410"/>
            <a:ext cx="114300" cy="114300"/>
          </a:xfrm>
          <a:prstGeom prst="rect">
            <a:avLst/>
          </a:prstGeom>
          <a:noFill/>
          <a:ln/>
        </p:spPr>
        <p:txBody>
          <a:bodyPr wrap="none" lIns="0" tIns="0" rIns="0" bIns="0" rtlCol="0" anchor="ctr"/>
          <a:lstStyle/>
          <a:p>
            <a:pPr algn="ctr" indent="0" marL="0">
              <a:buNone/>
            </a:pPr>
            <a:r>
              <a:rPr lang="en-US" sz="1125" dirty="0">
                <a:solidFill>
                  <a:srgbClr val="DC2626"/>
                </a:solidFill>
                <a:latin typeface="Segoe UI Symbol" pitchFamily="34" charset="0"/>
                <a:ea typeface="Segoe UI Symbol" pitchFamily="34" charset="-122"/>
                <a:cs typeface="Segoe UI Symbol" pitchFamily="34" charset="-120"/>
              </a:rPr>
              <a:t>●</a:t>
            </a:r>
            <a:endParaRPr lang="en-US" sz="1125" dirty="0"/>
          </a:p>
        </p:txBody>
      </p:sp>
      <p:sp>
        <p:nvSpPr>
          <p:cNvPr id="23" name="Text 18"/>
          <p:cNvSpPr/>
          <p:nvPr/>
        </p:nvSpPr>
        <p:spPr>
          <a:xfrm>
            <a:off x="3331778" y="1347267"/>
            <a:ext cx="128588" cy="128588"/>
          </a:xfrm>
          <a:prstGeom prst="rect">
            <a:avLst/>
          </a:prstGeom>
          <a:noFill/>
          <a:ln/>
        </p:spPr>
        <p:txBody>
          <a:bodyPr wrap="none" lIns="0" tIns="0" rIns="0" bIns="0" rtlCol="0" anchor="ctr"/>
          <a:lstStyle/>
          <a:p>
            <a:pPr algn="ctr" indent="0" marL="0">
              <a:buNone/>
            </a:pPr>
            <a:r>
              <a:rPr lang="en-US" sz="1266" dirty="0">
                <a:solidFill>
                  <a:srgbClr val="64748B"/>
                </a:solidFill>
                <a:latin typeface="Segoe UI Symbol" pitchFamily="34" charset="0"/>
                <a:ea typeface="Segoe UI Symbol" pitchFamily="34" charset="-122"/>
                <a:cs typeface="Segoe UI Symbol" pitchFamily="34" charset="-120"/>
              </a:rPr>
              <a:t>←</a:t>
            </a:r>
            <a:endParaRPr lang="en-US" sz="1266" dirty="0"/>
          </a:p>
        </p:txBody>
      </p:sp>
      <p:sp>
        <p:nvSpPr>
          <p:cNvPr id="24" name="Text 19"/>
          <p:cNvSpPr/>
          <p:nvPr/>
        </p:nvSpPr>
        <p:spPr>
          <a:xfrm>
            <a:off x="2560253" y="1271957"/>
            <a:ext cx="742950" cy="279206"/>
          </a:xfrm>
          <a:prstGeom prst="roundRect">
            <a:avLst>
              <a:gd name="adj" fmla="val 3408048"/>
            </a:avLst>
          </a:prstGeom>
          <a:solidFill>
            <a:srgbClr val="F8FAFC"/>
          </a:solidFill>
          <a:ln w="7144">
            <a:solidFill>
              <a:srgbClr val="E2E8F0"/>
            </a:solidFill>
            <a:prstDash val="solid"/>
          </a:ln>
          <a:effectLst>
            <a:outerShdw sx="100000" sy="100000" kx="0" ky="0" algn="bl" rotWithShape="0" blurRad="57150" dist="19050" dir="5400000">
              <a:srgbClr val="0F172A">
                <a:alpha val="4000"/>
              </a:srgbClr>
            </a:outerShdw>
          </a:effectLst>
        </p:spPr>
        <p:txBody>
          <a:bodyPr wrap="square" rtlCol="0" anchor="ctr"/>
          <a:lstStyle/>
          <a:p>
            <a:pPr indent="0" marL="0">
              <a:buNone/>
            </a:pPr>
            <a:endParaRPr lang="en-US" dirty="0"/>
          </a:p>
        </p:txBody>
      </p:sp>
      <p:sp>
        <p:nvSpPr>
          <p:cNvPr id="25" name="Text 20"/>
          <p:cNvSpPr/>
          <p:nvPr/>
        </p:nvSpPr>
        <p:spPr>
          <a:xfrm>
            <a:off x="2653122" y="1356196"/>
            <a:ext cx="664369" cy="126609"/>
          </a:xfrm>
          <a:prstGeom prst="rect">
            <a:avLst/>
          </a:prstGeom>
          <a:noFill/>
          <a:ln/>
        </p:spPr>
        <p:txBody>
          <a:bodyPr wrap="none" lIns="0" tIns="0" rIns="0" bIns="0" rtlCol="0" anchor="t"/>
          <a:lstStyle/>
          <a:p>
            <a:pPr algn="l" indent="0" marL="0">
              <a:lnSpc>
                <a:spcPts val="1097"/>
              </a:lnSpc>
              <a:buNone/>
            </a:pPr>
            <a:r>
              <a:rPr lang="en-US" sz="800" b="1" dirty="0">
                <a:solidFill>
                  <a:srgbClr val="1E40AF"/>
                </a:solidFill>
                <a:latin typeface="Carlito" pitchFamily="34" charset="0"/>
                <a:ea typeface="Carlito" pitchFamily="34" charset="-122"/>
                <a:cs typeface="Carlito" pitchFamily="34" charset="-120"/>
              </a:rPr>
              <a:t>الحنجرة</a:t>
            </a:r>
            <a:endParaRPr lang="en-US" sz="800" dirty="0"/>
          </a:p>
        </p:txBody>
      </p:sp>
      <p:sp>
        <p:nvSpPr>
          <p:cNvPr id="26" name="Text 21"/>
          <p:cNvSpPr/>
          <p:nvPr/>
        </p:nvSpPr>
        <p:spPr>
          <a:xfrm>
            <a:off x="3096034" y="1354410"/>
            <a:ext cx="114300" cy="114300"/>
          </a:xfrm>
          <a:prstGeom prst="rect">
            <a:avLst/>
          </a:prstGeom>
          <a:noFill/>
          <a:ln/>
        </p:spPr>
        <p:txBody>
          <a:bodyPr wrap="none" lIns="0" tIns="0" rIns="0" bIns="0" rtlCol="0" anchor="ctr"/>
          <a:lstStyle/>
          <a:p>
            <a:pPr algn="ctr" indent="0" marL="0">
              <a:buNone/>
            </a:pPr>
            <a:r>
              <a:rPr lang="en-US" sz="1125" dirty="0">
                <a:solidFill>
                  <a:srgbClr val="DC2626"/>
                </a:solidFill>
                <a:latin typeface="Segoe UI Symbol" pitchFamily="34" charset="0"/>
                <a:ea typeface="Segoe UI Symbol" pitchFamily="34" charset="-122"/>
                <a:cs typeface="Segoe UI Symbol" pitchFamily="34" charset="-120"/>
              </a:rPr>
              <a:t>▦</a:t>
            </a:r>
            <a:endParaRPr lang="en-US" sz="1125" dirty="0"/>
          </a:p>
        </p:txBody>
      </p:sp>
      <p:sp>
        <p:nvSpPr>
          <p:cNvPr id="27" name="Text 22"/>
          <p:cNvSpPr/>
          <p:nvPr/>
        </p:nvSpPr>
        <p:spPr>
          <a:xfrm>
            <a:off x="2403091" y="1347267"/>
            <a:ext cx="128588" cy="128588"/>
          </a:xfrm>
          <a:prstGeom prst="rect">
            <a:avLst/>
          </a:prstGeom>
          <a:noFill/>
          <a:ln/>
        </p:spPr>
        <p:txBody>
          <a:bodyPr wrap="none" lIns="0" tIns="0" rIns="0" bIns="0" rtlCol="0" anchor="ctr"/>
          <a:lstStyle/>
          <a:p>
            <a:pPr algn="ctr" indent="0" marL="0">
              <a:buNone/>
            </a:pPr>
            <a:r>
              <a:rPr lang="en-US" sz="1266" dirty="0">
                <a:solidFill>
                  <a:srgbClr val="64748B"/>
                </a:solidFill>
                <a:latin typeface="Segoe UI Symbol" pitchFamily="34" charset="0"/>
                <a:ea typeface="Segoe UI Symbol" pitchFamily="34" charset="-122"/>
                <a:cs typeface="Segoe UI Symbol" pitchFamily="34" charset="-120"/>
              </a:rPr>
              <a:t>←</a:t>
            </a:r>
            <a:endParaRPr lang="en-US" sz="1266" dirty="0"/>
          </a:p>
        </p:txBody>
      </p:sp>
      <p:sp>
        <p:nvSpPr>
          <p:cNvPr id="28" name="Text 23"/>
          <p:cNvSpPr/>
          <p:nvPr/>
        </p:nvSpPr>
        <p:spPr>
          <a:xfrm>
            <a:off x="1205619" y="1271957"/>
            <a:ext cx="1168896" cy="279206"/>
          </a:xfrm>
          <a:prstGeom prst="roundRect">
            <a:avLst>
              <a:gd name="adj" fmla="val 3408048"/>
            </a:avLst>
          </a:prstGeom>
          <a:solidFill>
            <a:srgbClr val="F8FAFC"/>
          </a:solidFill>
          <a:ln w="7144">
            <a:solidFill>
              <a:srgbClr val="E2E8F0"/>
            </a:solidFill>
            <a:prstDash val="solid"/>
          </a:ln>
          <a:effectLst>
            <a:outerShdw sx="100000" sy="100000" kx="0" ky="0" algn="bl" rotWithShape="0" blurRad="57150" dist="19050" dir="5400000">
              <a:srgbClr val="0F172A">
                <a:alpha val="4000"/>
              </a:srgbClr>
            </a:outerShdw>
          </a:effectLst>
        </p:spPr>
        <p:txBody>
          <a:bodyPr wrap="square" rtlCol="0" anchor="ctr"/>
          <a:lstStyle/>
          <a:p>
            <a:pPr indent="0" marL="0">
              <a:buNone/>
            </a:pPr>
            <a:endParaRPr lang="en-US" dirty="0"/>
          </a:p>
        </p:txBody>
      </p:sp>
      <p:sp>
        <p:nvSpPr>
          <p:cNvPr id="29" name="Text 24"/>
          <p:cNvSpPr/>
          <p:nvPr/>
        </p:nvSpPr>
        <p:spPr>
          <a:xfrm>
            <a:off x="1298488" y="1356196"/>
            <a:ext cx="1090315" cy="126609"/>
          </a:xfrm>
          <a:prstGeom prst="rect">
            <a:avLst/>
          </a:prstGeom>
          <a:noFill/>
          <a:ln/>
        </p:spPr>
        <p:txBody>
          <a:bodyPr wrap="none" lIns="0" tIns="0" rIns="0" bIns="0" rtlCol="0" anchor="t"/>
          <a:lstStyle/>
          <a:p>
            <a:pPr algn="l" indent="0" marL="0">
              <a:lnSpc>
                <a:spcPts val="1097"/>
              </a:lnSpc>
              <a:buNone/>
            </a:pPr>
            <a:r>
              <a:rPr lang="en-US" sz="800" b="1" dirty="0">
                <a:solidFill>
                  <a:srgbClr val="1E40AF"/>
                </a:solidFill>
                <a:latin typeface="Carlito" pitchFamily="34" charset="0"/>
                <a:ea typeface="Carlito" pitchFamily="34" charset="-122"/>
                <a:cs typeface="Carlito" pitchFamily="34" charset="-120"/>
              </a:rPr>
              <a:t>القصبة الهوائية</a:t>
            </a:r>
            <a:endParaRPr lang="en-US" sz="800" dirty="0"/>
          </a:p>
        </p:txBody>
      </p:sp>
      <p:sp>
        <p:nvSpPr>
          <p:cNvPr id="30" name="Text 25"/>
          <p:cNvSpPr/>
          <p:nvPr/>
        </p:nvSpPr>
        <p:spPr>
          <a:xfrm>
            <a:off x="2167347" y="1354410"/>
            <a:ext cx="114300" cy="114300"/>
          </a:xfrm>
          <a:prstGeom prst="rect">
            <a:avLst/>
          </a:prstGeom>
          <a:noFill/>
          <a:ln/>
        </p:spPr>
        <p:txBody>
          <a:bodyPr wrap="none" lIns="0" tIns="0" rIns="0" bIns="0" rtlCol="0" anchor="ctr"/>
          <a:lstStyle/>
          <a:p>
            <a:pPr algn="ctr" indent="0" marL="0">
              <a:buNone/>
            </a:pPr>
            <a:r>
              <a:rPr lang="en-US" sz="1125" dirty="0">
                <a:solidFill>
                  <a:srgbClr val="DC2626"/>
                </a:solidFill>
                <a:latin typeface="Segoe UI Symbol" pitchFamily="34" charset="0"/>
                <a:ea typeface="Segoe UI Symbol" pitchFamily="34" charset="-122"/>
                <a:cs typeface="Segoe UI Symbol" pitchFamily="34" charset="-120"/>
              </a:rPr>
              <a:t>◉</a:t>
            </a:r>
            <a:endParaRPr lang="en-US" sz="1125" dirty="0"/>
          </a:p>
        </p:txBody>
      </p:sp>
      <p:sp>
        <p:nvSpPr>
          <p:cNvPr id="31" name="Text 26"/>
          <p:cNvSpPr/>
          <p:nvPr/>
        </p:nvSpPr>
        <p:spPr>
          <a:xfrm>
            <a:off x="1048457" y="1347267"/>
            <a:ext cx="128588" cy="128588"/>
          </a:xfrm>
          <a:prstGeom prst="rect">
            <a:avLst/>
          </a:prstGeom>
          <a:noFill/>
          <a:ln/>
        </p:spPr>
        <p:txBody>
          <a:bodyPr wrap="none" lIns="0" tIns="0" rIns="0" bIns="0" rtlCol="0" anchor="ctr"/>
          <a:lstStyle/>
          <a:p>
            <a:pPr algn="ctr" indent="0" marL="0">
              <a:buNone/>
            </a:pPr>
            <a:r>
              <a:rPr lang="en-US" sz="1266" dirty="0">
                <a:solidFill>
                  <a:srgbClr val="64748B"/>
                </a:solidFill>
                <a:latin typeface="Segoe UI Symbol" pitchFamily="34" charset="0"/>
                <a:ea typeface="Segoe UI Symbol" pitchFamily="34" charset="-122"/>
                <a:cs typeface="Segoe UI Symbol" pitchFamily="34" charset="-120"/>
              </a:rPr>
              <a:t>←</a:t>
            </a:r>
            <a:endParaRPr lang="en-US" sz="1266" dirty="0"/>
          </a:p>
        </p:txBody>
      </p:sp>
      <p:sp>
        <p:nvSpPr>
          <p:cNvPr id="32" name="Text 27"/>
          <p:cNvSpPr/>
          <p:nvPr/>
        </p:nvSpPr>
        <p:spPr>
          <a:xfrm>
            <a:off x="391232" y="1271957"/>
            <a:ext cx="628650" cy="279206"/>
          </a:xfrm>
          <a:prstGeom prst="roundRect">
            <a:avLst>
              <a:gd name="adj" fmla="val 3408048"/>
            </a:avLst>
          </a:prstGeom>
          <a:solidFill>
            <a:srgbClr val="F8FAFC"/>
          </a:solidFill>
          <a:ln w="7144">
            <a:solidFill>
              <a:srgbClr val="E2E8F0"/>
            </a:solidFill>
            <a:prstDash val="solid"/>
          </a:ln>
          <a:effectLst>
            <a:outerShdw sx="100000" sy="100000" kx="0" ky="0" algn="bl" rotWithShape="0" blurRad="57150" dist="19050" dir="5400000">
              <a:srgbClr val="0F172A">
                <a:alpha val="4000"/>
              </a:srgbClr>
            </a:outerShdw>
          </a:effectLst>
        </p:spPr>
        <p:txBody>
          <a:bodyPr wrap="square" rtlCol="0" anchor="ctr"/>
          <a:lstStyle/>
          <a:p>
            <a:pPr indent="0" marL="0">
              <a:buNone/>
            </a:pPr>
            <a:endParaRPr lang="en-US" dirty="0"/>
          </a:p>
        </p:txBody>
      </p:sp>
      <p:sp>
        <p:nvSpPr>
          <p:cNvPr id="33" name="Text 28"/>
          <p:cNvSpPr/>
          <p:nvPr/>
        </p:nvSpPr>
        <p:spPr>
          <a:xfrm>
            <a:off x="484101" y="1356196"/>
            <a:ext cx="550069" cy="126609"/>
          </a:xfrm>
          <a:prstGeom prst="rect">
            <a:avLst/>
          </a:prstGeom>
          <a:noFill/>
          <a:ln/>
        </p:spPr>
        <p:txBody>
          <a:bodyPr wrap="none" lIns="0" tIns="0" rIns="0" bIns="0" rtlCol="0" anchor="t"/>
          <a:lstStyle/>
          <a:p>
            <a:pPr algn="l" indent="0" marL="0">
              <a:lnSpc>
                <a:spcPts val="1097"/>
              </a:lnSpc>
              <a:buNone/>
            </a:pPr>
            <a:r>
              <a:rPr lang="en-US" sz="800" b="1" dirty="0">
                <a:solidFill>
                  <a:srgbClr val="1E40AF"/>
                </a:solidFill>
                <a:latin typeface="Carlito" pitchFamily="34" charset="0"/>
                <a:ea typeface="Carlito" pitchFamily="34" charset="-122"/>
                <a:cs typeface="Carlito" pitchFamily="34" charset="-120"/>
              </a:rPr>
              <a:t>الشُّعَب</a:t>
            </a:r>
            <a:endParaRPr lang="en-US" sz="800" dirty="0"/>
          </a:p>
        </p:txBody>
      </p:sp>
      <p:sp>
        <p:nvSpPr>
          <p:cNvPr id="34" name="Text 29"/>
          <p:cNvSpPr/>
          <p:nvPr/>
        </p:nvSpPr>
        <p:spPr>
          <a:xfrm>
            <a:off x="812713" y="1354410"/>
            <a:ext cx="114300" cy="114300"/>
          </a:xfrm>
          <a:prstGeom prst="rect">
            <a:avLst/>
          </a:prstGeom>
          <a:noFill/>
          <a:ln/>
        </p:spPr>
        <p:txBody>
          <a:bodyPr wrap="none" lIns="0" tIns="0" rIns="0" bIns="0" rtlCol="0" anchor="ctr"/>
          <a:lstStyle/>
          <a:p>
            <a:pPr algn="ctr" indent="0" marL="0">
              <a:buNone/>
            </a:pPr>
            <a:r>
              <a:rPr lang="en-US" sz="1125" dirty="0">
                <a:solidFill>
                  <a:srgbClr val="DC2626"/>
                </a:solidFill>
                <a:latin typeface="Segoe UI Symbol" pitchFamily="34" charset="0"/>
                <a:ea typeface="Segoe UI Symbol" pitchFamily="34" charset="-122"/>
                <a:cs typeface="Segoe UI Symbol" pitchFamily="34" charset="-120"/>
              </a:rPr>
              <a:t>☎</a:t>
            </a:r>
            <a:endParaRPr lang="en-US" sz="1125" dirty="0"/>
          </a:p>
        </p:txBody>
      </p:sp>
      <p:sp>
        <p:nvSpPr>
          <p:cNvPr id="35" name="Text 30"/>
          <p:cNvSpPr/>
          <p:nvPr/>
        </p:nvSpPr>
        <p:spPr>
          <a:xfrm>
            <a:off x="234069" y="1347267"/>
            <a:ext cx="128588" cy="128588"/>
          </a:xfrm>
          <a:prstGeom prst="rect">
            <a:avLst/>
          </a:prstGeom>
          <a:noFill/>
          <a:ln/>
        </p:spPr>
        <p:txBody>
          <a:bodyPr wrap="none" lIns="0" tIns="0" rIns="0" bIns="0" rtlCol="0" anchor="ctr"/>
          <a:lstStyle/>
          <a:p>
            <a:pPr algn="ctr" indent="0" marL="0">
              <a:buNone/>
            </a:pPr>
            <a:r>
              <a:rPr lang="en-US" sz="1266" dirty="0">
                <a:solidFill>
                  <a:srgbClr val="64748B"/>
                </a:solidFill>
                <a:latin typeface="Segoe UI Symbol" pitchFamily="34" charset="0"/>
                <a:ea typeface="Segoe UI Symbol" pitchFamily="34" charset="-122"/>
                <a:cs typeface="Segoe UI Symbol" pitchFamily="34" charset="-120"/>
              </a:rPr>
              <a:t>←</a:t>
            </a:r>
            <a:endParaRPr lang="en-US" sz="1266" dirty="0"/>
          </a:p>
        </p:txBody>
      </p:sp>
      <p:sp>
        <p:nvSpPr>
          <p:cNvPr id="36" name="Text 31"/>
          <p:cNvSpPr/>
          <p:nvPr/>
        </p:nvSpPr>
        <p:spPr>
          <a:xfrm>
            <a:off x="-594606" y="1271957"/>
            <a:ext cx="800100" cy="279206"/>
          </a:xfrm>
          <a:prstGeom prst="roundRect">
            <a:avLst>
              <a:gd name="adj" fmla="val 3408048"/>
            </a:avLst>
          </a:prstGeom>
          <a:solidFill>
            <a:srgbClr val="F8FAFC"/>
          </a:solidFill>
          <a:ln w="7144">
            <a:solidFill>
              <a:srgbClr val="E2E8F0"/>
            </a:solidFill>
            <a:prstDash val="solid"/>
          </a:ln>
          <a:effectLst>
            <a:outerShdw sx="100000" sy="100000" kx="0" ky="0" algn="bl" rotWithShape="0" blurRad="57150" dist="19050" dir="5400000">
              <a:srgbClr val="0F172A">
                <a:alpha val="4000"/>
              </a:srgbClr>
            </a:outerShdw>
          </a:effectLst>
        </p:spPr>
        <p:txBody>
          <a:bodyPr wrap="square" rtlCol="0" anchor="ctr"/>
          <a:lstStyle/>
          <a:p>
            <a:pPr indent="0" marL="0">
              <a:buNone/>
            </a:pPr>
            <a:endParaRPr lang="en-US" dirty="0"/>
          </a:p>
        </p:txBody>
      </p:sp>
      <p:sp>
        <p:nvSpPr>
          <p:cNvPr id="37" name="Text 32"/>
          <p:cNvSpPr/>
          <p:nvPr/>
        </p:nvSpPr>
        <p:spPr>
          <a:xfrm>
            <a:off x="0" y="1356196"/>
            <a:ext cx="348053" cy="126609"/>
          </a:xfrm>
          <a:prstGeom prst="rect">
            <a:avLst/>
          </a:prstGeom>
          <a:noFill/>
          <a:ln/>
        </p:spPr>
        <p:txBody>
          <a:bodyPr wrap="none" lIns="0" tIns="0" rIns="0" bIns="0" rtlCol="0" anchor="t"/>
          <a:lstStyle/>
          <a:p>
            <a:pPr algn="l" indent="0" marL="0">
              <a:lnSpc>
                <a:spcPts val="1097"/>
              </a:lnSpc>
              <a:buNone/>
            </a:pPr>
            <a:r>
              <a:rPr lang="en-US" sz="731" b="1" dirty="0">
                <a:solidFill>
                  <a:srgbClr val="1E40AF"/>
                </a:solidFill>
                <a:latin typeface="Carlito" pitchFamily="34" charset="0"/>
                <a:ea typeface="Carlito" pitchFamily="34" charset="-122"/>
                <a:cs typeface="Carlito" pitchFamily="34" charset="-120"/>
              </a:rPr>
              <a:t>الحويصلات</a:t>
            </a:r>
            <a:endParaRPr lang="en-US" sz="731" dirty="0"/>
          </a:p>
        </p:txBody>
      </p:sp>
      <p:sp>
        <p:nvSpPr>
          <p:cNvPr id="38" name="Text 33"/>
          <p:cNvSpPr/>
          <p:nvPr/>
        </p:nvSpPr>
        <p:spPr>
          <a:xfrm>
            <a:off x="0" y="1354410"/>
            <a:ext cx="112626" cy="114300"/>
          </a:xfrm>
          <a:prstGeom prst="rect">
            <a:avLst/>
          </a:prstGeom>
          <a:noFill/>
          <a:ln/>
        </p:spPr>
        <p:txBody>
          <a:bodyPr wrap="none" lIns="0" tIns="0" rIns="0" bIns="0" rtlCol="0" anchor="ctr"/>
          <a:lstStyle/>
          <a:p>
            <a:pPr algn="ctr" indent="0" marL="0">
              <a:buNone/>
            </a:pPr>
            <a:r>
              <a:rPr lang="en-US" sz="1125" dirty="0">
                <a:solidFill>
                  <a:srgbClr val="DC2626"/>
                </a:solidFill>
                <a:latin typeface="Segoe UI Symbol" pitchFamily="34" charset="0"/>
                <a:ea typeface="Segoe UI Symbol" pitchFamily="34" charset="-122"/>
                <a:cs typeface="Segoe UI Symbol" pitchFamily="34" charset="-120"/>
              </a:rPr>
              <a:t>▦</a:t>
            </a:r>
            <a:endParaRPr lang="en-US" sz="1125" dirty="0"/>
          </a:p>
        </p:txBody>
      </p:sp>
      <p:sp>
        <p:nvSpPr>
          <p:cNvPr id="39" name="Text 34"/>
          <p:cNvSpPr/>
          <p:nvPr/>
        </p:nvSpPr>
        <p:spPr>
          <a:xfrm>
            <a:off x="2741079" y="1649090"/>
            <a:ext cx="2244477" cy="894308"/>
          </a:xfrm>
          <a:prstGeom prst="roundRect">
            <a:avLst>
              <a:gd name="adj" fmla="val 14911"/>
            </a:avLst>
          </a:prstGeom>
          <a:solidFill>
            <a:srgbClr val="F8FAFC"/>
          </a:solidFill>
          <a:ln w="7144">
            <a:solidFill>
              <a:srgbClr val="E2E8F0"/>
            </a:solidFill>
            <a:prstDash val="solid"/>
          </a:ln>
          <a:effectLst>
            <a:outerShdw sx="100000" sy="100000" kx="0" ky="0" algn="bl" rotWithShape="0" blurRad="133350" dist="38100" dir="5400000">
              <a:srgbClr val="0F172A">
                <a:alpha val="5000"/>
              </a:srgbClr>
            </a:outerShdw>
          </a:effectLst>
        </p:spPr>
        <p:txBody>
          <a:bodyPr wrap="square" rtlCol="0" anchor="ctr"/>
          <a:lstStyle/>
          <a:p>
            <a:pPr indent="0" marL="0">
              <a:buNone/>
            </a:pPr>
            <a:endParaRPr lang="en-US" dirty="0"/>
          </a:p>
        </p:txBody>
      </p:sp>
      <p:sp>
        <p:nvSpPr>
          <p:cNvPr id="40" name="Text 35"/>
          <p:cNvSpPr/>
          <p:nvPr/>
        </p:nvSpPr>
        <p:spPr>
          <a:xfrm>
            <a:off x="2816089" y="1724099"/>
            <a:ext cx="142875" cy="142875"/>
          </a:xfrm>
          <a:prstGeom prst="rect">
            <a:avLst/>
          </a:prstGeom>
          <a:noFill/>
          <a:ln/>
        </p:spPr>
        <p:txBody>
          <a:bodyPr wrap="none" lIns="0" tIns="0" rIns="0" bIns="0" rtlCol="0" anchor="ctr"/>
          <a:lstStyle/>
          <a:p>
            <a:pPr algn="ctr" indent="0" marL="0">
              <a:buNone/>
            </a:pPr>
            <a:r>
              <a:rPr lang="en-US" sz="1406" dirty="0">
                <a:solidFill>
                  <a:srgbClr val="DC2626"/>
                </a:solidFill>
                <a:latin typeface="Segoe UI Symbol" pitchFamily="34" charset="0"/>
                <a:ea typeface="Segoe UI Symbol" pitchFamily="34" charset="-122"/>
                <a:cs typeface="Segoe UI Symbol" pitchFamily="34" charset="-120"/>
              </a:rPr>
              <a:t>▦</a:t>
            </a:r>
            <a:endParaRPr lang="en-US" sz="1406" dirty="0"/>
          </a:p>
        </p:txBody>
      </p:sp>
      <p:sp>
        <p:nvSpPr>
          <p:cNvPr id="41" name="Text 36"/>
          <p:cNvSpPr/>
          <p:nvPr/>
        </p:nvSpPr>
        <p:spPr>
          <a:xfrm>
            <a:off x="2844664" y="1752674"/>
            <a:ext cx="2037308" cy="344043"/>
          </a:xfrm>
          <a:prstGeom prst="rect">
            <a:avLst/>
          </a:prstGeom>
          <a:noFill/>
          <a:ln/>
        </p:spPr>
        <p:txBody>
          <a:bodyPr wrap="none" lIns="0" tIns="0" rIns="0" bIns="0" rtlCol="0" anchor="t">
            <a:normAutofit/>
          </a:bodyPr>
          <a:lstStyle/>
          <a:p>
            <a:pPr algn="l" indent="0" marL="0">
              <a:lnSpc>
                <a:spcPts val="2588"/>
              </a:lnSpc>
              <a:buNone/>
            </a:pPr>
            <a:r>
              <a:rPr lang="en-US" sz="2588" b="1" spc="-84" kern="0" dirty="0">
                <a:solidFill>
                  <a:srgbClr val="DC2626"/>
                </a:solidFill>
                <a:latin typeface="Liberation Sans Narrow" pitchFamily="34" charset="0"/>
                <a:ea typeface="Liberation Sans Narrow" pitchFamily="34" charset="-122"/>
                <a:cs typeface="Liberation Sans Narrow" pitchFamily="34" charset="-120"/>
              </a:rPr>
              <a:t>500</a:t>
            </a:r>
            <a:endParaRPr lang="en-US" sz="2588" dirty="0"/>
          </a:p>
        </p:txBody>
      </p:sp>
      <p:sp>
        <p:nvSpPr>
          <p:cNvPr id="42" name="Text 37"/>
          <p:cNvSpPr/>
          <p:nvPr/>
        </p:nvSpPr>
        <p:spPr>
          <a:xfrm>
            <a:off x="2844664" y="2124149"/>
            <a:ext cx="2037308" cy="158306"/>
          </a:xfrm>
          <a:prstGeom prst="rect">
            <a:avLst/>
          </a:prstGeom>
          <a:noFill/>
          <a:ln/>
        </p:spPr>
        <p:txBody>
          <a:bodyPr wrap="none" lIns="0" tIns="0" rIns="0" bIns="0" rtlCol="0" anchor="t">
            <a:normAutofit/>
          </a:bodyPr>
          <a:lstStyle/>
          <a:p>
            <a:pPr algn="l" indent="0" marL="0">
              <a:lnSpc>
                <a:spcPts val="1013"/>
              </a:lnSpc>
              <a:buNone/>
            </a:pPr>
            <a:r>
              <a:rPr lang="en-US" sz="800" dirty="0">
                <a:solidFill>
                  <a:srgbClr val="64748B"/>
                </a:solidFill>
                <a:latin typeface="Carlito" pitchFamily="34" charset="0"/>
                <a:ea typeface="Carlito" pitchFamily="34" charset="-122"/>
                <a:cs typeface="Carlito" pitchFamily="34" charset="-120"/>
              </a:rPr>
              <a:t>مليون</a:t>
            </a:r>
            <a:endParaRPr lang="en-US" sz="800" dirty="0"/>
          </a:p>
        </p:txBody>
      </p:sp>
      <p:sp>
        <p:nvSpPr>
          <p:cNvPr id="43" name="Text 38"/>
          <p:cNvSpPr/>
          <p:nvPr/>
        </p:nvSpPr>
        <p:spPr>
          <a:xfrm>
            <a:off x="2844664" y="2309887"/>
            <a:ext cx="2037308" cy="129927"/>
          </a:xfrm>
          <a:prstGeom prst="rect">
            <a:avLst/>
          </a:prstGeom>
          <a:noFill/>
          <a:ln/>
        </p:spPr>
        <p:txBody>
          <a:bodyPr wrap="none" lIns="0" tIns="0" rIns="0" bIns="0" rtlCol="0" anchor="t"/>
          <a:lstStyle/>
          <a:p>
            <a:pPr algn="l" indent="0" marL="0">
              <a:lnSpc>
                <a:spcPts val="1024"/>
              </a:lnSpc>
              <a:buNone/>
            </a:pPr>
            <a:r>
              <a:rPr lang="en-US" sz="800" dirty="0">
                <a:solidFill>
                  <a:srgbClr val="334155"/>
                </a:solidFill>
                <a:latin typeface="Carlito" pitchFamily="34" charset="0"/>
                <a:ea typeface="Carlito" pitchFamily="34" charset="-122"/>
                <a:cs typeface="Carlito" pitchFamily="34" charset="-120"/>
              </a:rPr>
              <a:t>حويصلة هوائية</a:t>
            </a:r>
            <a:endParaRPr lang="en-US" sz="800" dirty="0"/>
          </a:p>
        </p:txBody>
      </p:sp>
      <p:sp>
        <p:nvSpPr>
          <p:cNvPr id="44" name="Text 39"/>
          <p:cNvSpPr/>
          <p:nvPr/>
        </p:nvSpPr>
        <p:spPr>
          <a:xfrm>
            <a:off x="403622" y="1649090"/>
            <a:ext cx="2244589" cy="894308"/>
          </a:xfrm>
          <a:prstGeom prst="roundRect">
            <a:avLst>
              <a:gd name="adj" fmla="val 14911"/>
            </a:avLst>
          </a:prstGeom>
          <a:solidFill>
            <a:srgbClr val="F8FAFC"/>
          </a:solidFill>
          <a:ln w="7144">
            <a:solidFill>
              <a:srgbClr val="E2E8F0"/>
            </a:solidFill>
            <a:prstDash val="solid"/>
          </a:ln>
          <a:effectLst>
            <a:outerShdw sx="100000" sy="100000" kx="0" ky="0" algn="bl" rotWithShape="0" blurRad="133350" dist="38100" dir="5400000">
              <a:srgbClr val="0F172A">
                <a:alpha val="5000"/>
              </a:srgbClr>
            </a:outerShdw>
          </a:effectLst>
        </p:spPr>
        <p:txBody>
          <a:bodyPr wrap="square" rtlCol="0" anchor="ctr"/>
          <a:lstStyle/>
          <a:p>
            <a:pPr indent="0" marL="0">
              <a:buNone/>
            </a:pPr>
            <a:endParaRPr lang="en-US" dirty="0"/>
          </a:p>
        </p:txBody>
      </p:sp>
      <p:sp>
        <p:nvSpPr>
          <p:cNvPr id="45" name="Text 40"/>
          <p:cNvSpPr/>
          <p:nvPr/>
        </p:nvSpPr>
        <p:spPr>
          <a:xfrm>
            <a:off x="478631" y="1724099"/>
            <a:ext cx="142875" cy="142875"/>
          </a:xfrm>
          <a:prstGeom prst="rect">
            <a:avLst/>
          </a:prstGeom>
          <a:noFill/>
          <a:ln/>
        </p:spPr>
        <p:txBody>
          <a:bodyPr wrap="none" lIns="0" tIns="0" rIns="0" bIns="0" rtlCol="0" anchor="ctr"/>
          <a:lstStyle/>
          <a:p>
            <a:pPr algn="ctr" indent="0" marL="0">
              <a:buNone/>
            </a:pPr>
            <a:r>
              <a:rPr lang="en-US" sz="1406" dirty="0">
                <a:solidFill>
                  <a:srgbClr val="0D9488"/>
                </a:solidFill>
                <a:latin typeface="Segoe UI Symbol" pitchFamily="34" charset="0"/>
                <a:ea typeface="Segoe UI Symbol" pitchFamily="34" charset="-122"/>
                <a:cs typeface="Segoe UI Symbol" pitchFamily="34" charset="-120"/>
              </a:rPr>
              <a:t>✦</a:t>
            </a:r>
            <a:endParaRPr lang="en-US" sz="1406" dirty="0"/>
          </a:p>
        </p:txBody>
      </p:sp>
      <p:sp>
        <p:nvSpPr>
          <p:cNvPr id="46" name="Text 41"/>
          <p:cNvSpPr/>
          <p:nvPr/>
        </p:nvSpPr>
        <p:spPr>
          <a:xfrm>
            <a:off x="507206" y="1752674"/>
            <a:ext cx="2037420" cy="344043"/>
          </a:xfrm>
          <a:prstGeom prst="rect">
            <a:avLst/>
          </a:prstGeom>
          <a:noFill/>
          <a:ln/>
        </p:spPr>
        <p:txBody>
          <a:bodyPr wrap="none" lIns="0" tIns="0" rIns="0" bIns="0" rtlCol="0" anchor="t">
            <a:normAutofit/>
          </a:bodyPr>
          <a:lstStyle/>
          <a:p>
            <a:pPr algn="l" indent="0" marL="0">
              <a:lnSpc>
                <a:spcPts val="2588"/>
              </a:lnSpc>
              <a:buNone/>
            </a:pPr>
            <a:r>
              <a:rPr lang="en-US" sz="2588" b="1" spc="-84" kern="0" dirty="0">
                <a:solidFill>
                  <a:srgbClr val="0D9488"/>
                </a:solidFill>
                <a:latin typeface="Liberation Sans Narrow" pitchFamily="34" charset="0"/>
                <a:ea typeface="Liberation Sans Narrow" pitchFamily="34" charset="-122"/>
                <a:cs typeface="Liberation Sans Narrow" pitchFamily="34" charset="-120"/>
              </a:rPr>
              <a:t>70</a:t>
            </a:r>
            <a:endParaRPr lang="en-US" sz="2588" dirty="0"/>
          </a:p>
        </p:txBody>
      </p:sp>
      <p:sp>
        <p:nvSpPr>
          <p:cNvPr id="47" name="Text 42"/>
          <p:cNvSpPr/>
          <p:nvPr/>
        </p:nvSpPr>
        <p:spPr>
          <a:xfrm>
            <a:off x="507206" y="2124149"/>
            <a:ext cx="2037420" cy="158306"/>
          </a:xfrm>
          <a:prstGeom prst="rect">
            <a:avLst/>
          </a:prstGeom>
          <a:noFill/>
          <a:ln/>
        </p:spPr>
        <p:txBody>
          <a:bodyPr wrap="none" lIns="0" tIns="0" rIns="0" bIns="0" rtlCol="0" anchor="t">
            <a:normAutofit/>
          </a:bodyPr>
          <a:lstStyle/>
          <a:p>
            <a:pPr algn="l" indent="0" marL="0">
              <a:lnSpc>
                <a:spcPts val="1013"/>
              </a:lnSpc>
              <a:buNone/>
            </a:pPr>
            <a:r>
              <a:rPr lang="en-US" sz="800" dirty="0">
                <a:solidFill>
                  <a:srgbClr val="64748B"/>
                </a:solidFill>
                <a:latin typeface="Carlito" pitchFamily="34" charset="0"/>
                <a:ea typeface="Carlito" pitchFamily="34" charset="-122"/>
                <a:cs typeface="Carlito" pitchFamily="34" charset="-120"/>
              </a:rPr>
              <a:t>م²</a:t>
            </a:r>
            <a:endParaRPr lang="en-US" sz="800" dirty="0"/>
          </a:p>
        </p:txBody>
      </p:sp>
      <p:sp>
        <p:nvSpPr>
          <p:cNvPr id="48" name="Text 43"/>
          <p:cNvSpPr/>
          <p:nvPr/>
        </p:nvSpPr>
        <p:spPr>
          <a:xfrm>
            <a:off x="507206" y="2309887"/>
            <a:ext cx="2147148" cy="129927"/>
          </a:xfrm>
          <a:prstGeom prst="rect">
            <a:avLst/>
          </a:prstGeom>
          <a:noFill/>
          <a:ln/>
        </p:spPr>
        <p:txBody>
          <a:bodyPr wrap="square" lIns="0" tIns="0" rIns="0" bIns="0" rtlCol="0" anchor="t"/>
          <a:lstStyle/>
          <a:p>
            <a:pPr algn="l" indent="0" marL="0">
              <a:lnSpc>
                <a:spcPts val="1024"/>
              </a:lnSpc>
              <a:buNone/>
            </a:pPr>
            <a:r>
              <a:rPr lang="en-US" sz="800" dirty="0">
                <a:solidFill>
                  <a:srgbClr val="334155"/>
                </a:solidFill>
                <a:latin typeface="Carlito" pitchFamily="34" charset="0"/>
                <a:ea typeface="Carlito" pitchFamily="34" charset="-122"/>
                <a:cs typeface="Carlito" pitchFamily="34" charset="-120"/>
              </a:rPr>
              <a:t>مساحة سطح التبادل = ملعب تنس</a:t>
            </a:r>
            <a:endParaRPr lang="en-US" sz="800" dirty="0"/>
          </a:p>
        </p:txBody>
      </p:sp>
      <p:sp>
        <p:nvSpPr>
          <p:cNvPr id="49" name="Text 44"/>
          <p:cNvSpPr/>
          <p:nvPr/>
        </p:nvSpPr>
        <p:spPr>
          <a:xfrm>
            <a:off x="400050" y="2625551"/>
            <a:ext cx="4589078" cy="314325"/>
          </a:xfrm>
          <a:prstGeom prst="roundRect">
            <a:avLst>
              <a:gd name="adj" fmla="val 30303"/>
            </a:avLst>
          </a:prstGeom>
          <a:solidFill>
            <a:srgbClr val="F8FAFC"/>
          </a:solidFill>
          <a:ln/>
        </p:spPr>
        <p:txBody>
          <a:bodyPr wrap="square" rtlCol="0" anchor="ctr"/>
          <a:lstStyle/>
          <a:p>
            <a:pPr indent="0" marL="0">
              <a:buNone/>
            </a:pPr>
            <a:endParaRPr lang="en-US" dirty="0"/>
          </a:p>
        </p:txBody>
      </p:sp>
      <p:sp>
        <p:nvSpPr>
          <p:cNvPr id="50" name="Shape 45"/>
          <p:cNvSpPr/>
          <p:nvPr/>
        </p:nvSpPr>
        <p:spPr>
          <a:xfrm>
            <a:off x="400050" y="2629123"/>
            <a:ext cx="4589078" cy="0"/>
          </a:xfrm>
          <a:prstGeom prst="line">
            <a:avLst/>
          </a:prstGeom>
          <a:noFill/>
          <a:ln w="7144">
            <a:solidFill>
              <a:srgbClr val="E2E8F0"/>
            </a:solidFill>
            <a:prstDash val="solid"/>
          </a:ln>
        </p:spPr>
      </p:sp>
      <p:sp>
        <p:nvSpPr>
          <p:cNvPr id="51" name="Shape 46"/>
          <p:cNvSpPr/>
          <p:nvPr/>
        </p:nvSpPr>
        <p:spPr>
          <a:xfrm>
            <a:off x="4974841" y="2625551"/>
            <a:ext cx="0" cy="314325"/>
          </a:xfrm>
          <a:prstGeom prst="line">
            <a:avLst/>
          </a:prstGeom>
          <a:noFill/>
          <a:ln w="28575">
            <a:solidFill>
              <a:srgbClr val="DC2626"/>
            </a:solidFill>
            <a:prstDash val="solid"/>
          </a:ln>
        </p:spPr>
      </p:sp>
      <p:sp>
        <p:nvSpPr>
          <p:cNvPr id="52" name="Shape 47"/>
          <p:cNvSpPr/>
          <p:nvPr/>
        </p:nvSpPr>
        <p:spPr>
          <a:xfrm>
            <a:off x="400050" y="2936304"/>
            <a:ext cx="4589078" cy="0"/>
          </a:xfrm>
          <a:prstGeom prst="line">
            <a:avLst/>
          </a:prstGeom>
          <a:noFill/>
          <a:ln w="7144">
            <a:solidFill>
              <a:srgbClr val="E2E8F0"/>
            </a:solidFill>
            <a:prstDash val="solid"/>
          </a:ln>
        </p:spPr>
      </p:sp>
      <p:sp>
        <p:nvSpPr>
          <p:cNvPr id="53" name="Shape 48"/>
          <p:cNvSpPr/>
          <p:nvPr/>
        </p:nvSpPr>
        <p:spPr>
          <a:xfrm>
            <a:off x="403622" y="2625551"/>
            <a:ext cx="0" cy="314325"/>
          </a:xfrm>
          <a:prstGeom prst="line">
            <a:avLst/>
          </a:prstGeom>
          <a:noFill/>
          <a:ln w="7144">
            <a:solidFill>
              <a:srgbClr val="E2E8F0"/>
            </a:solidFill>
            <a:prstDash val="solid"/>
          </a:ln>
        </p:spPr>
      </p:sp>
      <p:sp>
        <p:nvSpPr>
          <p:cNvPr id="54" name="Text 49"/>
          <p:cNvSpPr/>
          <p:nvPr/>
        </p:nvSpPr>
        <p:spPr>
          <a:xfrm>
            <a:off x="4703378" y="2704133"/>
            <a:ext cx="157163" cy="157163"/>
          </a:xfrm>
          <a:prstGeom prst="rect">
            <a:avLst/>
          </a:prstGeom>
          <a:noFill/>
          <a:ln/>
        </p:spPr>
        <p:txBody>
          <a:bodyPr wrap="none" lIns="0" tIns="0" rIns="0" bIns="0" rtlCol="0" anchor="ctr"/>
          <a:lstStyle/>
          <a:p>
            <a:pPr algn="ctr" indent="0" marL="0">
              <a:buNone/>
            </a:pPr>
            <a:r>
              <a:rPr lang="en-US" sz="1547" dirty="0">
                <a:solidFill>
                  <a:srgbClr val="DC2626"/>
                </a:solidFill>
                <a:latin typeface="Segoe UI Symbol" pitchFamily="34" charset="0"/>
                <a:ea typeface="Segoe UI Symbol" pitchFamily="34" charset="-122"/>
                <a:cs typeface="Segoe UI Symbol" pitchFamily="34" charset="-120"/>
              </a:rPr>
              <a:t>✦</a:t>
            </a:r>
            <a:endParaRPr lang="en-US" sz="1547" dirty="0"/>
          </a:p>
        </p:txBody>
      </p:sp>
      <p:sp>
        <p:nvSpPr>
          <p:cNvPr id="55" name="Text 50"/>
          <p:cNvSpPr/>
          <p:nvPr/>
        </p:nvSpPr>
        <p:spPr>
          <a:xfrm>
            <a:off x="661913" y="2715406"/>
            <a:ext cx="4005746" cy="145889"/>
          </a:xfrm>
          <a:prstGeom prst="rect">
            <a:avLst/>
          </a:prstGeom>
          <a:noFill/>
          <a:ln/>
        </p:spPr>
        <p:txBody>
          <a:bodyPr wrap="square" lIns="0" tIns="0" rIns="0" bIns="0" rtlCol="0" anchor="t"/>
          <a:lstStyle/>
          <a:p>
            <a:pPr algn="l" indent="0" marL="0">
              <a:lnSpc>
                <a:spcPts val="1060"/>
              </a:lnSpc>
              <a:buNone/>
            </a:pPr>
            <a:r>
              <a:rPr lang="en-US" sz="800" b="1" dirty="0">
                <a:solidFill>
                  <a:srgbClr val="0F172A"/>
                </a:solidFill>
                <a:latin typeface="Carlito" pitchFamily="34" charset="0"/>
                <a:ea typeface="Carlito" pitchFamily="34" charset="-122"/>
                <a:cs typeface="Carlito" pitchFamily="34" charset="-120"/>
              </a:rPr>
              <a:t>معدل التنفس:</a:t>
            </a:r>
            <a:pPr algn="l" indent="0" marL="0">
              <a:lnSpc>
                <a:spcPts val="1060"/>
              </a:lnSpc>
              <a:buNone/>
            </a:pPr>
            <a:r>
              <a:rPr lang="en-US" sz="800" dirty="0">
                <a:solidFill>
                  <a:srgbClr val="334155"/>
                </a:solidFill>
                <a:latin typeface="Carlito" pitchFamily="34" charset="0"/>
                <a:ea typeface="Carlito" pitchFamily="34" charset="-122"/>
                <a:cs typeface="Carlito" pitchFamily="34" charset="-120"/>
              </a:rPr>
              <a:t> </a:t>
            </a:r>
            <a:pPr algn="l" indent="0" marL="0">
              <a:lnSpc>
                <a:spcPts val="1060"/>
              </a:lnSpc>
              <a:buNone/>
            </a:pPr>
            <a:r>
              <a:rPr lang="en-US" sz="800" b="1" dirty="0">
                <a:solidFill>
                  <a:srgbClr val="0F172A"/>
                </a:solidFill>
                <a:latin typeface="Liberation Sans Narrow" pitchFamily="34" charset="0"/>
                <a:ea typeface="Liberation Sans Narrow" pitchFamily="34" charset="-122"/>
                <a:cs typeface="Liberation Sans Narrow" pitchFamily="34" charset="-120"/>
              </a:rPr>
              <a:t>12–20</a:t>
            </a:r>
            <a:pPr algn="l" indent="0" marL="0">
              <a:lnSpc>
                <a:spcPts val="1060"/>
              </a:lnSpc>
              <a:buNone/>
            </a:pPr>
            <a:r>
              <a:rPr lang="en-US" sz="800" dirty="0">
                <a:solidFill>
                  <a:srgbClr val="334155"/>
                </a:solidFill>
                <a:latin typeface="Carlito" pitchFamily="34" charset="0"/>
                <a:ea typeface="Carlito" pitchFamily="34" charset="-122"/>
                <a:cs typeface="Carlito" pitchFamily="34" charset="-120"/>
              </a:rPr>
              <a:t> نفساً في الدقيقة عند البالغين — يتضاعف </a:t>
            </a:r>
            <a:pPr algn="l" indent="0" marL="0">
              <a:lnSpc>
                <a:spcPts val="1060"/>
              </a:lnSpc>
              <a:buNone/>
            </a:pPr>
            <a:r>
              <a:rPr lang="en-US" sz="800" b="1" dirty="0">
                <a:solidFill>
                  <a:srgbClr val="DC2626"/>
                </a:solidFill>
                <a:latin typeface="Liberation Sans Narrow" pitchFamily="34" charset="0"/>
                <a:ea typeface="Liberation Sans Narrow" pitchFamily="34" charset="-122"/>
                <a:cs typeface="Liberation Sans Narrow" pitchFamily="34" charset="-120"/>
              </a:rPr>
              <a:t>5</a:t>
            </a:r>
            <a:pPr algn="l" indent="0" marL="0">
              <a:lnSpc>
                <a:spcPts val="1060"/>
              </a:lnSpc>
              <a:buNone/>
            </a:pPr>
            <a:r>
              <a:rPr lang="en-US" sz="800" dirty="0">
                <a:solidFill>
                  <a:srgbClr val="334155"/>
                </a:solidFill>
                <a:latin typeface="Carlito" pitchFamily="34" charset="0"/>
                <a:ea typeface="Carlito" pitchFamily="34" charset="-122"/>
                <a:cs typeface="Carlito" pitchFamily="34" charset="-120"/>
              </a:rPr>
              <a:t> مرات أثناء التمرين</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8486775" y="200025"/>
            <a:ext cx="257175" cy="257175"/>
          </a:xfrm>
          <a:prstGeom prst="ellipse">
            <a:avLst/>
          </a:prstGeom>
          <a:solidFill>
            <a:srgbClr val="DC2626"/>
          </a:solidFill>
          <a:ln/>
        </p:spPr>
        <p:txBody>
          <a:bodyPr wrap="square" rtlCol="0" anchor="ctr"/>
          <a:lstStyle/>
          <a:p>
            <a:pPr indent="0" marL="0">
              <a:buNone/>
            </a:pPr>
            <a:endParaRPr lang="en-US" dirty="0"/>
          </a:p>
        </p:txBody>
      </p:sp>
      <p:sp>
        <p:nvSpPr>
          <p:cNvPr id="5" name="Text 1"/>
          <p:cNvSpPr/>
          <p:nvPr/>
        </p:nvSpPr>
        <p:spPr>
          <a:xfrm>
            <a:off x="8486775" y="200025"/>
            <a:ext cx="257175" cy="257175"/>
          </a:xfrm>
          <a:prstGeom prst="rect">
            <a:avLst/>
          </a:prstGeom>
          <a:noFill/>
          <a:ln/>
        </p:spPr>
        <p:txBody>
          <a:bodyPr wrap="none" lIns="0" tIns="0" rIns="0" bIns="0" rtlCol="0" anchor="ctr"/>
          <a:lstStyle/>
          <a:p>
            <a:pPr algn="ctr" indent="0" marL="0">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05</a:t>
            </a:r>
            <a:endParaRPr lang="en-US" sz="800" dirty="0"/>
          </a:p>
        </p:txBody>
      </p:sp>
      <p:sp>
        <p:nvSpPr>
          <p:cNvPr id="6" name="Text 2"/>
          <p:cNvSpPr/>
          <p:nvPr/>
        </p:nvSpPr>
        <p:spPr>
          <a:xfrm>
            <a:off x="6590444" y="207169"/>
            <a:ext cx="2227538" cy="262319"/>
          </a:xfrm>
          <a:prstGeom prst="rect">
            <a:avLst/>
          </a:prstGeom>
          <a:noFill/>
          <a:ln/>
        </p:spPr>
        <p:txBody>
          <a:bodyPr wrap="none" lIns="0" tIns="0" rIns="0" bIns="0" rtlCol="0" anchor="t"/>
          <a:lstStyle/>
          <a:p>
            <a:pPr algn="l" indent="0" marL="0">
              <a:lnSpc>
                <a:spcPts val="1913"/>
              </a:lnSpc>
              <a:buNone/>
            </a:pPr>
            <a:r>
              <a:rPr lang="en-US" sz="1913" b="1" dirty="0">
                <a:solidFill>
                  <a:srgbClr val="1E40AF"/>
                </a:solidFill>
                <a:latin typeface="Carlito" pitchFamily="34" charset="0"/>
                <a:ea typeface="Carlito" pitchFamily="34" charset="-122"/>
                <a:cs typeface="Carlito" pitchFamily="34" charset="-120"/>
              </a:rPr>
              <a:t>الجهاز العصبي</a:t>
            </a:r>
            <a:endParaRPr lang="en-US" sz="1913" dirty="0"/>
          </a:p>
        </p:txBody>
      </p:sp>
      <p:sp>
        <p:nvSpPr>
          <p:cNvPr id="7" name="Text 3"/>
          <p:cNvSpPr/>
          <p:nvPr/>
        </p:nvSpPr>
        <p:spPr>
          <a:xfrm>
            <a:off x="5754849" y="258961"/>
            <a:ext cx="894497" cy="164592"/>
          </a:xfrm>
          <a:prstGeom prst="rect">
            <a:avLst/>
          </a:prstGeom>
          <a:noFill/>
          <a:ln/>
        </p:spPr>
        <p:txBody>
          <a:bodyPr wrap="none" lIns="0" tIns="0" rIns="0" bIns="0" rtlCol="0" anchor="t"/>
          <a:lstStyle/>
          <a:p>
            <a:pPr algn="l" indent="0" marL="0">
              <a:lnSpc>
                <a:spcPts val="1097"/>
              </a:lnSpc>
              <a:buNone/>
            </a:pPr>
            <a:r>
              <a:rPr lang="en-US" sz="800" i="1" spc="23" kern="0" dirty="0">
                <a:solidFill>
                  <a:srgbClr val="64748B"/>
                </a:solidFill>
                <a:latin typeface="Carlito" pitchFamily="34" charset="0"/>
                <a:ea typeface="Carlito" pitchFamily="34" charset="-122"/>
                <a:cs typeface="Carlito" pitchFamily="34" charset="-120"/>
              </a:rPr>
              <a:t>Nervous System</a:t>
            </a:r>
            <a:endParaRPr lang="en-US" sz="800" dirty="0"/>
          </a:p>
        </p:txBody>
      </p:sp>
      <p:sp>
        <p:nvSpPr>
          <p:cNvPr id="8" name="Text 4"/>
          <p:cNvSpPr/>
          <p:nvPr/>
        </p:nvSpPr>
        <p:spPr>
          <a:xfrm>
            <a:off x="8343900" y="528638"/>
            <a:ext cx="400050" cy="28575"/>
          </a:xfrm>
          <a:prstGeom prst="roundRect">
            <a:avLst>
              <a:gd name="adj" fmla="val 66667"/>
            </a:avLst>
          </a:prstGeom>
          <a:solidFill>
            <a:srgbClr val="DC2626"/>
          </a:solidFill>
          <a:ln/>
        </p:spPr>
        <p:txBody>
          <a:bodyPr wrap="square" rtlCol="0" anchor="ctr"/>
          <a:lstStyle/>
          <a:p>
            <a:pPr indent="0" marL="0">
              <a:buNone/>
            </a:pPr>
            <a:endParaRPr lang="en-US" dirty="0"/>
          </a:p>
        </p:txBody>
      </p:sp>
      <p:sp>
        <p:nvSpPr>
          <p:cNvPr id="9" name="Text 5"/>
          <p:cNvSpPr/>
          <p:nvPr/>
        </p:nvSpPr>
        <p:spPr>
          <a:xfrm>
            <a:off x="4249303" y="671513"/>
            <a:ext cx="4494647" cy="553690"/>
          </a:xfrm>
          <a:prstGeom prst="rect">
            <a:avLst/>
          </a:prstGeom>
          <a:noFill/>
          <a:ln/>
        </p:spPr>
        <p:txBody>
          <a:bodyPr wrap="square" lIns="0" tIns="0" rIns="0" bIns="0" rtlCol="0" anchor="t"/>
          <a:lstStyle/>
          <a:p>
            <a:pPr algn="l" indent="0" marL="0">
              <a:lnSpc>
                <a:spcPts val="1346"/>
              </a:lnSpc>
              <a:buNone/>
            </a:pPr>
            <a:r>
              <a:rPr lang="en-US" sz="816" dirty="0">
                <a:solidFill>
                  <a:srgbClr val="334155"/>
                </a:solidFill>
                <a:latin typeface="Carlito" pitchFamily="34" charset="0"/>
                <a:ea typeface="Carlito" pitchFamily="34" charset="-122"/>
                <a:cs typeface="Carlito" pitchFamily="34" charset="-120"/>
              </a:rPr>
              <a:t>الجهاز العصبي هو لوحة التحكم الرئيسية للجسم — يستقبل المعلومات، يُعالجها، ويُرسل الأوامر. يتكوّن من الدماغ والحبل الشوكي وشبكة الأعصاب التي تصل كل جزء من الجسم.</a:t>
            </a:r>
            <a:endParaRPr lang="en-US" sz="816" dirty="0"/>
          </a:p>
        </p:txBody>
      </p:sp>
      <p:sp>
        <p:nvSpPr>
          <p:cNvPr id="10" name="Text 6"/>
          <p:cNvSpPr/>
          <p:nvPr/>
        </p:nvSpPr>
        <p:spPr>
          <a:xfrm>
            <a:off x="6543117" y="1266341"/>
            <a:ext cx="2197261" cy="908596"/>
          </a:xfrm>
          <a:prstGeom prst="roundRect">
            <a:avLst>
              <a:gd name="adj" fmla="val 14676"/>
            </a:avLst>
          </a:prstGeom>
          <a:solidFill>
            <a:srgbClr val="F8FAFC"/>
          </a:solidFill>
          <a:ln w="7144">
            <a:solidFill>
              <a:srgbClr val="E2E8F0"/>
            </a:solidFill>
            <a:prstDash val="solid"/>
          </a:ln>
          <a:effectLst>
            <a:outerShdw sx="100000" sy="100000" kx="0" ky="0" algn="bl" rotWithShape="0" blurRad="133350" dist="38100" dir="5400000">
              <a:srgbClr val="0F172A">
                <a:alpha val="5000"/>
              </a:srgbClr>
            </a:outerShdw>
          </a:effectLst>
        </p:spPr>
        <p:txBody>
          <a:bodyPr wrap="square" rtlCol="0" anchor="ctr"/>
          <a:lstStyle/>
          <a:p>
            <a:pPr indent="0" marL="0">
              <a:buNone/>
            </a:pPr>
            <a:endParaRPr lang="en-US" dirty="0"/>
          </a:p>
        </p:txBody>
      </p:sp>
      <p:sp>
        <p:nvSpPr>
          <p:cNvPr id="11" name="Text 7"/>
          <p:cNvSpPr/>
          <p:nvPr/>
        </p:nvSpPr>
        <p:spPr>
          <a:xfrm>
            <a:off x="6632414" y="1355638"/>
            <a:ext cx="142875" cy="142875"/>
          </a:xfrm>
          <a:prstGeom prst="rect">
            <a:avLst/>
          </a:prstGeom>
          <a:noFill/>
          <a:ln/>
        </p:spPr>
        <p:txBody>
          <a:bodyPr wrap="none" lIns="0" tIns="0" rIns="0" bIns="0" rtlCol="0" anchor="ctr"/>
          <a:lstStyle/>
          <a:p>
            <a:pPr algn="ctr" indent="0" marL="0">
              <a:buNone/>
            </a:pPr>
            <a:r>
              <a:rPr lang="en-US" sz="1406" dirty="0">
                <a:solidFill>
                  <a:srgbClr val="1E40AF"/>
                </a:solidFill>
                <a:latin typeface="Segoe UI Symbol" pitchFamily="34" charset="0"/>
                <a:ea typeface="Segoe UI Symbol" pitchFamily="34" charset="-122"/>
                <a:cs typeface="Segoe UI Symbol" pitchFamily="34" charset="-120"/>
              </a:rPr>
              <a:t>◯</a:t>
            </a:r>
            <a:endParaRPr lang="en-US" sz="1406" dirty="0"/>
          </a:p>
        </p:txBody>
      </p:sp>
      <p:sp>
        <p:nvSpPr>
          <p:cNvPr id="12" name="Text 8"/>
          <p:cNvSpPr/>
          <p:nvPr/>
        </p:nvSpPr>
        <p:spPr>
          <a:xfrm>
            <a:off x="6660989" y="1384213"/>
            <a:ext cx="1961517" cy="329756"/>
          </a:xfrm>
          <a:prstGeom prst="rect">
            <a:avLst/>
          </a:prstGeom>
          <a:noFill/>
          <a:ln/>
        </p:spPr>
        <p:txBody>
          <a:bodyPr wrap="none" lIns="0" tIns="0" rIns="0" bIns="0" rtlCol="0" anchor="t">
            <a:normAutofit/>
          </a:bodyPr>
          <a:lstStyle/>
          <a:p>
            <a:pPr algn="l" indent="0" marL="0">
              <a:lnSpc>
                <a:spcPts val="2475"/>
              </a:lnSpc>
              <a:buNone/>
            </a:pPr>
            <a:r>
              <a:rPr lang="en-US" sz="2475" b="1" spc="-84" kern="0" dirty="0">
                <a:solidFill>
                  <a:srgbClr val="1E40AF"/>
                </a:solidFill>
                <a:latin typeface="Liberation Sans Narrow" pitchFamily="34" charset="0"/>
                <a:ea typeface="Liberation Sans Narrow" pitchFamily="34" charset="-122"/>
                <a:cs typeface="Liberation Sans Narrow" pitchFamily="34" charset="-120"/>
              </a:rPr>
              <a:t>86</a:t>
            </a:r>
            <a:endParaRPr lang="en-US" sz="2475" dirty="0"/>
          </a:p>
        </p:txBody>
      </p:sp>
      <p:sp>
        <p:nvSpPr>
          <p:cNvPr id="13" name="Text 9"/>
          <p:cNvSpPr/>
          <p:nvPr/>
        </p:nvSpPr>
        <p:spPr>
          <a:xfrm>
            <a:off x="6660989" y="1741401"/>
            <a:ext cx="1961517" cy="158306"/>
          </a:xfrm>
          <a:prstGeom prst="rect">
            <a:avLst/>
          </a:prstGeom>
          <a:noFill/>
          <a:ln/>
        </p:spPr>
        <p:txBody>
          <a:bodyPr wrap="none" lIns="0" tIns="0" rIns="0" bIns="0" rtlCol="0" anchor="t">
            <a:normAutofit/>
          </a:bodyPr>
          <a:lstStyle/>
          <a:p>
            <a:pPr algn="l" indent="0" marL="0">
              <a:lnSpc>
                <a:spcPts val="1013"/>
              </a:lnSpc>
              <a:buNone/>
            </a:pPr>
            <a:r>
              <a:rPr lang="en-US" sz="800" dirty="0">
                <a:solidFill>
                  <a:srgbClr val="64748B"/>
                </a:solidFill>
                <a:latin typeface="Carlito" pitchFamily="34" charset="0"/>
                <a:ea typeface="Carlito" pitchFamily="34" charset="-122"/>
                <a:cs typeface="Carlito" pitchFamily="34" charset="-120"/>
              </a:rPr>
              <a:t>مليار</a:t>
            </a:r>
            <a:endParaRPr lang="en-US" sz="800" dirty="0"/>
          </a:p>
        </p:txBody>
      </p:sp>
      <p:sp>
        <p:nvSpPr>
          <p:cNvPr id="14" name="Text 10"/>
          <p:cNvSpPr/>
          <p:nvPr/>
        </p:nvSpPr>
        <p:spPr>
          <a:xfrm>
            <a:off x="6660989" y="1927138"/>
            <a:ext cx="1961517" cy="129927"/>
          </a:xfrm>
          <a:prstGeom prst="rect">
            <a:avLst/>
          </a:prstGeom>
          <a:noFill/>
          <a:ln/>
        </p:spPr>
        <p:txBody>
          <a:bodyPr wrap="none" lIns="0" tIns="0" rIns="0" bIns="0" rtlCol="0" anchor="t"/>
          <a:lstStyle/>
          <a:p>
            <a:pPr algn="l" indent="0" marL="0">
              <a:lnSpc>
                <a:spcPts val="1024"/>
              </a:lnSpc>
              <a:buNone/>
            </a:pPr>
            <a:r>
              <a:rPr lang="en-US" sz="800" dirty="0">
                <a:solidFill>
                  <a:srgbClr val="334155"/>
                </a:solidFill>
                <a:latin typeface="Carlito" pitchFamily="34" charset="0"/>
                <a:ea typeface="Carlito" pitchFamily="34" charset="-122"/>
                <a:cs typeface="Carlito" pitchFamily="34" charset="-120"/>
              </a:rPr>
              <a:t>خلية عصبية في الدماغ</a:t>
            </a:r>
            <a:endParaRPr lang="en-US" sz="800" dirty="0"/>
          </a:p>
        </p:txBody>
      </p:sp>
      <p:sp>
        <p:nvSpPr>
          <p:cNvPr id="15" name="Text 11"/>
          <p:cNvSpPr/>
          <p:nvPr/>
        </p:nvSpPr>
        <p:spPr>
          <a:xfrm>
            <a:off x="4252875" y="1266341"/>
            <a:ext cx="2197373" cy="908596"/>
          </a:xfrm>
          <a:prstGeom prst="roundRect">
            <a:avLst>
              <a:gd name="adj" fmla="val 14676"/>
            </a:avLst>
          </a:prstGeom>
          <a:solidFill>
            <a:srgbClr val="F8FAFC"/>
          </a:solidFill>
          <a:ln w="7144">
            <a:solidFill>
              <a:srgbClr val="E2E8F0"/>
            </a:solidFill>
            <a:prstDash val="solid"/>
          </a:ln>
          <a:effectLst>
            <a:outerShdw sx="100000" sy="100000" kx="0" ky="0" algn="bl" rotWithShape="0" blurRad="133350" dist="38100" dir="5400000">
              <a:srgbClr val="0F172A">
                <a:alpha val="5000"/>
              </a:srgbClr>
            </a:outerShdw>
          </a:effectLst>
        </p:spPr>
        <p:txBody>
          <a:bodyPr wrap="square" rtlCol="0" anchor="ctr"/>
          <a:lstStyle/>
          <a:p>
            <a:pPr indent="0" marL="0">
              <a:buNone/>
            </a:pPr>
            <a:endParaRPr lang="en-US" dirty="0"/>
          </a:p>
        </p:txBody>
      </p:sp>
      <p:sp>
        <p:nvSpPr>
          <p:cNvPr id="16" name="Text 12"/>
          <p:cNvSpPr/>
          <p:nvPr/>
        </p:nvSpPr>
        <p:spPr>
          <a:xfrm>
            <a:off x="4342172" y="1355638"/>
            <a:ext cx="142875" cy="142875"/>
          </a:xfrm>
          <a:prstGeom prst="rect">
            <a:avLst/>
          </a:prstGeom>
          <a:noFill/>
          <a:ln/>
        </p:spPr>
        <p:txBody>
          <a:bodyPr wrap="none" lIns="0" tIns="0" rIns="0" bIns="0" rtlCol="0" anchor="ctr"/>
          <a:lstStyle/>
          <a:p>
            <a:pPr algn="ctr" indent="0" marL="0">
              <a:buNone/>
            </a:pPr>
            <a:r>
              <a:rPr lang="en-US" sz="1406" dirty="0">
                <a:solidFill>
                  <a:srgbClr val="DC2626"/>
                </a:solidFill>
                <a:latin typeface="Segoe UI Symbol" pitchFamily="34" charset="0"/>
                <a:ea typeface="Segoe UI Symbol" pitchFamily="34" charset="-122"/>
                <a:cs typeface="Segoe UI Symbol" pitchFamily="34" charset="-120"/>
              </a:rPr>
              <a:t>✦</a:t>
            </a:r>
            <a:endParaRPr lang="en-US" sz="1406" dirty="0"/>
          </a:p>
        </p:txBody>
      </p:sp>
      <p:sp>
        <p:nvSpPr>
          <p:cNvPr id="17" name="Text 13"/>
          <p:cNvSpPr/>
          <p:nvPr/>
        </p:nvSpPr>
        <p:spPr>
          <a:xfrm>
            <a:off x="4370747" y="1384213"/>
            <a:ext cx="1961629" cy="329756"/>
          </a:xfrm>
          <a:prstGeom prst="rect">
            <a:avLst/>
          </a:prstGeom>
          <a:noFill/>
          <a:ln/>
        </p:spPr>
        <p:txBody>
          <a:bodyPr wrap="none" lIns="0" tIns="0" rIns="0" bIns="0" rtlCol="0" anchor="t">
            <a:normAutofit/>
          </a:bodyPr>
          <a:lstStyle/>
          <a:p>
            <a:pPr algn="l" indent="0" marL="0">
              <a:lnSpc>
                <a:spcPts val="2475"/>
              </a:lnSpc>
              <a:buNone/>
            </a:pPr>
            <a:r>
              <a:rPr lang="en-US" sz="2475" b="1" spc="-84" kern="0" dirty="0">
                <a:solidFill>
                  <a:srgbClr val="DC2626"/>
                </a:solidFill>
                <a:latin typeface="Liberation Sans Narrow" pitchFamily="34" charset="0"/>
                <a:ea typeface="Liberation Sans Narrow" pitchFamily="34" charset="-122"/>
                <a:cs typeface="Liberation Sans Narrow" pitchFamily="34" charset="-120"/>
              </a:rPr>
              <a:t>120</a:t>
            </a:r>
            <a:endParaRPr lang="en-US" sz="2475" dirty="0"/>
          </a:p>
        </p:txBody>
      </p:sp>
      <p:sp>
        <p:nvSpPr>
          <p:cNvPr id="18" name="Text 14"/>
          <p:cNvSpPr/>
          <p:nvPr/>
        </p:nvSpPr>
        <p:spPr>
          <a:xfrm>
            <a:off x="4370747" y="1741401"/>
            <a:ext cx="1961629" cy="158306"/>
          </a:xfrm>
          <a:prstGeom prst="rect">
            <a:avLst/>
          </a:prstGeom>
          <a:noFill/>
          <a:ln/>
        </p:spPr>
        <p:txBody>
          <a:bodyPr wrap="none" lIns="0" tIns="0" rIns="0" bIns="0" rtlCol="0" anchor="t">
            <a:normAutofit/>
          </a:bodyPr>
          <a:lstStyle/>
          <a:p>
            <a:pPr algn="l" indent="0" marL="0">
              <a:lnSpc>
                <a:spcPts val="1013"/>
              </a:lnSpc>
              <a:buNone/>
            </a:pPr>
            <a:r>
              <a:rPr lang="en-US" sz="800" dirty="0">
                <a:solidFill>
                  <a:srgbClr val="64748B"/>
                </a:solidFill>
                <a:latin typeface="Carlito" pitchFamily="34" charset="0"/>
                <a:ea typeface="Carlito" pitchFamily="34" charset="-122"/>
                <a:cs typeface="Carlito" pitchFamily="34" charset="-120"/>
              </a:rPr>
              <a:t>م / ث</a:t>
            </a:r>
            <a:endParaRPr lang="en-US" sz="800" dirty="0"/>
          </a:p>
        </p:txBody>
      </p:sp>
      <p:sp>
        <p:nvSpPr>
          <p:cNvPr id="19" name="Text 15"/>
          <p:cNvSpPr/>
          <p:nvPr/>
        </p:nvSpPr>
        <p:spPr>
          <a:xfrm>
            <a:off x="4370747" y="1927138"/>
            <a:ext cx="1961629" cy="129927"/>
          </a:xfrm>
          <a:prstGeom prst="rect">
            <a:avLst/>
          </a:prstGeom>
          <a:noFill/>
          <a:ln/>
        </p:spPr>
        <p:txBody>
          <a:bodyPr wrap="none" lIns="0" tIns="0" rIns="0" bIns="0" rtlCol="0" anchor="t"/>
          <a:lstStyle/>
          <a:p>
            <a:pPr algn="l" indent="0" marL="0">
              <a:lnSpc>
                <a:spcPts val="1024"/>
              </a:lnSpc>
              <a:buNone/>
            </a:pPr>
            <a:r>
              <a:rPr lang="en-US" sz="800" dirty="0">
                <a:solidFill>
                  <a:srgbClr val="334155"/>
                </a:solidFill>
                <a:latin typeface="Carlito" pitchFamily="34" charset="0"/>
                <a:ea typeface="Carlito" pitchFamily="34" charset="-122"/>
                <a:cs typeface="Carlito" pitchFamily="34" charset="-120"/>
              </a:rPr>
              <a:t>أقصى سرعة نقل عصبي</a:t>
            </a:r>
            <a:endParaRPr lang="en-US" sz="800" dirty="0"/>
          </a:p>
        </p:txBody>
      </p:sp>
      <p:sp>
        <p:nvSpPr>
          <p:cNvPr id="20" name="Text 16"/>
          <p:cNvSpPr/>
          <p:nvPr/>
        </p:nvSpPr>
        <p:spPr>
          <a:xfrm>
            <a:off x="4249303" y="2271378"/>
            <a:ext cx="4719379" cy="123444"/>
          </a:xfrm>
          <a:prstGeom prst="rect">
            <a:avLst/>
          </a:prstGeom>
          <a:noFill/>
          <a:ln/>
        </p:spPr>
        <p:txBody>
          <a:bodyPr wrap="none" lIns="0" tIns="0" rIns="0" bIns="0" rtlCol="0" anchor="t"/>
          <a:lstStyle/>
          <a:p>
            <a:pPr algn="l" indent="0" marL="0">
              <a:lnSpc>
                <a:spcPts val="900"/>
              </a:lnSpc>
              <a:buNone/>
            </a:pPr>
            <a:r>
              <a:rPr lang="en-US" sz="900" b="1" dirty="0">
                <a:solidFill>
                  <a:srgbClr val="1E40AF"/>
                </a:solidFill>
                <a:latin typeface="Carlito" pitchFamily="34" charset="0"/>
                <a:ea typeface="Carlito" pitchFamily="34" charset="-122"/>
                <a:cs typeface="Carlito" pitchFamily="34" charset="-120"/>
              </a:rPr>
              <a:t>القسمان الرئيسيان:</a:t>
            </a:r>
            <a:endParaRPr lang="en-US" sz="900" dirty="0"/>
          </a:p>
        </p:txBody>
      </p:sp>
      <p:sp>
        <p:nvSpPr>
          <p:cNvPr id="21" name="Text 17"/>
          <p:cNvSpPr/>
          <p:nvPr/>
        </p:nvSpPr>
        <p:spPr>
          <a:xfrm>
            <a:off x="6532401" y="2464259"/>
            <a:ext cx="2211549" cy="667941"/>
          </a:xfrm>
          <a:prstGeom prst="roundRect">
            <a:avLst>
              <a:gd name="adj" fmla="val 17112"/>
            </a:avLst>
          </a:prstGeom>
          <a:solidFill>
            <a:srgbClr val="F8FAFC"/>
          </a:solidFill>
          <a:ln/>
        </p:spPr>
        <p:txBody>
          <a:bodyPr wrap="square" rtlCol="0" anchor="ctr"/>
          <a:lstStyle/>
          <a:p>
            <a:pPr indent="0" marL="0">
              <a:buNone/>
            </a:pPr>
            <a:endParaRPr lang="en-US" dirty="0"/>
          </a:p>
        </p:txBody>
      </p:sp>
      <p:sp>
        <p:nvSpPr>
          <p:cNvPr id="22" name="Shape 18"/>
          <p:cNvSpPr/>
          <p:nvPr/>
        </p:nvSpPr>
        <p:spPr>
          <a:xfrm>
            <a:off x="6532401" y="2467831"/>
            <a:ext cx="2211549" cy="0"/>
          </a:xfrm>
          <a:prstGeom prst="line">
            <a:avLst/>
          </a:prstGeom>
          <a:noFill/>
          <a:ln w="7144">
            <a:solidFill>
              <a:srgbClr val="E2E8F0"/>
            </a:solidFill>
            <a:prstDash val="solid"/>
          </a:ln>
        </p:spPr>
      </p:sp>
      <p:sp>
        <p:nvSpPr>
          <p:cNvPr id="23" name="Shape 19"/>
          <p:cNvSpPr/>
          <p:nvPr/>
        </p:nvSpPr>
        <p:spPr>
          <a:xfrm>
            <a:off x="8729663" y="2464259"/>
            <a:ext cx="0" cy="667941"/>
          </a:xfrm>
          <a:prstGeom prst="line">
            <a:avLst/>
          </a:prstGeom>
          <a:noFill/>
          <a:ln w="28575">
            <a:solidFill>
              <a:srgbClr val="1E40AF"/>
            </a:solidFill>
            <a:prstDash val="solid"/>
          </a:ln>
        </p:spPr>
      </p:sp>
      <p:sp>
        <p:nvSpPr>
          <p:cNvPr id="24" name="Shape 20"/>
          <p:cNvSpPr/>
          <p:nvPr/>
        </p:nvSpPr>
        <p:spPr>
          <a:xfrm>
            <a:off x="6532401" y="3128628"/>
            <a:ext cx="2211549" cy="0"/>
          </a:xfrm>
          <a:prstGeom prst="line">
            <a:avLst/>
          </a:prstGeom>
          <a:noFill/>
          <a:ln w="7144">
            <a:solidFill>
              <a:srgbClr val="E2E8F0"/>
            </a:solidFill>
            <a:prstDash val="solid"/>
          </a:ln>
        </p:spPr>
      </p:sp>
      <p:sp>
        <p:nvSpPr>
          <p:cNvPr id="25" name="Shape 21"/>
          <p:cNvSpPr/>
          <p:nvPr/>
        </p:nvSpPr>
        <p:spPr>
          <a:xfrm>
            <a:off x="6535973" y="2464259"/>
            <a:ext cx="0" cy="667941"/>
          </a:xfrm>
          <a:prstGeom prst="line">
            <a:avLst/>
          </a:prstGeom>
          <a:noFill/>
          <a:ln w="7144">
            <a:solidFill>
              <a:srgbClr val="E2E8F0"/>
            </a:solidFill>
            <a:prstDash val="solid"/>
          </a:ln>
        </p:spPr>
      </p:sp>
      <p:sp>
        <p:nvSpPr>
          <p:cNvPr id="26" name="Text 22"/>
          <p:cNvSpPr/>
          <p:nvPr/>
        </p:nvSpPr>
        <p:spPr>
          <a:xfrm>
            <a:off x="8443913" y="2557128"/>
            <a:ext cx="171450" cy="171450"/>
          </a:xfrm>
          <a:prstGeom prst="rect">
            <a:avLst/>
          </a:prstGeom>
          <a:noFill/>
          <a:ln/>
        </p:spPr>
        <p:txBody>
          <a:bodyPr wrap="none" lIns="0" tIns="0" rIns="0" bIns="0" rtlCol="0" anchor="ctr"/>
          <a:lstStyle/>
          <a:p>
            <a:pPr algn="ctr" indent="0" marL="0">
              <a:buNone/>
            </a:pPr>
            <a:r>
              <a:rPr lang="en-US" sz="1688" dirty="0">
                <a:solidFill>
                  <a:srgbClr val="1E40AF"/>
                </a:solidFill>
                <a:latin typeface="Segoe UI Symbol" pitchFamily="34" charset="0"/>
                <a:ea typeface="Segoe UI Symbol" pitchFamily="34" charset="-122"/>
                <a:cs typeface="Segoe UI Symbol" pitchFamily="34" charset="-120"/>
              </a:rPr>
              <a:t>▦</a:t>
            </a:r>
            <a:endParaRPr lang="en-US" sz="1688" dirty="0"/>
          </a:p>
        </p:txBody>
      </p:sp>
      <p:sp>
        <p:nvSpPr>
          <p:cNvPr id="27" name="Text 23"/>
          <p:cNvSpPr/>
          <p:nvPr/>
        </p:nvSpPr>
        <p:spPr>
          <a:xfrm>
            <a:off x="7105576" y="2578559"/>
            <a:ext cx="1509787" cy="138875"/>
          </a:xfrm>
          <a:prstGeom prst="rect">
            <a:avLst/>
          </a:prstGeom>
          <a:noFill/>
          <a:ln/>
        </p:spPr>
        <p:txBody>
          <a:bodyPr wrap="none" lIns="0" tIns="0" rIns="0" bIns="0" rtlCol="0" anchor="t"/>
          <a:lstStyle/>
          <a:p>
            <a:pPr algn="l" indent="0" marL="0">
              <a:lnSpc>
                <a:spcPts val="1013"/>
              </a:lnSpc>
              <a:buNone/>
            </a:pPr>
            <a:r>
              <a:rPr lang="en-US" sz="844" b="1" dirty="0">
                <a:solidFill>
                  <a:srgbClr val="0F172A"/>
                </a:solidFill>
                <a:latin typeface="Carlito" pitchFamily="34" charset="0"/>
                <a:ea typeface="Carlito" pitchFamily="34" charset="-122"/>
                <a:cs typeface="Carlito" pitchFamily="34" charset="-120"/>
              </a:rPr>
              <a:t>الجهاز العصبي المركزي</a:t>
            </a:r>
            <a:endParaRPr lang="en-US" sz="844" dirty="0"/>
          </a:p>
        </p:txBody>
      </p:sp>
      <p:sp>
        <p:nvSpPr>
          <p:cNvPr id="28" name="Text 24"/>
          <p:cNvSpPr/>
          <p:nvPr/>
        </p:nvSpPr>
        <p:spPr>
          <a:xfrm>
            <a:off x="6639558" y="2771440"/>
            <a:ext cx="1975805" cy="267891"/>
          </a:xfrm>
          <a:prstGeom prst="rect">
            <a:avLst/>
          </a:prstGeom>
          <a:noFill/>
          <a:ln/>
        </p:spPr>
        <p:txBody>
          <a:bodyPr wrap="square" lIns="0" tIns="0" rIns="0" bIns="0" rtlCol="0" anchor="t"/>
          <a:lstStyle/>
          <a:p>
            <a:pPr algn="l" indent="0" marL="0">
              <a:lnSpc>
                <a:spcPts val="1055"/>
              </a:lnSpc>
              <a:buNone/>
            </a:pPr>
            <a:r>
              <a:rPr lang="en-US" sz="800" dirty="0">
                <a:solidFill>
                  <a:srgbClr val="334155"/>
                </a:solidFill>
                <a:latin typeface="Carlito" pitchFamily="34" charset="0"/>
                <a:ea typeface="Carlito" pitchFamily="34" charset="-122"/>
                <a:cs typeface="Carlito" pitchFamily="34" charset="-120"/>
              </a:rPr>
              <a:t>الدماغ (</a:t>
            </a:r>
            <a:pPr algn="l" indent="0" marL="0">
              <a:lnSpc>
                <a:spcPts val="1055"/>
              </a:lnSpc>
              <a:buNone/>
            </a:pPr>
            <a:r>
              <a:rPr lang="en-US" sz="800" b="1" dirty="0">
                <a:solidFill>
                  <a:srgbClr val="334155"/>
                </a:solidFill>
                <a:latin typeface="Liberation Sans Narrow" pitchFamily="34" charset="0"/>
                <a:ea typeface="Liberation Sans Narrow" pitchFamily="34" charset="-122"/>
                <a:cs typeface="Liberation Sans Narrow" pitchFamily="34" charset="-120"/>
              </a:rPr>
              <a:t>~1.4</a:t>
            </a:r>
            <a:pPr algn="l" indent="0" marL="0">
              <a:lnSpc>
                <a:spcPts val="1055"/>
              </a:lnSpc>
              <a:buNone/>
            </a:pPr>
            <a:r>
              <a:rPr lang="en-US" sz="800" dirty="0">
                <a:solidFill>
                  <a:srgbClr val="334155"/>
                </a:solidFill>
                <a:latin typeface="Carlito" pitchFamily="34" charset="0"/>
                <a:ea typeface="Carlito" pitchFamily="34" charset="-122"/>
                <a:cs typeface="Carlito" pitchFamily="34" charset="-120"/>
              </a:rPr>
              <a:t> كغ) + الحبل الشوكي (</a:t>
            </a:r>
            <a:pPr algn="l" indent="0" marL="0">
              <a:lnSpc>
                <a:spcPts val="1055"/>
              </a:lnSpc>
              <a:buNone/>
            </a:pPr>
            <a:r>
              <a:rPr lang="en-US" sz="800" b="1" dirty="0">
                <a:solidFill>
                  <a:srgbClr val="334155"/>
                </a:solidFill>
                <a:latin typeface="Liberation Sans Narrow" pitchFamily="34" charset="0"/>
                <a:ea typeface="Liberation Sans Narrow" pitchFamily="34" charset="-122"/>
                <a:cs typeface="Liberation Sans Narrow" pitchFamily="34" charset="-120"/>
              </a:rPr>
              <a:t>45</a:t>
            </a:r>
            <a:pPr algn="l" indent="0" marL="0">
              <a:lnSpc>
                <a:spcPts val="1055"/>
              </a:lnSpc>
              <a:buNone/>
            </a:pPr>
            <a:r>
              <a:rPr lang="en-US" sz="800" dirty="0">
                <a:solidFill>
                  <a:srgbClr val="334155"/>
                </a:solidFill>
                <a:latin typeface="Carlito" pitchFamily="34" charset="0"/>
                <a:ea typeface="Carlito" pitchFamily="34" charset="-122"/>
                <a:cs typeface="Carlito" pitchFamily="34" charset="-120"/>
              </a:rPr>
              <a:t> سم) — الاستقبال والمعالجة واتخاذ القرار</a:t>
            </a:r>
            <a:endParaRPr lang="en-US" sz="800" dirty="0"/>
          </a:p>
        </p:txBody>
      </p:sp>
      <p:sp>
        <p:nvSpPr>
          <p:cNvPr id="29" name="Text 25"/>
          <p:cNvSpPr/>
          <p:nvPr/>
        </p:nvSpPr>
        <p:spPr>
          <a:xfrm>
            <a:off x="4249303" y="2464259"/>
            <a:ext cx="2211660" cy="667941"/>
          </a:xfrm>
          <a:prstGeom prst="roundRect">
            <a:avLst>
              <a:gd name="adj" fmla="val 17112"/>
            </a:avLst>
          </a:prstGeom>
          <a:solidFill>
            <a:srgbClr val="F8FAFC"/>
          </a:solidFill>
          <a:ln/>
        </p:spPr>
        <p:txBody>
          <a:bodyPr wrap="square" rtlCol="0" anchor="ctr"/>
          <a:lstStyle/>
          <a:p>
            <a:pPr indent="0" marL="0">
              <a:buNone/>
            </a:pPr>
            <a:endParaRPr lang="en-US" dirty="0"/>
          </a:p>
        </p:txBody>
      </p:sp>
      <p:sp>
        <p:nvSpPr>
          <p:cNvPr id="30" name="Shape 26"/>
          <p:cNvSpPr/>
          <p:nvPr/>
        </p:nvSpPr>
        <p:spPr>
          <a:xfrm>
            <a:off x="4249303" y="2467831"/>
            <a:ext cx="2211660" cy="0"/>
          </a:xfrm>
          <a:prstGeom prst="line">
            <a:avLst/>
          </a:prstGeom>
          <a:noFill/>
          <a:ln w="7144">
            <a:solidFill>
              <a:srgbClr val="E2E8F0"/>
            </a:solidFill>
            <a:prstDash val="solid"/>
          </a:ln>
        </p:spPr>
      </p:sp>
      <p:sp>
        <p:nvSpPr>
          <p:cNvPr id="31" name="Shape 27"/>
          <p:cNvSpPr/>
          <p:nvPr/>
        </p:nvSpPr>
        <p:spPr>
          <a:xfrm>
            <a:off x="6446676" y="2464259"/>
            <a:ext cx="0" cy="667941"/>
          </a:xfrm>
          <a:prstGeom prst="line">
            <a:avLst/>
          </a:prstGeom>
          <a:noFill/>
          <a:ln w="28575">
            <a:solidFill>
              <a:srgbClr val="DC2626"/>
            </a:solidFill>
            <a:prstDash val="solid"/>
          </a:ln>
        </p:spPr>
      </p:sp>
      <p:sp>
        <p:nvSpPr>
          <p:cNvPr id="32" name="Shape 28"/>
          <p:cNvSpPr/>
          <p:nvPr/>
        </p:nvSpPr>
        <p:spPr>
          <a:xfrm>
            <a:off x="4249303" y="3128628"/>
            <a:ext cx="2211660" cy="0"/>
          </a:xfrm>
          <a:prstGeom prst="line">
            <a:avLst/>
          </a:prstGeom>
          <a:noFill/>
          <a:ln w="7144">
            <a:solidFill>
              <a:srgbClr val="E2E8F0"/>
            </a:solidFill>
            <a:prstDash val="solid"/>
          </a:ln>
        </p:spPr>
      </p:sp>
      <p:sp>
        <p:nvSpPr>
          <p:cNvPr id="33" name="Shape 29"/>
          <p:cNvSpPr/>
          <p:nvPr/>
        </p:nvSpPr>
        <p:spPr>
          <a:xfrm>
            <a:off x="4252875" y="2464259"/>
            <a:ext cx="0" cy="667941"/>
          </a:xfrm>
          <a:prstGeom prst="line">
            <a:avLst/>
          </a:prstGeom>
          <a:noFill/>
          <a:ln w="7144">
            <a:solidFill>
              <a:srgbClr val="E2E8F0"/>
            </a:solidFill>
            <a:prstDash val="solid"/>
          </a:ln>
        </p:spPr>
      </p:sp>
      <p:sp>
        <p:nvSpPr>
          <p:cNvPr id="34" name="Text 30"/>
          <p:cNvSpPr/>
          <p:nvPr/>
        </p:nvSpPr>
        <p:spPr>
          <a:xfrm>
            <a:off x="6160926" y="2557128"/>
            <a:ext cx="171450" cy="171450"/>
          </a:xfrm>
          <a:prstGeom prst="rect">
            <a:avLst/>
          </a:prstGeom>
          <a:noFill/>
          <a:ln/>
        </p:spPr>
        <p:txBody>
          <a:bodyPr wrap="none" lIns="0" tIns="0" rIns="0" bIns="0" rtlCol="0" anchor="ctr"/>
          <a:lstStyle/>
          <a:p>
            <a:pPr algn="ctr" indent="0" marL="0">
              <a:buNone/>
            </a:pPr>
            <a:r>
              <a:rPr lang="en-US" sz="1688" dirty="0">
                <a:solidFill>
                  <a:srgbClr val="DC2626"/>
                </a:solidFill>
                <a:latin typeface="Segoe UI Symbol" pitchFamily="34" charset="0"/>
                <a:ea typeface="Segoe UI Symbol" pitchFamily="34" charset="-122"/>
                <a:cs typeface="Segoe UI Symbol" pitchFamily="34" charset="-120"/>
              </a:rPr>
              <a:t>↗</a:t>
            </a:r>
            <a:endParaRPr lang="en-US" sz="1688" dirty="0"/>
          </a:p>
        </p:txBody>
      </p:sp>
      <p:sp>
        <p:nvSpPr>
          <p:cNvPr id="35" name="Text 31"/>
          <p:cNvSpPr/>
          <p:nvPr/>
        </p:nvSpPr>
        <p:spPr>
          <a:xfrm>
            <a:off x="4886883" y="2578559"/>
            <a:ext cx="1445493" cy="138875"/>
          </a:xfrm>
          <a:prstGeom prst="rect">
            <a:avLst/>
          </a:prstGeom>
          <a:noFill/>
          <a:ln/>
        </p:spPr>
        <p:txBody>
          <a:bodyPr wrap="none" lIns="0" tIns="0" rIns="0" bIns="0" rtlCol="0" anchor="t"/>
          <a:lstStyle/>
          <a:p>
            <a:pPr algn="l" indent="0" marL="0">
              <a:lnSpc>
                <a:spcPts val="1013"/>
              </a:lnSpc>
              <a:buNone/>
            </a:pPr>
            <a:r>
              <a:rPr lang="en-US" sz="844" b="1" dirty="0">
                <a:solidFill>
                  <a:srgbClr val="0F172A"/>
                </a:solidFill>
                <a:latin typeface="Carlito" pitchFamily="34" charset="0"/>
                <a:ea typeface="Carlito" pitchFamily="34" charset="-122"/>
                <a:cs typeface="Carlito" pitchFamily="34" charset="-120"/>
              </a:rPr>
              <a:t>الجهاز العصبي الطرفي</a:t>
            </a:r>
            <a:endParaRPr lang="en-US" sz="844" dirty="0"/>
          </a:p>
        </p:txBody>
      </p:sp>
      <p:sp>
        <p:nvSpPr>
          <p:cNvPr id="36" name="Text 32"/>
          <p:cNvSpPr/>
          <p:nvPr/>
        </p:nvSpPr>
        <p:spPr>
          <a:xfrm>
            <a:off x="4356460" y="2771440"/>
            <a:ext cx="1975917" cy="267891"/>
          </a:xfrm>
          <a:prstGeom prst="rect">
            <a:avLst/>
          </a:prstGeom>
          <a:noFill/>
          <a:ln/>
        </p:spPr>
        <p:txBody>
          <a:bodyPr wrap="square" lIns="0" tIns="0" rIns="0" bIns="0" rtlCol="0" anchor="t"/>
          <a:lstStyle/>
          <a:p>
            <a:pPr algn="l" indent="0" marL="0">
              <a:lnSpc>
                <a:spcPts val="1055"/>
              </a:lnSpc>
              <a:buNone/>
            </a:pPr>
            <a:r>
              <a:rPr lang="en-US" sz="800" b="1" dirty="0">
                <a:solidFill>
                  <a:srgbClr val="334155"/>
                </a:solidFill>
                <a:latin typeface="Liberation Sans Narrow" pitchFamily="34" charset="0"/>
                <a:ea typeface="Liberation Sans Narrow" pitchFamily="34" charset="-122"/>
                <a:cs typeface="Liberation Sans Narrow" pitchFamily="34" charset="-120"/>
              </a:rPr>
              <a:t>12</a:t>
            </a:r>
            <a:pPr algn="l" indent="0" marL="0">
              <a:lnSpc>
                <a:spcPts val="1055"/>
              </a:lnSpc>
              <a:buNone/>
            </a:pPr>
            <a:r>
              <a:rPr lang="en-US" sz="800" dirty="0">
                <a:solidFill>
                  <a:srgbClr val="334155"/>
                </a:solidFill>
                <a:latin typeface="Carlito" pitchFamily="34" charset="0"/>
                <a:ea typeface="Carlito" pitchFamily="34" charset="-122"/>
                <a:cs typeface="Carlito" pitchFamily="34" charset="-120"/>
              </a:rPr>
              <a:t> عصب قحفي + </a:t>
            </a:r>
            <a:pPr algn="l" indent="0" marL="0">
              <a:lnSpc>
                <a:spcPts val="1055"/>
              </a:lnSpc>
              <a:buNone/>
            </a:pPr>
            <a:r>
              <a:rPr lang="en-US" sz="800" b="1" dirty="0">
                <a:solidFill>
                  <a:srgbClr val="334155"/>
                </a:solidFill>
                <a:latin typeface="Liberation Sans Narrow" pitchFamily="34" charset="0"/>
                <a:ea typeface="Liberation Sans Narrow" pitchFamily="34" charset="-122"/>
                <a:cs typeface="Liberation Sans Narrow" pitchFamily="34" charset="-120"/>
              </a:rPr>
              <a:t>31</a:t>
            </a:r>
            <a:pPr algn="l" indent="0" marL="0">
              <a:lnSpc>
                <a:spcPts val="1055"/>
              </a:lnSpc>
              <a:buNone/>
            </a:pPr>
            <a:r>
              <a:rPr lang="en-US" sz="800" dirty="0">
                <a:solidFill>
                  <a:srgbClr val="334155"/>
                </a:solidFill>
                <a:latin typeface="Carlito" pitchFamily="34" charset="0"/>
                <a:ea typeface="Carlito" pitchFamily="34" charset="-122"/>
                <a:cs typeface="Carlito" pitchFamily="34" charset="-120"/>
              </a:rPr>
              <a:t> عصب شوكي — ينقل الإشارات من وإلى الأعضاء</a:t>
            </a:r>
            <a:endParaRPr lang="en-US" sz="800" dirty="0"/>
          </a:p>
        </p:txBody>
      </p:sp>
      <p:sp>
        <p:nvSpPr>
          <p:cNvPr id="37" name="Text 33"/>
          <p:cNvSpPr/>
          <p:nvPr/>
        </p:nvSpPr>
        <p:spPr>
          <a:xfrm>
            <a:off x="4249303" y="3210781"/>
            <a:ext cx="4494647" cy="450056"/>
          </a:xfrm>
          <a:prstGeom prst="roundRect">
            <a:avLst>
              <a:gd name="adj" fmla="val 21164"/>
            </a:avLst>
          </a:prstGeom>
          <a:solidFill>
            <a:srgbClr val="F8FAFC"/>
          </a:solidFill>
          <a:ln/>
        </p:spPr>
        <p:txBody>
          <a:bodyPr wrap="square" rtlCol="0" anchor="ctr"/>
          <a:lstStyle/>
          <a:p>
            <a:pPr indent="0" marL="0">
              <a:buNone/>
            </a:pPr>
            <a:endParaRPr lang="en-US" dirty="0"/>
          </a:p>
        </p:txBody>
      </p:sp>
      <p:sp>
        <p:nvSpPr>
          <p:cNvPr id="38" name="Shape 34"/>
          <p:cNvSpPr/>
          <p:nvPr/>
        </p:nvSpPr>
        <p:spPr>
          <a:xfrm>
            <a:off x="4249303" y="3214353"/>
            <a:ext cx="4494647" cy="0"/>
          </a:xfrm>
          <a:prstGeom prst="line">
            <a:avLst/>
          </a:prstGeom>
          <a:noFill/>
          <a:ln w="7144">
            <a:solidFill>
              <a:srgbClr val="E2E8F0"/>
            </a:solidFill>
            <a:prstDash val="solid"/>
          </a:ln>
        </p:spPr>
      </p:sp>
      <p:sp>
        <p:nvSpPr>
          <p:cNvPr id="39" name="Shape 35"/>
          <p:cNvSpPr/>
          <p:nvPr/>
        </p:nvSpPr>
        <p:spPr>
          <a:xfrm>
            <a:off x="8729663" y="3210781"/>
            <a:ext cx="0" cy="450056"/>
          </a:xfrm>
          <a:prstGeom prst="line">
            <a:avLst/>
          </a:prstGeom>
          <a:noFill/>
          <a:ln w="28575">
            <a:solidFill>
              <a:srgbClr val="DC2626"/>
            </a:solidFill>
            <a:prstDash val="solid"/>
          </a:ln>
        </p:spPr>
      </p:sp>
      <p:sp>
        <p:nvSpPr>
          <p:cNvPr id="40" name="Shape 36"/>
          <p:cNvSpPr/>
          <p:nvPr/>
        </p:nvSpPr>
        <p:spPr>
          <a:xfrm>
            <a:off x="4249303" y="3657265"/>
            <a:ext cx="4494647" cy="0"/>
          </a:xfrm>
          <a:prstGeom prst="line">
            <a:avLst/>
          </a:prstGeom>
          <a:noFill/>
          <a:ln w="7144">
            <a:solidFill>
              <a:srgbClr val="E2E8F0"/>
            </a:solidFill>
            <a:prstDash val="solid"/>
          </a:ln>
        </p:spPr>
      </p:sp>
      <p:sp>
        <p:nvSpPr>
          <p:cNvPr id="41" name="Shape 37"/>
          <p:cNvSpPr/>
          <p:nvPr/>
        </p:nvSpPr>
        <p:spPr>
          <a:xfrm>
            <a:off x="4252875" y="3210781"/>
            <a:ext cx="0" cy="450056"/>
          </a:xfrm>
          <a:prstGeom prst="line">
            <a:avLst/>
          </a:prstGeom>
          <a:noFill/>
          <a:ln w="7144">
            <a:solidFill>
              <a:srgbClr val="E2E8F0"/>
            </a:solidFill>
            <a:prstDash val="solid"/>
          </a:ln>
        </p:spPr>
      </p:sp>
      <p:sp>
        <p:nvSpPr>
          <p:cNvPr id="42" name="Text 38"/>
          <p:cNvSpPr/>
          <p:nvPr/>
        </p:nvSpPr>
        <p:spPr>
          <a:xfrm>
            <a:off x="8458200" y="3357228"/>
            <a:ext cx="157163" cy="157163"/>
          </a:xfrm>
          <a:prstGeom prst="rect">
            <a:avLst/>
          </a:prstGeom>
          <a:noFill/>
          <a:ln/>
        </p:spPr>
        <p:txBody>
          <a:bodyPr wrap="none" lIns="0" tIns="0" rIns="0" bIns="0" rtlCol="0" anchor="ctr"/>
          <a:lstStyle/>
          <a:p>
            <a:pPr algn="ctr" indent="0" marL="0">
              <a:buNone/>
            </a:pPr>
            <a:r>
              <a:rPr lang="en-US" sz="1547" dirty="0">
                <a:solidFill>
                  <a:srgbClr val="DC2626"/>
                </a:solidFill>
                <a:latin typeface="Segoe UI Symbol" pitchFamily="34" charset="0"/>
                <a:ea typeface="Segoe UI Symbol" pitchFamily="34" charset="-122"/>
                <a:cs typeface="Segoe UI Symbol" pitchFamily="34" charset="-120"/>
              </a:rPr>
              <a:t>◆</a:t>
            </a:r>
            <a:endParaRPr lang="en-US" sz="1547" dirty="0"/>
          </a:p>
        </p:txBody>
      </p:sp>
      <p:sp>
        <p:nvSpPr>
          <p:cNvPr id="43" name="Text 39"/>
          <p:cNvSpPr/>
          <p:nvPr/>
        </p:nvSpPr>
        <p:spPr>
          <a:xfrm>
            <a:off x="4356460" y="3296506"/>
            <a:ext cx="4066022" cy="278606"/>
          </a:xfrm>
          <a:prstGeom prst="rect">
            <a:avLst/>
          </a:prstGeom>
          <a:noFill/>
          <a:ln/>
        </p:spPr>
        <p:txBody>
          <a:bodyPr wrap="square" lIns="0" tIns="0" rIns="0" bIns="0" rtlCol="0" anchor="t"/>
          <a:lstStyle/>
          <a:p>
            <a:pPr algn="l" indent="0" marL="0">
              <a:lnSpc>
                <a:spcPts val="1097"/>
              </a:lnSpc>
              <a:buNone/>
            </a:pPr>
            <a:r>
              <a:rPr lang="en-US" sz="800" b="1" dirty="0">
                <a:solidFill>
                  <a:srgbClr val="0F172A"/>
                </a:solidFill>
                <a:latin typeface="Carlito" pitchFamily="34" charset="0"/>
                <a:ea typeface="Carlito" pitchFamily="34" charset="-122"/>
                <a:cs typeface="Carlito" pitchFamily="34" charset="-120"/>
              </a:rPr>
              <a:t>معلومة مذهلة:</a:t>
            </a:r>
            <a:pPr algn="l" indent="0" marL="0">
              <a:lnSpc>
                <a:spcPts val="1097"/>
              </a:lnSpc>
              <a:buNone/>
            </a:pPr>
            <a:r>
              <a:rPr lang="en-US" sz="800" dirty="0">
                <a:solidFill>
                  <a:srgbClr val="334155"/>
                </a:solidFill>
                <a:latin typeface="Carlito" pitchFamily="34" charset="0"/>
                <a:ea typeface="Carlito" pitchFamily="34" charset="-122"/>
                <a:cs typeface="Carlito" pitchFamily="34" charset="-120"/>
              </a:rPr>
              <a:t> الدماغ يولّد </a:t>
            </a:r>
            <a:pPr algn="l" indent="0" marL="0">
              <a:lnSpc>
                <a:spcPts val="1097"/>
              </a:lnSpc>
              <a:buNone/>
            </a:pPr>
            <a:r>
              <a:rPr lang="en-US" sz="800" b="1" dirty="0">
                <a:solidFill>
                  <a:srgbClr val="DC2626"/>
                </a:solidFill>
                <a:latin typeface="Liberation Sans Narrow" pitchFamily="34" charset="0"/>
                <a:ea typeface="Liberation Sans Narrow" pitchFamily="34" charset="-122"/>
                <a:cs typeface="Liberation Sans Narrow" pitchFamily="34" charset="-120"/>
              </a:rPr>
              <a:t>~20</a:t>
            </a:r>
            <a:pPr algn="l" indent="0" marL="0">
              <a:lnSpc>
                <a:spcPts val="1097"/>
              </a:lnSpc>
              <a:buNone/>
            </a:pPr>
            <a:r>
              <a:rPr lang="en-US" sz="800" dirty="0">
                <a:solidFill>
                  <a:srgbClr val="334155"/>
                </a:solidFill>
                <a:latin typeface="Carlito" pitchFamily="34" charset="0"/>
                <a:ea typeface="Carlito" pitchFamily="34" charset="-122"/>
                <a:cs typeface="Carlito" pitchFamily="34" charset="-120"/>
              </a:rPr>
              <a:t> واط من الطاقة الكهربائية — يكفي لإضاءة مصباح LED صغير</a:t>
            </a:r>
            <a:endParaRPr lang="en-US" sz="800" dirty="0"/>
          </a:p>
        </p:txBody>
      </p:sp>
      <p:sp>
        <p:nvSpPr>
          <p:cNvPr id="44" name="Text 40"/>
          <p:cNvSpPr/>
          <p:nvPr/>
        </p:nvSpPr>
        <p:spPr>
          <a:xfrm>
            <a:off x="403622" y="675084"/>
            <a:ext cx="3670660" cy="4264819"/>
          </a:xfrm>
          <a:prstGeom prst="roundRect">
            <a:avLst>
              <a:gd name="adj" fmla="val 4152"/>
            </a:avLst>
          </a:prstGeom>
          <a:solidFill>
            <a:srgbClr val="F8FAFC"/>
          </a:solidFill>
          <a:ln w="7144">
            <a:solidFill>
              <a:srgbClr val="E2E8F0"/>
            </a:solidFill>
            <a:prstDash val="solid"/>
          </a:ln>
          <a:effectLst>
            <a:outerShdw sx="100000" sy="100000" kx="0" ky="0" algn="bl" rotWithShape="0" blurRad="266700" dist="76200" dir="5400000">
              <a:srgbClr val="0F172A">
                <a:alpha val="6000"/>
              </a:srgbClr>
            </a:outerShdw>
          </a:effectLst>
        </p:spPr>
        <p:txBody>
          <a:bodyPr wrap="square" rtlCol="0" anchor="ctr"/>
          <a:lstStyle/>
          <a:p>
            <a:pPr indent="0" marL="0">
              <a:buNone/>
            </a:pPr>
            <a:endParaRPr lang="en-US" dirty="0"/>
          </a:p>
        </p:txBody>
      </p:sp>
      <p:pic>
        <p:nvPicPr>
          <p:cNvPr id="45" name="Image 2" descr="/tmp/h2p-fit-1789634205795-luzjxp.png">    </p:cNvPr>
          <p:cNvPicPr>
            <a:picLocks noChangeAspect="1"/>
          </p:cNvPicPr>
          <p:nvPr/>
        </p:nvPicPr>
        <p:blipFill>
          <a:blip r:embed="rId3"/>
          <a:stretch>
            <a:fillRect/>
          </a:stretch>
        </p:blipFill>
        <p:spPr>
          <a:xfrm>
            <a:off x="407194" y="678656"/>
            <a:ext cx="3663516" cy="4257675"/>
          </a:xfrm>
          <a:prstGeom prst="rect">
            <a:avLst/>
          </a:prstGeom>
        </p:spPr>
      </p:pic>
      <p:sp>
        <p:nvSpPr>
          <p:cNvPr id="46" name="Text 41"/>
          <p:cNvSpPr/>
          <p:nvPr/>
        </p:nvSpPr>
        <p:spPr>
          <a:xfrm>
            <a:off x="492919" y="4636294"/>
            <a:ext cx="1745531" cy="214313"/>
          </a:xfrm>
          <a:prstGeom prst="roundRect">
            <a:avLst>
              <a:gd name="adj" fmla="val 4439990"/>
            </a:avLst>
          </a:prstGeom>
          <a:solidFill>
            <a:srgbClr val="1E40AF">
              <a:alpha val="94000"/>
            </a:srgbClr>
          </a:solidFill>
          <a:ln/>
        </p:spPr>
        <p:txBody>
          <a:bodyPr wrap="square" rtlCol="0" anchor="ctr"/>
          <a:lstStyle/>
          <a:p>
            <a:pPr indent="0" marL="0">
              <a:buNone/>
            </a:pPr>
            <a:endParaRPr lang="en-US" dirty="0"/>
          </a:p>
        </p:txBody>
      </p:sp>
      <p:sp>
        <p:nvSpPr>
          <p:cNvPr id="47" name="Text 42"/>
          <p:cNvSpPr/>
          <p:nvPr/>
        </p:nvSpPr>
        <p:spPr>
          <a:xfrm>
            <a:off x="578644" y="4693444"/>
            <a:ext cx="1431206" cy="128016"/>
          </a:xfrm>
          <a:prstGeom prst="rect">
            <a:avLst/>
          </a:prstGeom>
          <a:noFill/>
          <a:ln/>
        </p:spPr>
        <p:txBody>
          <a:bodyPr wrap="none" lIns="85725" tIns="42863" rIns="85725" bIns="42863" rtlCol="0" anchor="t"/>
          <a:lstStyle/>
          <a:p>
            <a:pPr algn="l" indent="0" marL="0">
              <a:lnSpc>
                <a:spcPts val="1013"/>
              </a:lnSpc>
              <a:buNone/>
            </a:pPr>
            <a:r>
              <a:rPr lang="en-US" sz="675" dirty="0">
                <a:solidFill>
                  <a:srgbClr val="FFFFFF"/>
                </a:solidFill>
                <a:latin typeface="Carlito" pitchFamily="34" charset="0"/>
                <a:ea typeface="Carlito" pitchFamily="34" charset="-122"/>
                <a:cs typeface="Carlito" pitchFamily="34" charset="-120"/>
              </a:rPr>
              <a:t>الجهاز العصبي — الدماغ والأعصاب</a:t>
            </a:r>
            <a:endParaRPr lang="en-US" sz="675" dirty="0"/>
          </a:p>
        </p:txBody>
      </p:sp>
      <p:sp>
        <p:nvSpPr>
          <p:cNvPr id="48" name="Text 43"/>
          <p:cNvSpPr/>
          <p:nvPr/>
        </p:nvSpPr>
        <p:spPr>
          <a:xfrm>
            <a:off x="2052712" y="4693444"/>
            <a:ext cx="100013" cy="100013"/>
          </a:xfrm>
          <a:prstGeom prst="rect">
            <a:avLst/>
          </a:prstGeom>
          <a:noFill/>
          <a:ln/>
        </p:spPr>
        <p:txBody>
          <a:bodyPr wrap="none" lIns="0" tIns="0" rIns="0" bIns="0" rtlCol="0" anchor="ctr"/>
          <a:lstStyle/>
          <a:p>
            <a:pPr algn="ctr" indent="0" marL="0">
              <a:buNone/>
            </a:pPr>
            <a:r>
              <a:rPr lang="en-US" sz="984" dirty="0">
                <a:solidFill>
                  <a:srgbClr val="FFFFFF"/>
                </a:solidFill>
                <a:latin typeface="Segoe UI Symbol" pitchFamily="34" charset="0"/>
                <a:ea typeface="Segoe UI Symbol" pitchFamily="34" charset="-122"/>
                <a:cs typeface="Segoe UI Symbol" pitchFamily="34" charset="-120"/>
              </a:rPr>
              <a:t>◯</a:t>
            </a:r>
            <a:endParaRPr lang="en-US" sz="984"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8472488" y="296019"/>
            <a:ext cx="271463" cy="271463"/>
          </a:xfrm>
          <a:prstGeom prst="ellipse">
            <a:avLst/>
          </a:prstGeom>
          <a:solidFill>
            <a:srgbClr val="DC2626"/>
          </a:solidFill>
          <a:ln/>
          <a:effectLst>
            <a:outerShdw sx="100000" sy="100000" kx="0" ky="0" algn="bl" rotWithShape="0" blurRad="114300" dist="38100" dir="5400000">
              <a:srgbClr val="DC2626">
                <a:alpha val="30000"/>
              </a:srgbClr>
            </a:outerShdw>
          </a:effectLst>
        </p:spPr>
        <p:txBody>
          <a:bodyPr wrap="square" rtlCol="0" anchor="ctr"/>
          <a:lstStyle/>
          <a:p>
            <a:pPr indent="0" marL="0">
              <a:buNone/>
            </a:pPr>
            <a:endParaRPr lang="en-US" dirty="0"/>
          </a:p>
        </p:txBody>
      </p:sp>
      <p:sp>
        <p:nvSpPr>
          <p:cNvPr id="5" name="Text 1"/>
          <p:cNvSpPr/>
          <p:nvPr/>
        </p:nvSpPr>
        <p:spPr>
          <a:xfrm>
            <a:off x="8472488" y="296019"/>
            <a:ext cx="271463" cy="271463"/>
          </a:xfrm>
          <a:prstGeom prst="rect">
            <a:avLst/>
          </a:prstGeom>
          <a:noFill/>
          <a:ln/>
        </p:spPr>
        <p:txBody>
          <a:bodyPr wrap="none" lIns="0" tIns="0" rIns="0" bIns="0" rtlCol="0" anchor="ctr"/>
          <a:lstStyle/>
          <a:p>
            <a:pPr algn="ctr" indent="0" marL="0">
              <a:lnSpc>
                <a:spcPts val="1350"/>
              </a:lnSpc>
              <a:buNone/>
            </a:pPr>
            <a:r>
              <a:rPr lang="en-US" sz="900" b="1" dirty="0">
                <a:solidFill>
                  <a:srgbClr val="FFFFFF"/>
                </a:solidFill>
                <a:latin typeface="Liberation Sans Narrow" pitchFamily="34" charset="0"/>
                <a:ea typeface="Liberation Sans Narrow" pitchFamily="34" charset="-122"/>
                <a:cs typeface="Liberation Sans Narrow" pitchFamily="34" charset="-120"/>
              </a:rPr>
              <a:t>06</a:t>
            </a:r>
            <a:endParaRPr lang="en-US" sz="900" dirty="0"/>
          </a:p>
        </p:txBody>
      </p:sp>
      <p:sp>
        <p:nvSpPr>
          <p:cNvPr id="6" name="Text 2"/>
          <p:cNvSpPr/>
          <p:nvPr/>
        </p:nvSpPr>
        <p:spPr>
          <a:xfrm>
            <a:off x="6576157" y="228600"/>
            <a:ext cx="2088540" cy="239677"/>
          </a:xfrm>
          <a:prstGeom prst="rect">
            <a:avLst/>
          </a:prstGeom>
          <a:noFill/>
          <a:ln/>
        </p:spPr>
        <p:txBody>
          <a:bodyPr wrap="none" lIns="0" tIns="0" rIns="0" bIns="0" rtlCol="0" anchor="t">
            <a:normAutofit/>
          </a:bodyPr>
          <a:lstStyle/>
          <a:p>
            <a:pPr algn="l" indent="0" marL="0">
              <a:lnSpc>
                <a:spcPts val="2104"/>
              </a:lnSpc>
              <a:buNone/>
            </a:pPr>
            <a:r>
              <a:rPr lang="en-US" sz="1913" b="1" dirty="0">
                <a:solidFill>
                  <a:srgbClr val="1E40AF"/>
                </a:solidFill>
                <a:latin typeface="Carlito" pitchFamily="34" charset="0"/>
                <a:ea typeface="Carlito" pitchFamily="34" charset="-122"/>
                <a:cs typeface="Carlito" pitchFamily="34" charset="-120"/>
              </a:rPr>
              <a:t>الجهاز الهضمي</a:t>
            </a:r>
            <a:endParaRPr lang="en-US" sz="1913" dirty="0"/>
          </a:p>
        </p:txBody>
      </p:sp>
      <p:sp>
        <p:nvSpPr>
          <p:cNvPr id="7" name="Text 3"/>
          <p:cNvSpPr/>
          <p:nvPr/>
        </p:nvSpPr>
        <p:spPr>
          <a:xfrm>
            <a:off x="6576157" y="495709"/>
            <a:ext cx="2209941" cy="164592"/>
          </a:xfrm>
          <a:prstGeom prst="rect">
            <a:avLst/>
          </a:prstGeom>
          <a:noFill/>
          <a:ln/>
        </p:spPr>
        <p:txBody>
          <a:bodyPr wrap="none" lIns="0" tIns="0" rIns="0" bIns="0" rtlCol="0" anchor="t"/>
          <a:lstStyle/>
          <a:p>
            <a:pPr algn="l" indent="0" marL="0">
              <a:lnSpc>
                <a:spcPts val="1097"/>
              </a:lnSpc>
              <a:buNone/>
            </a:pPr>
            <a:r>
              <a:rPr lang="en-US" sz="800" i="1" spc="23" kern="0" dirty="0">
                <a:solidFill>
                  <a:srgbClr val="64748B"/>
                </a:solidFill>
                <a:latin typeface="Carlito" pitchFamily="34" charset="0"/>
                <a:ea typeface="Carlito" pitchFamily="34" charset="-122"/>
                <a:cs typeface="Carlito" pitchFamily="34" charset="-120"/>
              </a:rPr>
              <a:t>Digestive System</a:t>
            </a:r>
            <a:endParaRPr lang="en-US" sz="800" dirty="0"/>
          </a:p>
        </p:txBody>
      </p:sp>
      <p:sp>
        <p:nvSpPr>
          <p:cNvPr id="8" name="Text 4"/>
          <p:cNvSpPr/>
          <p:nvPr/>
        </p:nvSpPr>
        <p:spPr>
          <a:xfrm>
            <a:off x="377190" y="306435"/>
            <a:ext cx="1383834" cy="250631"/>
          </a:xfrm>
          <a:prstGeom prst="roundRect">
            <a:avLst>
              <a:gd name="adj" fmla="val 3796607"/>
            </a:avLst>
          </a:prstGeom>
          <a:solidFill>
            <a:srgbClr val="DBEAFE"/>
          </a:solidFill>
          <a:ln/>
        </p:spPr>
        <p:txBody>
          <a:bodyPr wrap="square" rtlCol="0" anchor="ctr"/>
          <a:lstStyle/>
          <a:p>
            <a:pPr indent="0" marL="0">
              <a:buNone/>
            </a:pPr>
            <a:endParaRPr lang="en-US" dirty="0"/>
          </a:p>
        </p:txBody>
      </p:sp>
      <p:sp>
        <p:nvSpPr>
          <p:cNvPr id="9" name="Text 5"/>
          <p:cNvSpPr/>
          <p:nvPr/>
        </p:nvSpPr>
        <p:spPr>
          <a:xfrm>
            <a:off x="500063" y="376386"/>
            <a:ext cx="1238101" cy="126609"/>
          </a:xfrm>
          <a:prstGeom prst="rect">
            <a:avLst/>
          </a:prstGeom>
          <a:noFill/>
          <a:ln/>
        </p:spPr>
        <p:txBody>
          <a:bodyPr wrap="none" lIns="0" tIns="0" rIns="0" bIns="0" rtlCol="0" anchor="t"/>
          <a:lstStyle/>
          <a:p>
            <a:pPr algn="l" indent="0" marL="0">
              <a:lnSpc>
                <a:spcPts val="1097"/>
              </a:lnSpc>
              <a:buNone/>
            </a:pPr>
            <a:r>
              <a:rPr lang="en-US" sz="800" dirty="0">
                <a:solidFill>
                  <a:srgbClr val="1E40AF"/>
                </a:solidFill>
                <a:latin typeface="Carlito" pitchFamily="34" charset="0"/>
                <a:ea typeface="Carlito" pitchFamily="34" charset="-122"/>
                <a:cs typeface="Carlito" pitchFamily="34" charset="-120"/>
              </a:rPr>
              <a:t>الجهاز السادس من 11</a:t>
            </a:r>
            <a:endParaRPr lang="en-US" sz="800" dirty="0"/>
          </a:p>
        </p:txBody>
      </p:sp>
      <p:sp>
        <p:nvSpPr>
          <p:cNvPr id="10" name="Text 6"/>
          <p:cNvSpPr/>
          <p:nvPr/>
        </p:nvSpPr>
        <p:spPr>
          <a:xfrm>
            <a:off x="1523851" y="374600"/>
            <a:ext cx="114300" cy="114300"/>
          </a:xfrm>
          <a:prstGeom prst="rect">
            <a:avLst/>
          </a:prstGeom>
          <a:noFill/>
          <a:ln/>
        </p:spPr>
        <p:txBody>
          <a:bodyPr wrap="none" lIns="0" tIns="0" rIns="0" bIns="0" rtlCol="0" anchor="ctr"/>
          <a:lstStyle/>
          <a:p>
            <a:pPr algn="ctr" indent="0" marL="0">
              <a:buNone/>
            </a:pPr>
            <a:r>
              <a:rPr lang="en-US" sz="1125" dirty="0">
                <a:solidFill>
                  <a:srgbClr val="1E40AF"/>
                </a:solidFill>
                <a:latin typeface="Segoe UI Symbol" pitchFamily="34" charset="0"/>
                <a:ea typeface="Segoe UI Symbol" pitchFamily="34" charset="-122"/>
                <a:cs typeface="Segoe UI Symbol" pitchFamily="34" charset="-120"/>
              </a:rPr>
              <a:t>⊕</a:t>
            </a:r>
            <a:endParaRPr lang="en-US" sz="1125" dirty="0"/>
          </a:p>
        </p:txBody>
      </p:sp>
      <p:sp>
        <p:nvSpPr>
          <p:cNvPr id="11" name="Text 7"/>
          <p:cNvSpPr/>
          <p:nvPr/>
        </p:nvSpPr>
        <p:spPr>
          <a:xfrm>
            <a:off x="8343900" y="692162"/>
            <a:ext cx="400050" cy="28575"/>
          </a:xfrm>
          <a:prstGeom prst="roundRect">
            <a:avLst>
              <a:gd name="adj" fmla="val 66667"/>
            </a:avLst>
          </a:prstGeom>
          <a:solidFill>
            <a:srgbClr val="DC2626"/>
          </a:solidFill>
          <a:ln/>
        </p:spPr>
        <p:txBody>
          <a:bodyPr wrap="square" rtlCol="0" anchor="ctr"/>
          <a:lstStyle/>
          <a:p>
            <a:pPr indent="0" marL="0">
              <a:buNone/>
            </a:pPr>
            <a:endParaRPr lang="en-US" dirty="0"/>
          </a:p>
        </p:txBody>
      </p:sp>
      <p:sp>
        <p:nvSpPr>
          <p:cNvPr id="12" name="Text 8"/>
          <p:cNvSpPr/>
          <p:nvPr/>
        </p:nvSpPr>
        <p:spPr>
          <a:xfrm>
            <a:off x="5389959" y="838609"/>
            <a:ext cx="3350419" cy="3850481"/>
          </a:xfrm>
          <a:prstGeom prst="roundRect">
            <a:avLst>
              <a:gd name="adj" fmla="val 4549"/>
            </a:avLst>
          </a:prstGeom>
          <a:solidFill>
            <a:srgbClr val="F8FAFC"/>
          </a:solidFill>
          <a:ln w="7144">
            <a:solidFill>
              <a:srgbClr val="E2E8F0"/>
            </a:solidFill>
            <a:prstDash val="solid"/>
          </a:ln>
          <a:effectLst>
            <a:outerShdw sx="100000" sy="100000" kx="0" ky="0" algn="bl" rotWithShape="0" blurRad="190500" dist="38100" dir="5400000">
              <a:srgbClr val="0F172A">
                <a:alpha val="4000"/>
              </a:srgbClr>
            </a:outerShdw>
          </a:effectLst>
        </p:spPr>
        <p:txBody>
          <a:bodyPr wrap="square" rtlCol="0" anchor="ctr"/>
          <a:lstStyle/>
          <a:p>
            <a:pPr indent="0" marL="0">
              <a:buNone/>
            </a:pPr>
            <a:endParaRPr lang="en-US" dirty="0"/>
          </a:p>
        </p:txBody>
      </p:sp>
      <p:pic>
        <p:nvPicPr>
          <p:cNvPr id="13" name="Image 2" descr="/tmp/h2p-fit-1789634205878-xxwh02.png">    </p:cNvPr>
          <p:cNvPicPr>
            <a:picLocks noChangeAspect="1"/>
          </p:cNvPicPr>
          <p:nvPr/>
        </p:nvPicPr>
        <p:blipFill>
          <a:blip r:embed="rId3"/>
          <a:stretch>
            <a:fillRect/>
          </a:stretch>
        </p:blipFill>
        <p:spPr>
          <a:xfrm>
            <a:off x="5393531" y="842181"/>
            <a:ext cx="3343275" cy="3843338"/>
          </a:xfrm>
          <a:prstGeom prst="rect">
            <a:avLst/>
          </a:prstGeom>
        </p:spPr>
      </p:pic>
      <p:sp>
        <p:nvSpPr>
          <p:cNvPr id="14" name="Text 9"/>
          <p:cNvSpPr/>
          <p:nvPr/>
        </p:nvSpPr>
        <p:spPr>
          <a:xfrm>
            <a:off x="5393531" y="842181"/>
            <a:ext cx="28575" cy="3843338"/>
          </a:xfrm>
          <a:prstGeom prst="rect">
            <a:avLst/>
          </a:prstGeom>
          <a:solidFill>
            <a:srgbClr val="DC2626">
              <a:alpha val="85000"/>
            </a:srgbClr>
          </a:solidFill>
          <a:ln/>
        </p:spPr>
        <p:txBody>
          <a:bodyPr wrap="square" rtlCol="0" anchor="ctr"/>
          <a:lstStyle/>
          <a:p>
            <a:pPr indent="0" marL="0">
              <a:buNone/>
            </a:pPr>
            <a:endParaRPr lang="en-US" dirty="0"/>
          </a:p>
        </p:txBody>
      </p:sp>
      <p:sp>
        <p:nvSpPr>
          <p:cNvPr id="15" name="Text 10"/>
          <p:cNvSpPr/>
          <p:nvPr/>
        </p:nvSpPr>
        <p:spPr>
          <a:xfrm>
            <a:off x="6428929" y="4374766"/>
            <a:ext cx="2222153" cy="225028"/>
          </a:xfrm>
          <a:prstGeom prst="roundRect">
            <a:avLst>
              <a:gd name="adj" fmla="val 4228574"/>
            </a:avLst>
          </a:prstGeom>
          <a:solidFill>
            <a:srgbClr val="FFFFFF">
              <a:alpha val="96000"/>
            </a:srgbClr>
          </a:solidFill>
          <a:ln/>
          <a:effectLst>
            <a:outerShdw sx="100000" sy="100000" kx="0" ky="0" algn="bl" rotWithShape="0" blurRad="133350" dist="38100" dir="5400000">
              <a:srgbClr val="0F172A">
                <a:alpha val="10000"/>
              </a:srgbClr>
            </a:outerShdw>
          </a:effectLst>
        </p:spPr>
        <p:txBody>
          <a:bodyPr wrap="square" rtlCol="0" anchor="ctr"/>
          <a:lstStyle/>
          <a:p>
            <a:pPr indent="0" marL="0">
              <a:buNone/>
            </a:pPr>
            <a:endParaRPr lang="en-US" dirty="0"/>
          </a:p>
        </p:txBody>
      </p:sp>
      <p:sp>
        <p:nvSpPr>
          <p:cNvPr id="16" name="Text 11"/>
          <p:cNvSpPr/>
          <p:nvPr/>
        </p:nvSpPr>
        <p:spPr>
          <a:xfrm>
            <a:off x="6528941" y="4431916"/>
            <a:ext cx="1879253" cy="126609"/>
          </a:xfrm>
          <a:prstGeom prst="rect">
            <a:avLst/>
          </a:prstGeom>
          <a:noFill/>
          <a:ln/>
        </p:spPr>
        <p:txBody>
          <a:bodyPr wrap="square" lIns="100013" tIns="42863" rIns="100013" bIns="42863" rtlCol="0" anchor="t"/>
          <a:lstStyle/>
          <a:p>
            <a:pPr algn="l" indent="0" marL="0">
              <a:lnSpc>
                <a:spcPts val="1097"/>
              </a:lnSpc>
              <a:buNone/>
            </a:pPr>
            <a:r>
              <a:rPr lang="en-US" sz="800" dirty="0">
                <a:solidFill>
                  <a:srgbClr val="1E40AF"/>
                </a:solidFill>
                <a:latin typeface="Carlito" pitchFamily="34" charset="0"/>
                <a:ea typeface="Carlito" pitchFamily="34" charset="-122"/>
                <a:cs typeface="Carlito" pitchFamily="34" charset="-120"/>
              </a:rPr>
              <a:t>المعدة والكبد والأمعاء — رحلة الغذاء</a:t>
            </a:r>
            <a:endParaRPr lang="en-US" sz="800" dirty="0"/>
          </a:p>
        </p:txBody>
      </p:sp>
      <p:sp>
        <p:nvSpPr>
          <p:cNvPr id="17" name="Text 12"/>
          <p:cNvSpPr/>
          <p:nvPr/>
        </p:nvSpPr>
        <p:spPr>
          <a:xfrm>
            <a:off x="8451056" y="4437273"/>
            <a:ext cx="100013" cy="100013"/>
          </a:xfrm>
          <a:prstGeom prst="rect">
            <a:avLst/>
          </a:prstGeom>
          <a:noFill/>
          <a:ln/>
        </p:spPr>
        <p:txBody>
          <a:bodyPr wrap="none" lIns="0" tIns="0" rIns="0" bIns="0" rtlCol="0" anchor="ctr"/>
          <a:lstStyle/>
          <a:p>
            <a:pPr algn="ctr" indent="0" marL="0">
              <a:buNone/>
            </a:pPr>
            <a:r>
              <a:rPr lang="en-US" sz="984" dirty="0">
                <a:solidFill>
                  <a:srgbClr val="DC2626"/>
                </a:solidFill>
                <a:latin typeface="Segoe UI Symbol" pitchFamily="34" charset="0"/>
                <a:ea typeface="Segoe UI Symbol" pitchFamily="34" charset="-122"/>
                <a:cs typeface="Segoe UI Symbol" pitchFamily="34" charset="-120"/>
              </a:rPr>
              <a:t>▣</a:t>
            </a:r>
            <a:endParaRPr lang="en-US" sz="984" dirty="0"/>
          </a:p>
        </p:txBody>
      </p:sp>
      <p:sp>
        <p:nvSpPr>
          <p:cNvPr id="18" name="Text 13"/>
          <p:cNvSpPr/>
          <p:nvPr/>
        </p:nvSpPr>
        <p:spPr>
          <a:xfrm>
            <a:off x="400050" y="835037"/>
            <a:ext cx="4814888" cy="380217"/>
          </a:xfrm>
          <a:prstGeom prst="rect">
            <a:avLst/>
          </a:prstGeom>
          <a:noFill/>
          <a:ln/>
        </p:spPr>
        <p:txBody>
          <a:bodyPr wrap="square" lIns="0" tIns="0" rIns="0" bIns="0" rtlCol="0" anchor="t"/>
          <a:lstStyle/>
          <a:p>
            <a:pPr algn="l" indent="0" marL="0">
              <a:lnSpc>
                <a:spcPts val="1387"/>
              </a:lnSpc>
              <a:buNone/>
            </a:pPr>
            <a:r>
              <a:rPr lang="en-US" sz="816" dirty="0">
                <a:solidFill>
                  <a:srgbClr val="334155"/>
                </a:solidFill>
                <a:latin typeface="Carlito" pitchFamily="34" charset="0"/>
                <a:ea typeface="Carlito" pitchFamily="34" charset="-122"/>
                <a:cs typeface="Carlito" pitchFamily="34" charset="-120"/>
              </a:rPr>
              <a:t>الجهاز الهضمي يحوّل الطعام إلى طاقة وعناصر بناء — رحلة طويلة بطول ~9 أمتار تستغرق 24-72 ساعة من الفم حتى النهاية، يُمتصّ خلالها 90% من العناصر الغذائية.</a:t>
            </a:r>
            <a:endParaRPr lang="en-US" sz="816" dirty="0"/>
          </a:p>
        </p:txBody>
      </p:sp>
      <p:sp>
        <p:nvSpPr>
          <p:cNvPr id="19" name="Text 14"/>
          <p:cNvSpPr/>
          <p:nvPr/>
        </p:nvSpPr>
        <p:spPr>
          <a:xfrm>
            <a:off x="400050" y="1272815"/>
            <a:ext cx="5055632" cy="196739"/>
          </a:xfrm>
          <a:prstGeom prst="rect">
            <a:avLst/>
          </a:prstGeom>
          <a:noFill/>
          <a:ln/>
        </p:spPr>
        <p:txBody>
          <a:bodyPr wrap="none" lIns="0" tIns="0" rIns="0" bIns="0" rtlCol="0" anchor="t"/>
          <a:lstStyle/>
          <a:p>
            <a:pPr algn="l" indent="0" marL="0">
              <a:lnSpc>
                <a:spcPts val="1434"/>
              </a:lnSpc>
              <a:buNone/>
            </a:pPr>
            <a:r>
              <a:rPr lang="en-US" sz="956" b="1" dirty="0">
                <a:solidFill>
                  <a:srgbClr val="DC2626"/>
                </a:solidFill>
                <a:latin typeface="Segoe UI Symbol" pitchFamily="34" charset="0"/>
                <a:ea typeface="Segoe UI Symbol" pitchFamily="34" charset="-122"/>
                <a:cs typeface="Segoe UI Symbol" pitchFamily="34" charset="-120"/>
              </a:rPr>
              <a:t>⌇</a:t>
            </a:r>
            <a:pPr algn="l" indent="0" marL="0">
              <a:lnSpc>
                <a:spcPts val="1434"/>
              </a:lnSpc>
              <a:buNone/>
            </a:pPr>
            <a:r>
              <a:rPr lang="en-US" sz="956" b="1" dirty="0">
                <a:solidFill>
                  <a:srgbClr val="1E40AF"/>
                </a:solidFill>
                <a:latin typeface="Carlito" pitchFamily="34" charset="0"/>
                <a:ea typeface="Carlito" pitchFamily="34" charset="-122"/>
                <a:cs typeface="Carlito" pitchFamily="34" charset="-120"/>
              </a:rPr>
              <a:t> مراحل الهضم:</a:t>
            </a:r>
            <a:endParaRPr lang="en-US" sz="956" dirty="0"/>
          </a:p>
        </p:txBody>
      </p:sp>
      <p:sp>
        <p:nvSpPr>
          <p:cNvPr id="20" name="Text 15"/>
          <p:cNvSpPr/>
          <p:nvPr/>
        </p:nvSpPr>
        <p:spPr>
          <a:xfrm>
            <a:off x="400050" y="1497843"/>
            <a:ext cx="4814888" cy="285750"/>
          </a:xfrm>
          <a:prstGeom prst="roundRect">
            <a:avLst>
              <a:gd name="adj" fmla="val 33333"/>
            </a:avLst>
          </a:prstGeom>
          <a:solidFill>
            <a:srgbClr val="F8FAFC"/>
          </a:solidFill>
          <a:ln/>
        </p:spPr>
        <p:txBody>
          <a:bodyPr wrap="square" rtlCol="0" anchor="ctr"/>
          <a:lstStyle/>
          <a:p>
            <a:pPr indent="0" marL="0">
              <a:buNone/>
            </a:pPr>
            <a:endParaRPr lang="en-US" dirty="0"/>
          </a:p>
        </p:txBody>
      </p:sp>
      <p:sp>
        <p:nvSpPr>
          <p:cNvPr id="21" name="Shape 16"/>
          <p:cNvSpPr/>
          <p:nvPr/>
        </p:nvSpPr>
        <p:spPr>
          <a:xfrm>
            <a:off x="400050" y="1501415"/>
            <a:ext cx="4814888" cy="0"/>
          </a:xfrm>
          <a:prstGeom prst="line">
            <a:avLst/>
          </a:prstGeom>
          <a:noFill/>
          <a:ln w="7144">
            <a:solidFill>
              <a:srgbClr val="E2E8F0"/>
            </a:solidFill>
            <a:prstDash val="solid"/>
          </a:ln>
        </p:spPr>
      </p:sp>
      <p:sp>
        <p:nvSpPr>
          <p:cNvPr id="22" name="Shape 17"/>
          <p:cNvSpPr/>
          <p:nvPr/>
        </p:nvSpPr>
        <p:spPr>
          <a:xfrm>
            <a:off x="5204222" y="1497843"/>
            <a:ext cx="0" cy="285750"/>
          </a:xfrm>
          <a:prstGeom prst="line">
            <a:avLst/>
          </a:prstGeom>
          <a:noFill/>
          <a:ln w="21431">
            <a:solidFill>
              <a:srgbClr val="DBEAFE"/>
            </a:solidFill>
            <a:prstDash val="solid"/>
          </a:ln>
        </p:spPr>
      </p:sp>
      <p:sp>
        <p:nvSpPr>
          <p:cNvPr id="23" name="Shape 18"/>
          <p:cNvSpPr/>
          <p:nvPr/>
        </p:nvSpPr>
        <p:spPr>
          <a:xfrm>
            <a:off x="400050" y="1780022"/>
            <a:ext cx="4814888" cy="0"/>
          </a:xfrm>
          <a:prstGeom prst="line">
            <a:avLst/>
          </a:prstGeom>
          <a:noFill/>
          <a:ln w="7144">
            <a:solidFill>
              <a:srgbClr val="E2E8F0"/>
            </a:solidFill>
            <a:prstDash val="solid"/>
          </a:ln>
        </p:spPr>
      </p:sp>
      <p:sp>
        <p:nvSpPr>
          <p:cNvPr id="24" name="Shape 19"/>
          <p:cNvSpPr/>
          <p:nvPr/>
        </p:nvSpPr>
        <p:spPr>
          <a:xfrm>
            <a:off x="403622" y="1497843"/>
            <a:ext cx="0" cy="285750"/>
          </a:xfrm>
          <a:prstGeom prst="line">
            <a:avLst/>
          </a:prstGeom>
          <a:noFill/>
          <a:ln w="7144">
            <a:solidFill>
              <a:srgbClr val="E2E8F0"/>
            </a:solidFill>
            <a:prstDash val="solid"/>
          </a:ln>
        </p:spPr>
      </p:sp>
      <p:sp>
        <p:nvSpPr>
          <p:cNvPr id="25" name="Text 20"/>
          <p:cNvSpPr/>
          <p:nvPr/>
        </p:nvSpPr>
        <p:spPr>
          <a:xfrm>
            <a:off x="4922044" y="1547850"/>
            <a:ext cx="185738" cy="185738"/>
          </a:xfrm>
          <a:prstGeom prst="ellipse">
            <a:avLst/>
          </a:prstGeom>
          <a:solidFill>
            <a:srgbClr val="1E40AF"/>
          </a:solidFill>
          <a:ln/>
        </p:spPr>
        <p:txBody>
          <a:bodyPr wrap="square" rtlCol="0" anchor="ctr"/>
          <a:lstStyle/>
          <a:p>
            <a:pPr indent="0" marL="0">
              <a:buNone/>
            </a:pPr>
            <a:endParaRPr lang="en-US" dirty="0"/>
          </a:p>
        </p:txBody>
      </p:sp>
      <p:sp>
        <p:nvSpPr>
          <p:cNvPr id="26" name="Text 21"/>
          <p:cNvSpPr/>
          <p:nvPr/>
        </p:nvSpPr>
        <p:spPr>
          <a:xfrm>
            <a:off x="4922044" y="1547850"/>
            <a:ext cx="185738" cy="185738"/>
          </a:xfrm>
          <a:prstGeom prst="rect">
            <a:avLst/>
          </a:prstGeom>
          <a:noFill/>
          <a:ln/>
        </p:spPr>
        <p:txBody>
          <a:bodyPr wrap="none" lIns="0" tIns="0" rIns="0" bIns="0" rtlCol="0" anchor="ctr"/>
          <a:lstStyle/>
          <a:p>
            <a:pPr algn="ctr" indent="0" marL="0">
              <a:lnSpc>
                <a:spcPts val="1097"/>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1</a:t>
            </a:r>
            <a:endParaRPr lang="en-US" sz="800" dirty="0"/>
          </a:p>
        </p:txBody>
      </p:sp>
      <p:sp>
        <p:nvSpPr>
          <p:cNvPr id="27" name="Text 22"/>
          <p:cNvSpPr/>
          <p:nvPr/>
        </p:nvSpPr>
        <p:spPr>
          <a:xfrm>
            <a:off x="4293394" y="1565709"/>
            <a:ext cx="814388" cy="164592"/>
          </a:xfrm>
          <a:prstGeom prst="rect">
            <a:avLst/>
          </a:prstGeom>
          <a:noFill/>
          <a:ln/>
        </p:spPr>
        <p:txBody>
          <a:bodyPr wrap="none" lIns="0" tIns="0" rIns="0" bIns="0" rtlCol="0" anchor="t"/>
          <a:lstStyle/>
          <a:p>
            <a:pPr algn="l" indent="0" marL="0">
              <a:lnSpc>
                <a:spcPts val="1181"/>
              </a:lnSpc>
              <a:buNone/>
            </a:pPr>
            <a:r>
              <a:rPr lang="en-US" sz="800" b="1" dirty="0">
                <a:solidFill>
                  <a:srgbClr val="0F172A"/>
                </a:solidFill>
                <a:latin typeface="Carlito" pitchFamily="34" charset="0"/>
                <a:ea typeface="Carlito" pitchFamily="34" charset="-122"/>
                <a:cs typeface="Carlito" pitchFamily="34" charset="-120"/>
              </a:rPr>
              <a:t>الفم</a:t>
            </a:r>
            <a:endParaRPr lang="en-US" sz="800" dirty="0"/>
          </a:p>
        </p:txBody>
      </p:sp>
      <p:sp>
        <p:nvSpPr>
          <p:cNvPr id="28" name="Text 23"/>
          <p:cNvSpPr/>
          <p:nvPr/>
        </p:nvSpPr>
        <p:spPr>
          <a:xfrm>
            <a:off x="4093369" y="1576425"/>
            <a:ext cx="128588" cy="128588"/>
          </a:xfrm>
          <a:prstGeom prst="rect">
            <a:avLst/>
          </a:prstGeom>
          <a:noFill/>
          <a:ln/>
        </p:spPr>
        <p:txBody>
          <a:bodyPr wrap="none" lIns="0" tIns="0" rIns="0" bIns="0" rtlCol="0" anchor="ctr"/>
          <a:lstStyle/>
          <a:p>
            <a:pPr algn="ctr" indent="0" marL="0">
              <a:buNone/>
            </a:pPr>
            <a:r>
              <a:rPr lang="en-US" sz="1266" dirty="0">
                <a:solidFill>
                  <a:srgbClr val="DC2626"/>
                </a:solidFill>
                <a:latin typeface="Segoe UI Symbol" pitchFamily="34" charset="0"/>
                <a:ea typeface="Segoe UI Symbol" pitchFamily="34" charset="-122"/>
                <a:cs typeface="Segoe UI Symbol" pitchFamily="34" charset="-120"/>
              </a:rPr>
              <a:t>←</a:t>
            </a:r>
            <a:endParaRPr lang="en-US" sz="1266" dirty="0"/>
          </a:p>
        </p:txBody>
      </p:sp>
      <p:sp>
        <p:nvSpPr>
          <p:cNvPr id="29" name="Text 24"/>
          <p:cNvSpPr/>
          <p:nvPr/>
        </p:nvSpPr>
        <p:spPr>
          <a:xfrm>
            <a:off x="492919" y="1578211"/>
            <a:ext cx="3811334" cy="153619"/>
          </a:xfrm>
          <a:prstGeom prst="rect">
            <a:avLst/>
          </a:prstGeom>
          <a:noFill/>
          <a:ln/>
        </p:spPr>
        <p:txBody>
          <a:bodyPr wrap="square" lIns="0" tIns="0" rIns="0" bIns="0" rtlCol="0" anchor="t"/>
          <a:lstStyle/>
          <a:p>
            <a:pPr algn="l" indent="0" marL="0">
              <a:lnSpc>
                <a:spcPts val="984"/>
              </a:lnSpc>
              <a:buNone/>
            </a:pPr>
            <a:r>
              <a:rPr lang="en-US" sz="800" dirty="0">
                <a:solidFill>
                  <a:srgbClr val="334155"/>
                </a:solidFill>
                <a:latin typeface="Carlito" pitchFamily="34" charset="0"/>
                <a:ea typeface="Carlito" pitchFamily="34" charset="-122"/>
                <a:cs typeface="Carlito" pitchFamily="34" charset="-120"/>
              </a:rPr>
              <a:t>المضغ وإفراز اللعاب (إنزيم أميلاز)</a:t>
            </a:r>
            <a:endParaRPr lang="en-US" sz="800" dirty="0"/>
          </a:p>
        </p:txBody>
      </p:sp>
      <p:sp>
        <p:nvSpPr>
          <p:cNvPr id="30" name="Text 25"/>
          <p:cNvSpPr/>
          <p:nvPr/>
        </p:nvSpPr>
        <p:spPr>
          <a:xfrm>
            <a:off x="400050" y="1819312"/>
            <a:ext cx="4814888" cy="285750"/>
          </a:xfrm>
          <a:prstGeom prst="roundRect">
            <a:avLst>
              <a:gd name="adj" fmla="val 33333"/>
            </a:avLst>
          </a:prstGeom>
          <a:solidFill>
            <a:srgbClr val="F8FAFC"/>
          </a:solidFill>
          <a:ln/>
        </p:spPr>
        <p:txBody>
          <a:bodyPr wrap="square" rtlCol="0" anchor="ctr"/>
          <a:lstStyle/>
          <a:p>
            <a:pPr indent="0" marL="0">
              <a:buNone/>
            </a:pPr>
            <a:endParaRPr lang="en-US" dirty="0"/>
          </a:p>
        </p:txBody>
      </p:sp>
      <p:sp>
        <p:nvSpPr>
          <p:cNvPr id="31" name="Shape 26"/>
          <p:cNvSpPr/>
          <p:nvPr/>
        </p:nvSpPr>
        <p:spPr>
          <a:xfrm>
            <a:off x="400050" y="1822884"/>
            <a:ext cx="4814888" cy="0"/>
          </a:xfrm>
          <a:prstGeom prst="line">
            <a:avLst/>
          </a:prstGeom>
          <a:noFill/>
          <a:ln w="7144">
            <a:solidFill>
              <a:srgbClr val="E2E8F0"/>
            </a:solidFill>
            <a:prstDash val="solid"/>
          </a:ln>
        </p:spPr>
      </p:sp>
      <p:sp>
        <p:nvSpPr>
          <p:cNvPr id="32" name="Shape 27"/>
          <p:cNvSpPr/>
          <p:nvPr/>
        </p:nvSpPr>
        <p:spPr>
          <a:xfrm>
            <a:off x="5204222" y="1819312"/>
            <a:ext cx="0" cy="285750"/>
          </a:xfrm>
          <a:prstGeom prst="line">
            <a:avLst/>
          </a:prstGeom>
          <a:noFill/>
          <a:ln w="21431">
            <a:solidFill>
              <a:srgbClr val="DBEAFE"/>
            </a:solidFill>
            <a:prstDash val="solid"/>
          </a:ln>
        </p:spPr>
      </p:sp>
      <p:sp>
        <p:nvSpPr>
          <p:cNvPr id="33" name="Shape 28"/>
          <p:cNvSpPr/>
          <p:nvPr/>
        </p:nvSpPr>
        <p:spPr>
          <a:xfrm>
            <a:off x="400050" y="2101490"/>
            <a:ext cx="4814888" cy="0"/>
          </a:xfrm>
          <a:prstGeom prst="line">
            <a:avLst/>
          </a:prstGeom>
          <a:noFill/>
          <a:ln w="7144">
            <a:solidFill>
              <a:srgbClr val="E2E8F0"/>
            </a:solidFill>
            <a:prstDash val="solid"/>
          </a:ln>
        </p:spPr>
      </p:sp>
      <p:sp>
        <p:nvSpPr>
          <p:cNvPr id="34" name="Shape 29"/>
          <p:cNvSpPr/>
          <p:nvPr/>
        </p:nvSpPr>
        <p:spPr>
          <a:xfrm>
            <a:off x="403622" y="1819312"/>
            <a:ext cx="0" cy="285750"/>
          </a:xfrm>
          <a:prstGeom prst="line">
            <a:avLst/>
          </a:prstGeom>
          <a:noFill/>
          <a:ln w="7144">
            <a:solidFill>
              <a:srgbClr val="E2E8F0"/>
            </a:solidFill>
            <a:prstDash val="solid"/>
          </a:ln>
        </p:spPr>
      </p:sp>
      <p:sp>
        <p:nvSpPr>
          <p:cNvPr id="35" name="Text 30"/>
          <p:cNvSpPr/>
          <p:nvPr/>
        </p:nvSpPr>
        <p:spPr>
          <a:xfrm>
            <a:off x="4922044" y="1869318"/>
            <a:ext cx="185738" cy="185738"/>
          </a:xfrm>
          <a:prstGeom prst="ellipse">
            <a:avLst/>
          </a:prstGeom>
          <a:solidFill>
            <a:srgbClr val="1E40AF"/>
          </a:solidFill>
          <a:ln/>
        </p:spPr>
        <p:txBody>
          <a:bodyPr wrap="square" rtlCol="0" anchor="ctr"/>
          <a:lstStyle/>
          <a:p>
            <a:pPr indent="0" marL="0">
              <a:buNone/>
            </a:pPr>
            <a:endParaRPr lang="en-US" dirty="0"/>
          </a:p>
        </p:txBody>
      </p:sp>
      <p:sp>
        <p:nvSpPr>
          <p:cNvPr id="36" name="Text 31"/>
          <p:cNvSpPr/>
          <p:nvPr/>
        </p:nvSpPr>
        <p:spPr>
          <a:xfrm>
            <a:off x="4922044" y="1869318"/>
            <a:ext cx="185738" cy="185738"/>
          </a:xfrm>
          <a:prstGeom prst="rect">
            <a:avLst/>
          </a:prstGeom>
          <a:noFill/>
          <a:ln/>
        </p:spPr>
        <p:txBody>
          <a:bodyPr wrap="none" lIns="0" tIns="0" rIns="0" bIns="0" rtlCol="0" anchor="ctr"/>
          <a:lstStyle/>
          <a:p>
            <a:pPr algn="ctr" indent="0" marL="0">
              <a:lnSpc>
                <a:spcPts val="1097"/>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2</a:t>
            </a:r>
            <a:endParaRPr lang="en-US" sz="800" dirty="0"/>
          </a:p>
        </p:txBody>
      </p:sp>
      <p:sp>
        <p:nvSpPr>
          <p:cNvPr id="37" name="Text 32"/>
          <p:cNvSpPr/>
          <p:nvPr/>
        </p:nvSpPr>
        <p:spPr>
          <a:xfrm>
            <a:off x="4293394" y="1887178"/>
            <a:ext cx="796814" cy="164592"/>
          </a:xfrm>
          <a:prstGeom prst="rect">
            <a:avLst/>
          </a:prstGeom>
          <a:noFill/>
          <a:ln/>
        </p:spPr>
        <p:txBody>
          <a:bodyPr wrap="none" lIns="0" tIns="0" rIns="0" bIns="0" rtlCol="0" anchor="t"/>
          <a:lstStyle/>
          <a:p>
            <a:pPr algn="l" indent="0" marL="0">
              <a:lnSpc>
                <a:spcPts val="1181"/>
              </a:lnSpc>
              <a:buNone/>
            </a:pPr>
            <a:r>
              <a:rPr lang="en-US" sz="800" b="1" dirty="0">
                <a:solidFill>
                  <a:srgbClr val="0F172A"/>
                </a:solidFill>
                <a:latin typeface="Carlito" pitchFamily="34" charset="0"/>
                <a:ea typeface="Carlito" pitchFamily="34" charset="-122"/>
                <a:cs typeface="Carlito" pitchFamily="34" charset="-120"/>
              </a:rPr>
              <a:t>المريء</a:t>
            </a:r>
            <a:endParaRPr lang="en-US" sz="800" dirty="0"/>
          </a:p>
        </p:txBody>
      </p:sp>
      <p:sp>
        <p:nvSpPr>
          <p:cNvPr id="38" name="Text 33"/>
          <p:cNvSpPr/>
          <p:nvPr/>
        </p:nvSpPr>
        <p:spPr>
          <a:xfrm>
            <a:off x="4093369" y="1897893"/>
            <a:ext cx="128588" cy="128588"/>
          </a:xfrm>
          <a:prstGeom prst="rect">
            <a:avLst/>
          </a:prstGeom>
          <a:noFill/>
          <a:ln/>
        </p:spPr>
        <p:txBody>
          <a:bodyPr wrap="none" lIns="0" tIns="0" rIns="0" bIns="0" rtlCol="0" anchor="ctr"/>
          <a:lstStyle/>
          <a:p>
            <a:pPr algn="ctr" indent="0" marL="0">
              <a:buNone/>
            </a:pPr>
            <a:r>
              <a:rPr lang="en-US" sz="1266" dirty="0">
                <a:solidFill>
                  <a:srgbClr val="DC2626"/>
                </a:solidFill>
                <a:latin typeface="Segoe UI Symbol" pitchFamily="34" charset="0"/>
                <a:ea typeface="Segoe UI Symbol" pitchFamily="34" charset="-122"/>
                <a:cs typeface="Segoe UI Symbol" pitchFamily="34" charset="-120"/>
              </a:rPr>
              <a:t>←</a:t>
            </a:r>
            <a:endParaRPr lang="en-US" sz="1266" dirty="0"/>
          </a:p>
        </p:txBody>
      </p:sp>
      <p:sp>
        <p:nvSpPr>
          <p:cNvPr id="39" name="Text 34"/>
          <p:cNvSpPr/>
          <p:nvPr/>
        </p:nvSpPr>
        <p:spPr>
          <a:xfrm>
            <a:off x="492919" y="1899679"/>
            <a:ext cx="3705463" cy="153619"/>
          </a:xfrm>
          <a:prstGeom prst="rect">
            <a:avLst/>
          </a:prstGeom>
          <a:noFill/>
          <a:ln/>
        </p:spPr>
        <p:txBody>
          <a:bodyPr wrap="none" lIns="0" tIns="0" rIns="0" bIns="0" rtlCol="0" anchor="t"/>
          <a:lstStyle/>
          <a:p>
            <a:pPr algn="l" indent="0" marL="0">
              <a:lnSpc>
                <a:spcPts val="984"/>
              </a:lnSpc>
              <a:buNone/>
            </a:pPr>
            <a:r>
              <a:rPr lang="en-US" sz="800" dirty="0">
                <a:solidFill>
                  <a:srgbClr val="334155"/>
                </a:solidFill>
                <a:latin typeface="Carlito" pitchFamily="34" charset="0"/>
                <a:ea typeface="Carlito" pitchFamily="34" charset="-122"/>
                <a:cs typeface="Carlito" pitchFamily="34" charset="-120"/>
              </a:rPr>
              <a:t>نقل الطعام (~8 ثوانٍ)</a:t>
            </a:r>
            <a:endParaRPr lang="en-US" sz="800" dirty="0"/>
          </a:p>
        </p:txBody>
      </p:sp>
      <p:sp>
        <p:nvSpPr>
          <p:cNvPr id="40" name="Text 35"/>
          <p:cNvSpPr/>
          <p:nvPr/>
        </p:nvSpPr>
        <p:spPr>
          <a:xfrm>
            <a:off x="400050" y="2140781"/>
            <a:ext cx="4814888" cy="285750"/>
          </a:xfrm>
          <a:prstGeom prst="roundRect">
            <a:avLst>
              <a:gd name="adj" fmla="val 33333"/>
            </a:avLst>
          </a:prstGeom>
          <a:solidFill>
            <a:srgbClr val="F8FAFC"/>
          </a:solidFill>
          <a:ln/>
        </p:spPr>
        <p:txBody>
          <a:bodyPr wrap="square" rtlCol="0" anchor="ctr"/>
          <a:lstStyle/>
          <a:p>
            <a:pPr indent="0" marL="0">
              <a:buNone/>
            </a:pPr>
            <a:endParaRPr lang="en-US" dirty="0"/>
          </a:p>
        </p:txBody>
      </p:sp>
      <p:sp>
        <p:nvSpPr>
          <p:cNvPr id="41" name="Shape 36"/>
          <p:cNvSpPr/>
          <p:nvPr/>
        </p:nvSpPr>
        <p:spPr>
          <a:xfrm>
            <a:off x="400050" y="2144353"/>
            <a:ext cx="4814888" cy="0"/>
          </a:xfrm>
          <a:prstGeom prst="line">
            <a:avLst/>
          </a:prstGeom>
          <a:noFill/>
          <a:ln w="7144">
            <a:solidFill>
              <a:srgbClr val="E2E8F0"/>
            </a:solidFill>
            <a:prstDash val="solid"/>
          </a:ln>
        </p:spPr>
      </p:sp>
      <p:sp>
        <p:nvSpPr>
          <p:cNvPr id="42" name="Shape 37"/>
          <p:cNvSpPr/>
          <p:nvPr/>
        </p:nvSpPr>
        <p:spPr>
          <a:xfrm>
            <a:off x="5204222" y="2140781"/>
            <a:ext cx="0" cy="285750"/>
          </a:xfrm>
          <a:prstGeom prst="line">
            <a:avLst/>
          </a:prstGeom>
          <a:noFill/>
          <a:ln w="21431">
            <a:solidFill>
              <a:srgbClr val="DBEAFE"/>
            </a:solidFill>
            <a:prstDash val="solid"/>
          </a:ln>
        </p:spPr>
      </p:sp>
      <p:sp>
        <p:nvSpPr>
          <p:cNvPr id="43" name="Shape 38"/>
          <p:cNvSpPr/>
          <p:nvPr/>
        </p:nvSpPr>
        <p:spPr>
          <a:xfrm>
            <a:off x="400050" y="2422959"/>
            <a:ext cx="4814888" cy="0"/>
          </a:xfrm>
          <a:prstGeom prst="line">
            <a:avLst/>
          </a:prstGeom>
          <a:noFill/>
          <a:ln w="7144">
            <a:solidFill>
              <a:srgbClr val="E2E8F0"/>
            </a:solidFill>
            <a:prstDash val="solid"/>
          </a:ln>
        </p:spPr>
      </p:sp>
      <p:sp>
        <p:nvSpPr>
          <p:cNvPr id="44" name="Shape 39"/>
          <p:cNvSpPr/>
          <p:nvPr/>
        </p:nvSpPr>
        <p:spPr>
          <a:xfrm>
            <a:off x="403622" y="2140781"/>
            <a:ext cx="0" cy="285750"/>
          </a:xfrm>
          <a:prstGeom prst="line">
            <a:avLst/>
          </a:prstGeom>
          <a:noFill/>
          <a:ln w="7144">
            <a:solidFill>
              <a:srgbClr val="E2E8F0"/>
            </a:solidFill>
            <a:prstDash val="solid"/>
          </a:ln>
        </p:spPr>
      </p:sp>
      <p:sp>
        <p:nvSpPr>
          <p:cNvPr id="45" name="Text 40"/>
          <p:cNvSpPr/>
          <p:nvPr/>
        </p:nvSpPr>
        <p:spPr>
          <a:xfrm>
            <a:off x="4922044" y="2190787"/>
            <a:ext cx="185738" cy="185738"/>
          </a:xfrm>
          <a:prstGeom prst="ellipse">
            <a:avLst/>
          </a:prstGeom>
          <a:solidFill>
            <a:srgbClr val="1E40AF"/>
          </a:solidFill>
          <a:ln/>
        </p:spPr>
        <p:txBody>
          <a:bodyPr wrap="square" rtlCol="0" anchor="ctr"/>
          <a:lstStyle/>
          <a:p>
            <a:pPr indent="0" marL="0">
              <a:buNone/>
            </a:pPr>
            <a:endParaRPr lang="en-US" dirty="0"/>
          </a:p>
        </p:txBody>
      </p:sp>
      <p:sp>
        <p:nvSpPr>
          <p:cNvPr id="46" name="Text 41"/>
          <p:cNvSpPr/>
          <p:nvPr/>
        </p:nvSpPr>
        <p:spPr>
          <a:xfrm>
            <a:off x="4922044" y="2190787"/>
            <a:ext cx="185738" cy="185738"/>
          </a:xfrm>
          <a:prstGeom prst="rect">
            <a:avLst/>
          </a:prstGeom>
          <a:noFill/>
          <a:ln/>
        </p:spPr>
        <p:txBody>
          <a:bodyPr wrap="none" lIns="0" tIns="0" rIns="0" bIns="0" rtlCol="0" anchor="ctr"/>
          <a:lstStyle/>
          <a:p>
            <a:pPr algn="ctr" indent="0" marL="0">
              <a:lnSpc>
                <a:spcPts val="1097"/>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3</a:t>
            </a:r>
            <a:endParaRPr lang="en-US" sz="800" dirty="0"/>
          </a:p>
        </p:txBody>
      </p:sp>
      <p:sp>
        <p:nvSpPr>
          <p:cNvPr id="47" name="Text 42"/>
          <p:cNvSpPr/>
          <p:nvPr/>
        </p:nvSpPr>
        <p:spPr>
          <a:xfrm>
            <a:off x="4293394" y="2208647"/>
            <a:ext cx="796814" cy="164592"/>
          </a:xfrm>
          <a:prstGeom prst="rect">
            <a:avLst/>
          </a:prstGeom>
          <a:noFill/>
          <a:ln/>
        </p:spPr>
        <p:txBody>
          <a:bodyPr wrap="none" lIns="0" tIns="0" rIns="0" bIns="0" rtlCol="0" anchor="t"/>
          <a:lstStyle/>
          <a:p>
            <a:pPr algn="l" indent="0" marL="0">
              <a:lnSpc>
                <a:spcPts val="1181"/>
              </a:lnSpc>
              <a:buNone/>
            </a:pPr>
            <a:r>
              <a:rPr lang="en-US" sz="800" b="1" dirty="0">
                <a:solidFill>
                  <a:srgbClr val="0F172A"/>
                </a:solidFill>
                <a:latin typeface="Carlito" pitchFamily="34" charset="0"/>
                <a:ea typeface="Carlito" pitchFamily="34" charset="-122"/>
                <a:cs typeface="Carlito" pitchFamily="34" charset="-120"/>
              </a:rPr>
              <a:t>المعدة</a:t>
            </a:r>
            <a:endParaRPr lang="en-US" sz="800" dirty="0"/>
          </a:p>
        </p:txBody>
      </p:sp>
      <p:sp>
        <p:nvSpPr>
          <p:cNvPr id="48" name="Text 43"/>
          <p:cNvSpPr/>
          <p:nvPr/>
        </p:nvSpPr>
        <p:spPr>
          <a:xfrm>
            <a:off x="4093369" y="2219362"/>
            <a:ext cx="128588" cy="128588"/>
          </a:xfrm>
          <a:prstGeom prst="rect">
            <a:avLst/>
          </a:prstGeom>
          <a:noFill/>
          <a:ln/>
        </p:spPr>
        <p:txBody>
          <a:bodyPr wrap="none" lIns="0" tIns="0" rIns="0" bIns="0" rtlCol="0" anchor="ctr"/>
          <a:lstStyle/>
          <a:p>
            <a:pPr algn="ctr" indent="0" marL="0">
              <a:buNone/>
            </a:pPr>
            <a:r>
              <a:rPr lang="en-US" sz="1266" dirty="0">
                <a:solidFill>
                  <a:srgbClr val="DC2626"/>
                </a:solidFill>
                <a:latin typeface="Segoe UI Symbol" pitchFamily="34" charset="0"/>
                <a:ea typeface="Segoe UI Symbol" pitchFamily="34" charset="-122"/>
                <a:cs typeface="Segoe UI Symbol" pitchFamily="34" charset="-120"/>
              </a:rPr>
              <a:t>←</a:t>
            </a:r>
            <a:endParaRPr lang="en-US" sz="1266" dirty="0"/>
          </a:p>
        </p:txBody>
      </p:sp>
      <p:sp>
        <p:nvSpPr>
          <p:cNvPr id="49" name="Text 44"/>
          <p:cNvSpPr/>
          <p:nvPr/>
        </p:nvSpPr>
        <p:spPr>
          <a:xfrm>
            <a:off x="492919" y="2221148"/>
            <a:ext cx="3811334" cy="153619"/>
          </a:xfrm>
          <a:prstGeom prst="rect">
            <a:avLst/>
          </a:prstGeom>
          <a:noFill/>
          <a:ln/>
        </p:spPr>
        <p:txBody>
          <a:bodyPr wrap="square" lIns="0" tIns="0" rIns="0" bIns="0" rtlCol="0" anchor="t"/>
          <a:lstStyle/>
          <a:p>
            <a:pPr algn="l" indent="0" marL="0">
              <a:lnSpc>
                <a:spcPts val="984"/>
              </a:lnSpc>
              <a:buNone/>
            </a:pPr>
            <a:r>
              <a:rPr lang="en-US" sz="800" dirty="0">
                <a:solidFill>
                  <a:srgbClr val="334155"/>
                </a:solidFill>
                <a:latin typeface="Carlito" pitchFamily="34" charset="0"/>
                <a:ea typeface="Carlito" pitchFamily="34" charset="-122"/>
                <a:cs typeface="Carlito" pitchFamily="34" charset="-120"/>
              </a:rPr>
              <a:t>حمض HCl وهضم البروتين (2-4 ساعات)</a:t>
            </a:r>
            <a:endParaRPr lang="en-US" sz="800" dirty="0"/>
          </a:p>
        </p:txBody>
      </p:sp>
      <p:sp>
        <p:nvSpPr>
          <p:cNvPr id="50" name="Text 45"/>
          <p:cNvSpPr/>
          <p:nvPr/>
        </p:nvSpPr>
        <p:spPr>
          <a:xfrm>
            <a:off x="400050" y="2462250"/>
            <a:ext cx="4814888" cy="285750"/>
          </a:xfrm>
          <a:prstGeom prst="roundRect">
            <a:avLst>
              <a:gd name="adj" fmla="val 33333"/>
            </a:avLst>
          </a:prstGeom>
          <a:solidFill>
            <a:srgbClr val="F8FAFC"/>
          </a:solidFill>
          <a:ln/>
        </p:spPr>
        <p:txBody>
          <a:bodyPr wrap="square" rtlCol="0" anchor="ctr"/>
          <a:lstStyle/>
          <a:p>
            <a:pPr indent="0" marL="0">
              <a:buNone/>
            </a:pPr>
            <a:endParaRPr lang="en-US" dirty="0"/>
          </a:p>
        </p:txBody>
      </p:sp>
      <p:sp>
        <p:nvSpPr>
          <p:cNvPr id="51" name="Shape 46"/>
          <p:cNvSpPr/>
          <p:nvPr/>
        </p:nvSpPr>
        <p:spPr>
          <a:xfrm>
            <a:off x="400050" y="2465822"/>
            <a:ext cx="4814888" cy="0"/>
          </a:xfrm>
          <a:prstGeom prst="line">
            <a:avLst/>
          </a:prstGeom>
          <a:noFill/>
          <a:ln w="7144">
            <a:solidFill>
              <a:srgbClr val="E2E8F0"/>
            </a:solidFill>
            <a:prstDash val="solid"/>
          </a:ln>
        </p:spPr>
      </p:sp>
      <p:sp>
        <p:nvSpPr>
          <p:cNvPr id="52" name="Shape 47"/>
          <p:cNvSpPr/>
          <p:nvPr/>
        </p:nvSpPr>
        <p:spPr>
          <a:xfrm>
            <a:off x="5204222" y="2462250"/>
            <a:ext cx="0" cy="285750"/>
          </a:xfrm>
          <a:prstGeom prst="line">
            <a:avLst/>
          </a:prstGeom>
          <a:noFill/>
          <a:ln w="21431">
            <a:solidFill>
              <a:srgbClr val="DBEAFE"/>
            </a:solidFill>
            <a:prstDash val="solid"/>
          </a:ln>
        </p:spPr>
      </p:sp>
      <p:sp>
        <p:nvSpPr>
          <p:cNvPr id="53" name="Shape 48"/>
          <p:cNvSpPr/>
          <p:nvPr/>
        </p:nvSpPr>
        <p:spPr>
          <a:xfrm>
            <a:off x="400050" y="2744428"/>
            <a:ext cx="4814888" cy="0"/>
          </a:xfrm>
          <a:prstGeom prst="line">
            <a:avLst/>
          </a:prstGeom>
          <a:noFill/>
          <a:ln w="7144">
            <a:solidFill>
              <a:srgbClr val="E2E8F0"/>
            </a:solidFill>
            <a:prstDash val="solid"/>
          </a:ln>
        </p:spPr>
      </p:sp>
      <p:sp>
        <p:nvSpPr>
          <p:cNvPr id="54" name="Shape 49"/>
          <p:cNvSpPr/>
          <p:nvPr/>
        </p:nvSpPr>
        <p:spPr>
          <a:xfrm>
            <a:off x="403622" y="2462250"/>
            <a:ext cx="0" cy="285750"/>
          </a:xfrm>
          <a:prstGeom prst="line">
            <a:avLst/>
          </a:prstGeom>
          <a:noFill/>
          <a:ln w="7144">
            <a:solidFill>
              <a:srgbClr val="E2E8F0"/>
            </a:solidFill>
            <a:prstDash val="solid"/>
          </a:ln>
        </p:spPr>
      </p:sp>
      <p:sp>
        <p:nvSpPr>
          <p:cNvPr id="55" name="Text 50"/>
          <p:cNvSpPr/>
          <p:nvPr/>
        </p:nvSpPr>
        <p:spPr>
          <a:xfrm>
            <a:off x="4922044" y="2512256"/>
            <a:ext cx="185738" cy="185738"/>
          </a:xfrm>
          <a:prstGeom prst="ellipse">
            <a:avLst/>
          </a:prstGeom>
          <a:solidFill>
            <a:srgbClr val="1E40AF"/>
          </a:solidFill>
          <a:ln/>
        </p:spPr>
        <p:txBody>
          <a:bodyPr wrap="square" rtlCol="0" anchor="ctr"/>
          <a:lstStyle/>
          <a:p>
            <a:pPr indent="0" marL="0">
              <a:buNone/>
            </a:pPr>
            <a:endParaRPr lang="en-US" dirty="0"/>
          </a:p>
        </p:txBody>
      </p:sp>
      <p:sp>
        <p:nvSpPr>
          <p:cNvPr id="56" name="Text 51"/>
          <p:cNvSpPr/>
          <p:nvPr/>
        </p:nvSpPr>
        <p:spPr>
          <a:xfrm>
            <a:off x="4922044" y="2512256"/>
            <a:ext cx="185738" cy="185738"/>
          </a:xfrm>
          <a:prstGeom prst="rect">
            <a:avLst/>
          </a:prstGeom>
          <a:noFill/>
          <a:ln/>
        </p:spPr>
        <p:txBody>
          <a:bodyPr wrap="none" lIns="0" tIns="0" rIns="0" bIns="0" rtlCol="0" anchor="ctr"/>
          <a:lstStyle/>
          <a:p>
            <a:pPr algn="ctr" indent="0" marL="0">
              <a:lnSpc>
                <a:spcPts val="1097"/>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4</a:t>
            </a:r>
            <a:endParaRPr lang="en-US" sz="800" dirty="0"/>
          </a:p>
        </p:txBody>
      </p:sp>
      <p:sp>
        <p:nvSpPr>
          <p:cNvPr id="57" name="Text 52"/>
          <p:cNvSpPr/>
          <p:nvPr/>
        </p:nvSpPr>
        <p:spPr>
          <a:xfrm>
            <a:off x="4079863" y="2530115"/>
            <a:ext cx="963430" cy="164592"/>
          </a:xfrm>
          <a:prstGeom prst="rect">
            <a:avLst/>
          </a:prstGeom>
          <a:noFill/>
          <a:ln/>
        </p:spPr>
        <p:txBody>
          <a:bodyPr wrap="none" lIns="0" tIns="0" rIns="0" bIns="0" rtlCol="0" anchor="t"/>
          <a:lstStyle/>
          <a:p>
            <a:pPr algn="l" indent="0" marL="0">
              <a:lnSpc>
                <a:spcPts val="1181"/>
              </a:lnSpc>
              <a:buNone/>
            </a:pPr>
            <a:r>
              <a:rPr lang="en-US" sz="800" b="1" dirty="0">
                <a:solidFill>
                  <a:srgbClr val="0F172A"/>
                </a:solidFill>
                <a:latin typeface="Carlito" pitchFamily="34" charset="0"/>
                <a:ea typeface="Carlito" pitchFamily="34" charset="-122"/>
                <a:cs typeface="Carlito" pitchFamily="34" charset="-120"/>
              </a:rPr>
              <a:t>الأمعاء الدقيقة</a:t>
            </a:r>
            <a:endParaRPr lang="en-US" sz="800" dirty="0"/>
          </a:p>
        </p:txBody>
      </p:sp>
      <p:sp>
        <p:nvSpPr>
          <p:cNvPr id="58" name="Text 53"/>
          <p:cNvSpPr/>
          <p:nvPr/>
        </p:nvSpPr>
        <p:spPr>
          <a:xfrm>
            <a:off x="3879838" y="2540831"/>
            <a:ext cx="128588" cy="128588"/>
          </a:xfrm>
          <a:prstGeom prst="rect">
            <a:avLst/>
          </a:prstGeom>
          <a:noFill/>
          <a:ln/>
        </p:spPr>
        <p:txBody>
          <a:bodyPr wrap="none" lIns="0" tIns="0" rIns="0" bIns="0" rtlCol="0" anchor="ctr"/>
          <a:lstStyle/>
          <a:p>
            <a:pPr algn="ctr" indent="0" marL="0">
              <a:buNone/>
            </a:pPr>
            <a:r>
              <a:rPr lang="en-US" sz="1266" dirty="0">
                <a:solidFill>
                  <a:srgbClr val="DC2626"/>
                </a:solidFill>
                <a:latin typeface="Segoe UI Symbol" pitchFamily="34" charset="0"/>
                <a:ea typeface="Segoe UI Symbol" pitchFamily="34" charset="-122"/>
                <a:cs typeface="Segoe UI Symbol" pitchFamily="34" charset="-120"/>
              </a:rPr>
              <a:t>←</a:t>
            </a:r>
            <a:endParaRPr lang="en-US" sz="1266" dirty="0"/>
          </a:p>
        </p:txBody>
      </p:sp>
      <p:sp>
        <p:nvSpPr>
          <p:cNvPr id="59" name="Text 54"/>
          <p:cNvSpPr/>
          <p:nvPr/>
        </p:nvSpPr>
        <p:spPr>
          <a:xfrm>
            <a:off x="492919" y="2542617"/>
            <a:ext cx="3580720" cy="153619"/>
          </a:xfrm>
          <a:prstGeom prst="rect">
            <a:avLst/>
          </a:prstGeom>
          <a:noFill/>
          <a:ln/>
        </p:spPr>
        <p:txBody>
          <a:bodyPr wrap="square" lIns="0" tIns="0" rIns="0" bIns="0" rtlCol="0" anchor="t"/>
          <a:lstStyle/>
          <a:p>
            <a:pPr algn="l" indent="0" marL="0">
              <a:lnSpc>
                <a:spcPts val="984"/>
              </a:lnSpc>
              <a:buNone/>
            </a:pPr>
            <a:r>
              <a:rPr lang="en-US" sz="800" dirty="0">
                <a:solidFill>
                  <a:srgbClr val="334155"/>
                </a:solidFill>
                <a:latin typeface="Carlito" pitchFamily="34" charset="0"/>
                <a:ea typeface="Carlito" pitchFamily="34" charset="-122"/>
                <a:cs typeface="Carlito" pitchFamily="34" charset="-120"/>
              </a:rPr>
              <a:t>امتصاص 90% من العناصر (6-8 ساعات)</a:t>
            </a:r>
            <a:endParaRPr lang="en-US" sz="800" dirty="0"/>
          </a:p>
        </p:txBody>
      </p:sp>
      <p:sp>
        <p:nvSpPr>
          <p:cNvPr id="60" name="Text 55"/>
          <p:cNvSpPr/>
          <p:nvPr/>
        </p:nvSpPr>
        <p:spPr>
          <a:xfrm>
            <a:off x="400050" y="2783718"/>
            <a:ext cx="4814888" cy="285750"/>
          </a:xfrm>
          <a:prstGeom prst="roundRect">
            <a:avLst>
              <a:gd name="adj" fmla="val 33333"/>
            </a:avLst>
          </a:prstGeom>
          <a:solidFill>
            <a:srgbClr val="F8FAFC"/>
          </a:solidFill>
          <a:ln/>
        </p:spPr>
        <p:txBody>
          <a:bodyPr wrap="square" rtlCol="0" anchor="ctr"/>
          <a:lstStyle/>
          <a:p>
            <a:pPr indent="0" marL="0">
              <a:buNone/>
            </a:pPr>
            <a:endParaRPr lang="en-US" dirty="0"/>
          </a:p>
        </p:txBody>
      </p:sp>
      <p:sp>
        <p:nvSpPr>
          <p:cNvPr id="61" name="Shape 56"/>
          <p:cNvSpPr/>
          <p:nvPr/>
        </p:nvSpPr>
        <p:spPr>
          <a:xfrm>
            <a:off x="400050" y="2787290"/>
            <a:ext cx="4814888" cy="0"/>
          </a:xfrm>
          <a:prstGeom prst="line">
            <a:avLst/>
          </a:prstGeom>
          <a:noFill/>
          <a:ln w="7144">
            <a:solidFill>
              <a:srgbClr val="E2E8F0"/>
            </a:solidFill>
            <a:prstDash val="solid"/>
          </a:ln>
        </p:spPr>
      </p:sp>
      <p:sp>
        <p:nvSpPr>
          <p:cNvPr id="62" name="Shape 57"/>
          <p:cNvSpPr/>
          <p:nvPr/>
        </p:nvSpPr>
        <p:spPr>
          <a:xfrm>
            <a:off x="5204222" y="2783718"/>
            <a:ext cx="0" cy="285750"/>
          </a:xfrm>
          <a:prstGeom prst="line">
            <a:avLst/>
          </a:prstGeom>
          <a:noFill/>
          <a:ln w="21431">
            <a:solidFill>
              <a:srgbClr val="DBEAFE"/>
            </a:solidFill>
            <a:prstDash val="solid"/>
          </a:ln>
        </p:spPr>
      </p:sp>
      <p:sp>
        <p:nvSpPr>
          <p:cNvPr id="63" name="Shape 58"/>
          <p:cNvSpPr/>
          <p:nvPr/>
        </p:nvSpPr>
        <p:spPr>
          <a:xfrm>
            <a:off x="400050" y="3065897"/>
            <a:ext cx="4814888" cy="0"/>
          </a:xfrm>
          <a:prstGeom prst="line">
            <a:avLst/>
          </a:prstGeom>
          <a:noFill/>
          <a:ln w="7144">
            <a:solidFill>
              <a:srgbClr val="E2E8F0"/>
            </a:solidFill>
            <a:prstDash val="solid"/>
          </a:ln>
        </p:spPr>
      </p:sp>
      <p:sp>
        <p:nvSpPr>
          <p:cNvPr id="64" name="Shape 59"/>
          <p:cNvSpPr/>
          <p:nvPr/>
        </p:nvSpPr>
        <p:spPr>
          <a:xfrm>
            <a:off x="403622" y="2783718"/>
            <a:ext cx="0" cy="285750"/>
          </a:xfrm>
          <a:prstGeom prst="line">
            <a:avLst/>
          </a:prstGeom>
          <a:noFill/>
          <a:ln w="7144">
            <a:solidFill>
              <a:srgbClr val="E2E8F0"/>
            </a:solidFill>
            <a:prstDash val="solid"/>
          </a:ln>
        </p:spPr>
      </p:sp>
      <p:sp>
        <p:nvSpPr>
          <p:cNvPr id="65" name="Text 60"/>
          <p:cNvSpPr/>
          <p:nvPr/>
        </p:nvSpPr>
        <p:spPr>
          <a:xfrm>
            <a:off x="4922044" y="2833725"/>
            <a:ext cx="185738" cy="185738"/>
          </a:xfrm>
          <a:prstGeom prst="ellipse">
            <a:avLst/>
          </a:prstGeom>
          <a:solidFill>
            <a:srgbClr val="1E40AF"/>
          </a:solidFill>
          <a:ln/>
        </p:spPr>
        <p:txBody>
          <a:bodyPr wrap="square" rtlCol="0" anchor="ctr"/>
          <a:lstStyle/>
          <a:p>
            <a:pPr indent="0" marL="0">
              <a:buNone/>
            </a:pPr>
            <a:endParaRPr lang="en-US" dirty="0"/>
          </a:p>
        </p:txBody>
      </p:sp>
      <p:sp>
        <p:nvSpPr>
          <p:cNvPr id="66" name="Text 61"/>
          <p:cNvSpPr/>
          <p:nvPr/>
        </p:nvSpPr>
        <p:spPr>
          <a:xfrm>
            <a:off x="4922044" y="2833725"/>
            <a:ext cx="185738" cy="185738"/>
          </a:xfrm>
          <a:prstGeom prst="rect">
            <a:avLst/>
          </a:prstGeom>
          <a:noFill/>
          <a:ln/>
        </p:spPr>
        <p:txBody>
          <a:bodyPr wrap="none" lIns="0" tIns="0" rIns="0" bIns="0" rtlCol="0" anchor="ctr"/>
          <a:lstStyle/>
          <a:p>
            <a:pPr algn="ctr" indent="0" marL="0">
              <a:lnSpc>
                <a:spcPts val="1097"/>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5</a:t>
            </a:r>
            <a:endParaRPr lang="en-US" sz="800" dirty="0"/>
          </a:p>
        </p:txBody>
      </p:sp>
      <p:sp>
        <p:nvSpPr>
          <p:cNvPr id="67" name="Text 62"/>
          <p:cNvSpPr/>
          <p:nvPr/>
        </p:nvSpPr>
        <p:spPr>
          <a:xfrm>
            <a:off x="4079863" y="2851584"/>
            <a:ext cx="963430" cy="164592"/>
          </a:xfrm>
          <a:prstGeom prst="rect">
            <a:avLst/>
          </a:prstGeom>
          <a:noFill/>
          <a:ln/>
        </p:spPr>
        <p:txBody>
          <a:bodyPr wrap="none" lIns="0" tIns="0" rIns="0" bIns="0" rtlCol="0" anchor="t"/>
          <a:lstStyle/>
          <a:p>
            <a:pPr algn="l" indent="0" marL="0">
              <a:lnSpc>
                <a:spcPts val="1181"/>
              </a:lnSpc>
              <a:buNone/>
            </a:pPr>
            <a:r>
              <a:rPr lang="en-US" sz="800" b="1" dirty="0">
                <a:solidFill>
                  <a:srgbClr val="0F172A"/>
                </a:solidFill>
                <a:latin typeface="Carlito" pitchFamily="34" charset="0"/>
                <a:ea typeface="Carlito" pitchFamily="34" charset="-122"/>
                <a:cs typeface="Carlito" pitchFamily="34" charset="-120"/>
              </a:rPr>
              <a:t>الأمعاء الغليظة</a:t>
            </a:r>
            <a:endParaRPr lang="en-US" sz="800" dirty="0"/>
          </a:p>
        </p:txBody>
      </p:sp>
      <p:sp>
        <p:nvSpPr>
          <p:cNvPr id="68" name="Text 63"/>
          <p:cNvSpPr/>
          <p:nvPr/>
        </p:nvSpPr>
        <p:spPr>
          <a:xfrm>
            <a:off x="3879838" y="2862300"/>
            <a:ext cx="128588" cy="128588"/>
          </a:xfrm>
          <a:prstGeom prst="rect">
            <a:avLst/>
          </a:prstGeom>
          <a:noFill/>
          <a:ln/>
        </p:spPr>
        <p:txBody>
          <a:bodyPr wrap="none" lIns="0" tIns="0" rIns="0" bIns="0" rtlCol="0" anchor="ctr"/>
          <a:lstStyle/>
          <a:p>
            <a:pPr algn="ctr" indent="0" marL="0">
              <a:buNone/>
            </a:pPr>
            <a:r>
              <a:rPr lang="en-US" sz="1266" dirty="0">
                <a:solidFill>
                  <a:srgbClr val="DC2626"/>
                </a:solidFill>
                <a:latin typeface="Segoe UI Symbol" pitchFamily="34" charset="0"/>
                <a:ea typeface="Segoe UI Symbol" pitchFamily="34" charset="-122"/>
                <a:cs typeface="Segoe UI Symbol" pitchFamily="34" charset="-120"/>
              </a:rPr>
              <a:t>←</a:t>
            </a:r>
            <a:endParaRPr lang="en-US" sz="1266" dirty="0"/>
          </a:p>
        </p:txBody>
      </p:sp>
      <p:sp>
        <p:nvSpPr>
          <p:cNvPr id="69" name="Text 64"/>
          <p:cNvSpPr/>
          <p:nvPr/>
        </p:nvSpPr>
        <p:spPr>
          <a:xfrm>
            <a:off x="492919" y="2864086"/>
            <a:ext cx="3580720" cy="153619"/>
          </a:xfrm>
          <a:prstGeom prst="rect">
            <a:avLst/>
          </a:prstGeom>
          <a:noFill/>
          <a:ln/>
        </p:spPr>
        <p:txBody>
          <a:bodyPr wrap="square" lIns="0" tIns="0" rIns="0" bIns="0" rtlCol="0" anchor="t"/>
          <a:lstStyle/>
          <a:p>
            <a:pPr algn="l" indent="0" marL="0">
              <a:lnSpc>
                <a:spcPts val="984"/>
              </a:lnSpc>
              <a:buNone/>
            </a:pPr>
            <a:r>
              <a:rPr lang="en-US" sz="800" dirty="0">
                <a:solidFill>
                  <a:srgbClr val="334155"/>
                </a:solidFill>
                <a:latin typeface="Carlito" pitchFamily="34" charset="0"/>
                <a:ea typeface="Carlito" pitchFamily="34" charset="-122"/>
                <a:cs typeface="Carlito" pitchFamily="34" charset="-120"/>
              </a:rPr>
              <a:t>امتصاص الماء والفضلات (12-48 ساعة)</a:t>
            </a:r>
            <a:endParaRPr lang="en-US" sz="800" dirty="0"/>
          </a:p>
        </p:txBody>
      </p:sp>
      <p:sp>
        <p:nvSpPr>
          <p:cNvPr id="70" name="Text 65"/>
          <p:cNvSpPr/>
          <p:nvPr/>
        </p:nvSpPr>
        <p:spPr>
          <a:xfrm>
            <a:off x="2843213" y="3155193"/>
            <a:ext cx="2371725" cy="695065"/>
          </a:xfrm>
          <a:prstGeom prst="roundRect">
            <a:avLst>
              <a:gd name="adj" fmla="val 19185"/>
            </a:avLst>
          </a:prstGeom>
          <a:solidFill>
            <a:srgbClr val="F8FAFC"/>
          </a:solidFill>
          <a:ln/>
        </p:spPr>
        <p:txBody>
          <a:bodyPr wrap="square" rtlCol="0" anchor="ctr"/>
          <a:lstStyle/>
          <a:p>
            <a:pPr indent="0" marL="0">
              <a:buNone/>
            </a:pPr>
            <a:endParaRPr lang="en-US" dirty="0"/>
          </a:p>
        </p:txBody>
      </p:sp>
      <p:sp>
        <p:nvSpPr>
          <p:cNvPr id="71" name="Shape 66"/>
          <p:cNvSpPr/>
          <p:nvPr/>
        </p:nvSpPr>
        <p:spPr>
          <a:xfrm>
            <a:off x="2843213" y="3158765"/>
            <a:ext cx="2371725" cy="0"/>
          </a:xfrm>
          <a:prstGeom prst="line">
            <a:avLst/>
          </a:prstGeom>
          <a:noFill/>
          <a:ln w="7144">
            <a:solidFill>
              <a:srgbClr val="E2E8F0"/>
            </a:solidFill>
            <a:prstDash val="solid"/>
          </a:ln>
        </p:spPr>
      </p:sp>
      <p:sp>
        <p:nvSpPr>
          <p:cNvPr id="72" name="Shape 67"/>
          <p:cNvSpPr/>
          <p:nvPr/>
        </p:nvSpPr>
        <p:spPr>
          <a:xfrm>
            <a:off x="5204222" y="3155193"/>
            <a:ext cx="0" cy="695065"/>
          </a:xfrm>
          <a:prstGeom prst="line">
            <a:avLst/>
          </a:prstGeom>
          <a:noFill/>
          <a:ln w="21431">
            <a:solidFill>
              <a:srgbClr val="1E40AF"/>
            </a:solidFill>
            <a:prstDash val="solid"/>
          </a:ln>
        </p:spPr>
      </p:sp>
      <p:sp>
        <p:nvSpPr>
          <p:cNvPr id="73" name="Shape 68"/>
          <p:cNvSpPr/>
          <p:nvPr/>
        </p:nvSpPr>
        <p:spPr>
          <a:xfrm>
            <a:off x="2843213" y="3846686"/>
            <a:ext cx="2371725" cy="0"/>
          </a:xfrm>
          <a:prstGeom prst="line">
            <a:avLst/>
          </a:prstGeom>
          <a:noFill/>
          <a:ln w="7144">
            <a:solidFill>
              <a:srgbClr val="E2E8F0"/>
            </a:solidFill>
            <a:prstDash val="solid"/>
          </a:ln>
        </p:spPr>
      </p:sp>
      <p:sp>
        <p:nvSpPr>
          <p:cNvPr id="74" name="Shape 69"/>
          <p:cNvSpPr/>
          <p:nvPr/>
        </p:nvSpPr>
        <p:spPr>
          <a:xfrm>
            <a:off x="2846784" y="3155193"/>
            <a:ext cx="0" cy="695065"/>
          </a:xfrm>
          <a:prstGeom prst="line">
            <a:avLst/>
          </a:prstGeom>
          <a:noFill/>
          <a:ln w="7144">
            <a:solidFill>
              <a:srgbClr val="E2E8F0"/>
            </a:solidFill>
            <a:prstDash val="solid"/>
          </a:ln>
        </p:spPr>
      </p:sp>
      <p:sp>
        <p:nvSpPr>
          <p:cNvPr id="75" name="Text 70"/>
          <p:cNvSpPr/>
          <p:nvPr/>
        </p:nvSpPr>
        <p:spPr>
          <a:xfrm>
            <a:off x="2936081" y="3233775"/>
            <a:ext cx="157163" cy="157163"/>
          </a:xfrm>
          <a:prstGeom prst="rect">
            <a:avLst/>
          </a:prstGeom>
          <a:noFill/>
          <a:ln/>
        </p:spPr>
        <p:txBody>
          <a:bodyPr wrap="none" lIns="0" tIns="0" rIns="0" bIns="0" rtlCol="0" anchor="ctr"/>
          <a:lstStyle/>
          <a:p>
            <a:pPr algn="ctr" indent="0" marL="0">
              <a:buNone/>
            </a:pPr>
            <a:r>
              <a:rPr lang="en-US" sz="1547" dirty="0">
                <a:solidFill>
                  <a:srgbClr val="DBEAFE"/>
                </a:solidFill>
                <a:latin typeface="Segoe UI Symbol" pitchFamily="34" charset="0"/>
                <a:ea typeface="Segoe UI Symbol" pitchFamily="34" charset="-122"/>
                <a:cs typeface="Segoe UI Symbol" pitchFamily="34" charset="-120"/>
              </a:rPr>
              <a:t>✦</a:t>
            </a:r>
            <a:endParaRPr lang="en-US" sz="1547" dirty="0"/>
          </a:p>
        </p:txBody>
      </p:sp>
      <p:sp>
        <p:nvSpPr>
          <p:cNvPr id="76" name="Text 71"/>
          <p:cNvSpPr/>
          <p:nvPr/>
        </p:nvSpPr>
        <p:spPr>
          <a:xfrm>
            <a:off x="2950369" y="3248062"/>
            <a:ext cx="2143125" cy="215456"/>
          </a:xfrm>
          <a:prstGeom prst="rect">
            <a:avLst/>
          </a:prstGeom>
          <a:noFill/>
          <a:ln/>
        </p:spPr>
        <p:txBody>
          <a:bodyPr wrap="none" lIns="0" tIns="0" rIns="0" bIns="0" rtlCol="0" anchor="t">
            <a:normAutofit/>
          </a:bodyPr>
          <a:lstStyle/>
          <a:p>
            <a:pPr algn="l" indent="0" marL="0">
              <a:lnSpc>
                <a:spcPts val="1800"/>
              </a:lnSpc>
              <a:buNone/>
            </a:pPr>
            <a:r>
              <a:rPr lang="en-US" sz="1800" b="1" dirty="0">
                <a:solidFill>
                  <a:srgbClr val="1E40AF"/>
                </a:solidFill>
                <a:latin typeface="Liberation Sans Narrow" pitchFamily="34" charset="0"/>
                <a:ea typeface="Liberation Sans Narrow" pitchFamily="34" charset="-122"/>
                <a:cs typeface="Liberation Sans Narrow" pitchFamily="34" charset="-120"/>
              </a:rPr>
              <a:t>9</a:t>
            </a:r>
            <a:endParaRPr lang="en-US" sz="1800" dirty="0"/>
          </a:p>
        </p:txBody>
      </p:sp>
      <p:sp>
        <p:nvSpPr>
          <p:cNvPr id="77" name="Text 72"/>
          <p:cNvSpPr/>
          <p:nvPr/>
        </p:nvSpPr>
        <p:spPr>
          <a:xfrm>
            <a:off x="2950369" y="3490950"/>
            <a:ext cx="2143125" cy="119015"/>
          </a:xfrm>
          <a:prstGeom prst="rect">
            <a:avLst/>
          </a:prstGeom>
          <a:noFill/>
          <a:ln/>
        </p:spPr>
        <p:txBody>
          <a:bodyPr wrap="none" lIns="0" tIns="0" rIns="0" bIns="0" rtlCol="0" anchor="t">
            <a:normAutofit/>
          </a:bodyPr>
          <a:lstStyle/>
          <a:p>
            <a:pPr algn="l" indent="0" marL="0">
              <a:lnSpc>
                <a:spcPts val="928"/>
              </a:lnSpc>
              <a:buNone/>
            </a:pPr>
            <a:r>
              <a:rPr lang="en-US" sz="800" dirty="0">
                <a:solidFill>
                  <a:srgbClr val="64748B"/>
                </a:solidFill>
                <a:latin typeface="Carlito" pitchFamily="34" charset="0"/>
                <a:ea typeface="Carlito" pitchFamily="34" charset="-122"/>
                <a:cs typeface="Carlito" pitchFamily="34" charset="-120"/>
              </a:rPr>
              <a:t>متر</a:t>
            </a:r>
            <a:endParaRPr lang="en-US" sz="800" dirty="0"/>
          </a:p>
        </p:txBody>
      </p:sp>
      <p:sp>
        <p:nvSpPr>
          <p:cNvPr id="78" name="Text 73"/>
          <p:cNvSpPr/>
          <p:nvPr/>
        </p:nvSpPr>
        <p:spPr>
          <a:xfrm>
            <a:off x="2950369" y="3637397"/>
            <a:ext cx="2143125" cy="119993"/>
          </a:xfrm>
          <a:prstGeom prst="rect">
            <a:avLst/>
          </a:prstGeom>
          <a:noFill/>
          <a:ln/>
        </p:spPr>
        <p:txBody>
          <a:bodyPr wrap="none" lIns="0" tIns="0" rIns="0" bIns="0" rtlCol="0" anchor="t"/>
          <a:lstStyle/>
          <a:p>
            <a:pPr algn="l" indent="0" marL="0">
              <a:lnSpc>
                <a:spcPts val="945"/>
              </a:lnSpc>
              <a:buNone/>
            </a:pPr>
            <a:r>
              <a:rPr lang="en-US" sz="800" dirty="0">
                <a:solidFill>
                  <a:srgbClr val="334155"/>
                </a:solidFill>
                <a:latin typeface="Carlito" pitchFamily="34" charset="0"/>
                <a:ea typeface="Carlito" pitchFamily="34" charset="-122"/>
                <a:cs typeface="Carlito" pitchFamily="34" charset="-120"/>
              </a:rPr>
              <a:t>طول الجهاز الهضمي</a:t>
            </a:r>
            <a:endParaRPr lang="en-US" sz="800" dirty="0"/>
          </a:p>
        </p:txBody>
      </p:sp>
      <p:sp>
        <p:nvSpPr>
          <p:cNvPr id="79" name="Text 74"/>
          <p:cNvSpPr/>
          <p:nvPr/>
        </p:nvSpPr>
        <p:spPr>
          <a:xfrm>
            <a:off x="400050" y="3155193"/>
            <a:ext cx="2371725" cy="695065"/>
          </a:xfrm>
          <a:prstGeom prst="roundRect">
            <a:avLst>
              <a:gd name="adj" fmla="val 19185"/>
            </a:avLst>
          </a:prstGeom>
          <a:solidFill>
            <a:srgbClr val="F8FAFC"/>
          </a:solidFill>
          <a:ln/>
        </p:spPr>
        <p:txBody>
          <a:bodyPr wrap="square" rtlCol="0" anchor="ctr"/>
          <a:lstStyle/>
          <a:p>
            <a:pPr indent="0" marL="0">
              <a:buNone/>
            </a:pPr>
            <a:endParaRPr lang="en-US" dirty="0"/>
          </a:p>
        </p:txBody>
      </p:sp>
      <p:sp>
        <p:nvSpPr>
          <p:cNvPr id="80" name="Shape 75"/>
          <p:cNvSpPr/>
          <p:nvPr/>
        </p:nvSpPr>
        <p:spPr>
          <a:xfrm>
            <a:off x="400050" y="3158765"/>
            <a:ext cx="2371725" cy="0"/>
          </a:xfrm>
          <a:prstGeom prst="line">
            <a:avLst/>
          </a:prstGeom>
          <a:noFill/>
          <a:ln w="7144">
            <a:solidFill>
              <a:srgbClr val="E2E8F0"/>
            </a:solidFill>
            <a:prstDash val="solid"/>
          </a:ln>
        </p:spPr>
      </p:sp>
      <p:sp>
        <p:nvSpPr>
          <p:cNvPr id="81" name="Shape 76"/>
          <p:cNvSpPr/>
          <p:nvPr/>
        </p:nvSpPr>
        <p:spPr>
          <a:xfrm>
            <a:off x="2761059" y="3155193"/>
            <a:ext cx="0" cy="695065"/>
          </a:xfrm>
          <a:prstGeom prst="line">
            <a:avLst/>
          </a:prstGeom>
          <a:noFill/>
          <a:ln w="21431">
            <a:solidFill>
              <a:srgbClr val="DC2626"/>
            </a:solidFill>
            <a:prstDash val="solid"/>
          </a:ln>
        </p:spPr>
      </p:sp>
      <p:sp>
        <p:nvSpPr>
          <p:cNvPr id="82" name="Shape 77"/>
          <p:cNvSpPr/>
          <p:nvPr/>
        </p:nvSpPr>
        <p:spPr>
          <a:xfrm>
            <a:off x="400050" y="3846686"/>
            <a:ext cx="2371725" cy="0"/>
          </a:xfrm>
          <a:prstGeom prst="line">
            <a:avLst/>
          </a:prstGeom>
          <a:noFill/>
          <a:ln w="7144">
            <a:solidFill>
              <a:srgbClr val="E2E8F0"/>
            </a:solidFill>
            <a:prstDash val="solid"/>
          </a:ln>
        </p:spPr>
      </p:sp>
      <p:sp>
        <p:nvSpPr>
          <p:cNvPr id="83" name="Shape 78"/>
          <p:cNvSpPr/>
          <p:nvPr/>
        </p:nvSpPr>
        <p:spPr>
          <a:xfrm>
            <a:off x="403622" y="3155193"/>
            <a:ext cx="0" cy="695065"/>
          </a:xfrm>
          <a:prstGeom prst="line">
            <a:avLst/>
          </a:prstGeom>
          <a:noFill/>
          <a:ln w="7144">
            <a:solidFill>
              <a:srgbClr val="E2E8F0"/>
            </a:solidFill>
            <a:prstDash val="solid"/>
          </a:ln>
        </p:spPr>
      </p:sp>
      <p:sp>
        <p:nvSpPr>
          <p:cNvPr id="84" name="Text 79"/>
          <p:cNvSpPr/>
          <p:nvPr/>
        </p:nvSpPr>
        <p:spPr>
          <a:xfrm>
            <a:off x="492919" y="3233775"/>
            <a:ext cx="157163" cy="157163"/>
          </a:xfrm>
          <a:prstGeom prst="rect">
            <a:avLst/>
          </a:prstGeom>
          <a:noFill/>
          <a:ln/>
        </p:spPr>
        <p:txBody>
          <a:bodyPr wrap="none" lIns="0" tIns="0" rIns="0" bIns="0" rtlCol="0" anchor="ctr"/>
          <a:lstStyle/>
          <a:p>
            <a:pPr algn="ctr" indent="0" marL="0">
              <a:buNone/>
            </a:pPr>
            <a:r>
              <a:rPr lang="en-US" sz="1547" dirty="0">
                <a:solidFill>
                  <a:srgbClr val="FEE2E2"/>
                </a:solidFill>
                <a:latin typeface="Segoe UI Symbol" pitchFamily="34" charset="0"/>
                <a:ea typeface="Segoe UI Symbol" pitchFamily="34" charset="-122"/>
                <a:cs typeface="Segoe UI Symbol" pitchFamily="34" charset="-120"/>
              </a:rPr>
              <a:t>⚗</a:t>
            </a:r>
            <a:endParaRPr lang="en-US" sz="1547" dirty="0"/>
          </a:p>
        </p:txBody>
      </p:sp>
      <p:sp>
        <p:nvSpPr>
          <p:cNvPr id="85" name="Text 80"/>
          <p:cNvSpPr/>
          <p:nvPr/>
        </p:nvSpPr>
        <p:spPr>
          <a:xfrm>
            <a:off x="507206" y="3248062"/>
            <a:ext cx="2143125" cy="215456"/>
          </a:xfrm>
          <a:prstGeom prst="rect">
            <a:avLst/>
          </a:prstGeom>
          <a:noFill/>
          <a:ln/>
        </p:spPr>
        <p:txBody>
          <a:bodyPr wrap="none" lIns="0" tIns="0" rIns="0" bIns="0" rtlCol="0" anchor="t">
            <a:normAutofit/>
          </a:bodyPr>
          <a:lstStyle/>
          <a:p>
            <a:pPr algn="l" indent="0" marL="0">
              <a:lnSpc>
                <a:spcPts val="1800"/>
              </a:lnSpc>
              <a:buNone/>
            </a:pPr>
            <a:r>
              <a:rPr lang="en-US" sz="1800" b="1" dirty="0">
                <a:solidFill>
                  <a:srgbClr val="DC2626"/>
                </a:solidFill>
                <a:latin typeface="Liberation Sans Narrow" pitchFamily="34" charset="0"/>
                <a:ea typeface="Liberation Sans Narrow" pitchFamily="34" charset="-122"/>
                <a:cs typeface="Liberation Sans Narrow" pitchFamily="34" charset="-120"/>
              </a:rPr>
              <a:t>500+</a:t>
            </a:r>
            <a:endParaRPr lang="en-US" sz="1800" dirty="0"/>
          </a:p>
        </p:txBody>
      </p:sp>
      <p:sp>
        <p:nvSpPr>
          <p:cNvPr id="86" name="Text 81"/>
          <p:cNvSpPr/>
          <p:nvPr/>
        </p:nvSpPr>
        <p:spPr>
          <a:xfrm>
            <a:off x="507206" y="3490950"/>
            <a:ext cx="2143125" cy="119015"/>
          </a:xfrm>
          <a:prstGeom prst="rect">
            <a:avLst/>
          </a:prstGeom>
          <a:noFill/>
          <a:ln/>
        </p:spPr>
        <p:txBody>
          <a:bodyPr wrap="none" lIns="0" tIns="0" rIns="0" bIns="0" rtlCol="0" anchor="t">
            <a:normAutofit/>
          </a:bodyPr>
          <a:lstStyle/>
          <a:p>
            <a:pPr algn="l" indent="0" marL="0">
              <a:lnSpc>
                <a:spcPts val="928"/>
              </a:lnSpc>
              <a:buNone/>
            </a:pPr>
            <a:r>
              <a:rPr lang="en-US" sz="800" dirty="0">
                <a:solidFill>
                  <a:srgbClr val="64748B"/>
                </a:solidFill>
                <a:latin typeface="Carlito" pitchFamily="34" charset="0"/>
                <a:ea typeface="Carlito" pitchFamily="34" charset="-122"/>
                <a:cs typeface="Carlito" pitchFamily="34" charset="-120"/>
              </a:rPr>
              <a:t>وظيفة</a:t>
            </a:r>
            <a:endParaRPr lang="en-US" sz="800" dirty="0"/>
          </a:p>
        </p:txBody>
      </p:sp>
      <p:sp>
        <p:nvSpPr>
          <p:cNvPr id="87" name="Text 82"/>
          <p:cNvSpPr/>
          <p:nvPr/>
        </p:nvSpPr>
        <p:spPr>
          <a:xfrm>
            <a:off x="507206" y="3637397"/>
            <a:ext cx="2143125" cy="119993"/>
          </a:xfrm>
          <a:prstGeom prst="rect">
            <a:avLst/>
          </a:prstGeom>
          <a:noFill/>
          <a:ln/>
        </p:spPr>
        <p:txBody>
          <a:bodyPr wrap="none" lIns="0" tIns="0" rIns="0" bIns="0" rtlCol="0" anchor="t"/>
          <a:lstStyle/>
          <a:p>
            <a:pPr algn="l" indent="0" marL="0">
              <a:lnSpc>
                <a:spcPts val="945"/>
              </a:lnSpc>
              <a:buNone/>
            </a:pPr>
            <a:r>
              <a:rPr lang="en-US" sz="800" dirty="0">
                <a:solidFill>
                  <a:srgbClr val="334155"/>
                </a:solidFill>
                <a:latin typeface="Carlito" pitchFamily="34" charset="0"/>
                <a:ea typeface="Carlito" pitchFamily="34" charset="-122"/>
                <a:cs typeface="Carlito" pitchFamily="34" charset="-120"/>
              </a:rPr>
              <a:t>وظائف الكبد — أكبر غدة</a:t>
            </a:r>
            <a:endParaRPr lang="en-US" sz="800" dirty="0"/>
          </a:p>
        </p:txBody>
      </p:sp>
      <p:sp>
        <p:nvSpPr>
          <p:cNvPr id="88" name="Text 83"/>
          <p:cNvSpPr/>
          <p:nvPr/>
        </p:nvSpPr>
        <p:spPr>
          <a:xfrm>
            <a:off x="400050" y="3935983"/>
            <a:ext cx="4814888" cy="271463"/>
          </a:xfrm>
          <a:prstGeom prst="roundRect">
            <a:avLst>
              <a:gd name="adj" fmla="val 42105"/>
            </a:avLst>
          </a:prstGeom>
          <a:solidFill>
            <a:srgbClr val="F8FAFC"/>
          </a:solidFill>
          <a:ln/>
        </p:spPr>
        <p:txBody>
          <a:bodyPr wrap="square" rtlCol="0" anchor="ctr"/>
          <a:lstStyle/>
          <a:p>
            <a:pPr indent="0" marL="0">
              <a:buNone/>
            </a:pPr>
            <a:endParaRPr lang="en-US" dirty="0"/>
          </a:p>
        </p:txBody>
      </p:sp>
      <p:sp>
        <p:nvSpPr>
          <p:cNvPr id="89" name="Shape 84"/>
          <p:cNvSpPr/>
          <p:nvPr/>
        </p:nvSpPr>
        <p:spPr>
          <a:xfrm>
            <a:off x="400050" y="3939555"/>
            <a:ext cx="4814888" cy="0"/>
          </a:xfrm>
          <a:prstGeom prst="line">
            <a:avLst/>
          </a:prstGeom>
          <a:noFill/>
          <a:ln w="7144">
            <a:solidFill>
              <a:srgbClr val="E2E8F0"/>
            </a:solidFill>
            <a:prstDash val="solid"/>
          </a:ln>
        </p:spPr>
      </p:sp>
      <p:sp>
        <p:nvSpPr>
          <p:cNvPr id="90" name="Shape 85"/>
          <p:cNvSpPr/>
          <p:nvPr/>
        </p:nvSpPr>
        <p:spPr>
          <a:xfrm>
            <a:off x="5200650" y="3935983"/>
            <a:ext cx="0" cy="271463"/>
          </a:xfrm>
          <a:prstGeom prst="line">
            <a:avLst/>
          </a:prstGeom>
          <a:noFill/>
          <a:ln w="28575">
            <a:solidFill>
              <a:srgbClr val="DC2626"/>
            </a:solidFill>
            <a:prstDash val="solid"/>
          </a:ln>
        </p:spPr>
      </p:sp>
      <p:sp>
        <p:nvSpPr>
          <p:cNvPr id="91" name="Shape 86"/>
          <p:cNvSpPr/>
          <p:nvPr/>
        </p:nvSpPr>
        <p:spPr>
          <a:xfrm>
            <a:off x="400050" y="4203874"/>
            <a:ext cx="4814888" cy="0"/>
          </a:xfrm>
          <a:prstGeom prst="line">
            <a:avLst/>
          </a:prstGeom>
          <a:noFill/>
          <a:ln w="7144">
            <a:solidFill>
              <a:srgbClr val="E2E8F0"/>
            </a:solidFill>
            <a:prstDash val="solid"/>
          </a:ln>
        </p:spPr>
      </p:sp>
      <p:sp>
        <p:nvSpPr>
          <p:cNvPr id="92" name="Shape 87"/>
          <p:cNvSpPr/>
          <p:nvPr/>
        </p:nvSpPr>
        <p:spPr>
          <a:xfrm>
            <a:off x="403622" y="3935983"/>
            <a:ext cx="0" cy="271463"/>
          </a:xfrm>
          <a:prstGeom prst="line">
            <a:avLst/>
          </a:prstGeom>
          <a:noFill/>
          <a:ln w="7144">
            <a:solidFill>
              <a:srgbClr val="E2E8F0"/>
            </a:solidFill>
            <a:prstDash val="solid"/>
          </a:ln>
        </p:spPr>
      </p:sp>
      <p:sp>
        <p:nvSpPr>
          <p:cNvPr id="93" name="Text 88"/>
          <p:cNvSpPr/>
          <p:nvPr/>
        </p:nvSpPr>
        <p:spPr>
          <a:xfrm>
            <a:off x="4957763" y="4000277"/>
            <a:ext cx="142875" cy="142875"/>
          </a:xfrm>
          <a:prstGeom prst="rect">
            <a:avLst/>
          </a:prstGeom>
          <a:noFill/>
          <a:ln/>
        </p:spPr>
        <p:txBody>
          <a:bodyPr wrap="none" lIns="0" tIns="0" rIns="0" bIns="0" rtlCol="0" anchor="ctr"/>
          <a:lstStyle/>
          <a:p>
            <a:pPr algn="ctr" indent="0" marL="0">
              <a:buNone/>
            </a:pPr>
            <a:r>
              <a:rPr lang="en-US" sz="1406" dirty="0">
                <a:solidFill>
                  <a:srgbClr val="DC2626"/>
                </a:solidFill>
                <a:latin typeface="Segoe UI Symbol" pitchFamily="34" charset="0"/>
                <a:ea typeface="Segoe UI Symbol" pitchFamily="34" charset="-122"/>
                <a:cs typeface="Segoe UI Symbol" pitchFamily="34" charset="-120"/>
              </a:rPr>
              <a:t>⚗</a:t>
            </a:r>
            <a:endParaRPr lang="en-US" sz="1406" dirty="0"/>
          </a:p>
        </p:txBody>
      </p:sp>
      <p:sp>
        <p:nvSpPr>
          <p:cNvPr id="94" name="Text 89"/>
          <p:cNvSpPr/>
          <p:nvPr/>
        </p:nvSpPr>
        <p:spPr>
          <a:xfrm>
            <a:off x="1161529" y="4007421"/>
            <a:ext cx="3760515" cy="135731"/>
          </a:xfrm>
          <a:prstGeom prst="rect">
            <a:avLst/>
          </a:prstGeom>
          <a:noFill/>
          <a:ln/>
        </p:spPr>
        <p:txBody>
          <a:bodyPr wrap="square" lIns="0" tIns="0" rIns="0" bIns="0" rtlCol="0" anchor="t"/>
          <a:lstStyle/>
          <a:p>
            <a:pPr algn="l" indent="0" marL="0">
              <a:lnSpc>
                <a:spcPts val="1013"/>
              </a:lnSpc>
              <a:buNone/>
            </a:pPr>
            <a:r>
              <a:rPr lang="en-US" sz="675" b="1" dirty="0">
                <a:solidFill>
                  <a:srgbClr val="0F172A"/>
                </a:solidFill>
                <a:latin typeface="Carlito" pitchFamily="34" charset="0"/>
                <a:ea typeface="Carlito" pitchFamily="34" charset="-122"/>
                <a:cs typeface="Carlito" pitchFamily="34" charset="-120"/>
              </a:rPr>
              <a:t>معلومة:</a:t>
            </a:r>
            <a:pPr algn="l" indent="0" marL="0">
              <a:lnSpc>
                <a:spcPts val="1013"/>
              </a:lnSpc>
              <a:buNone/>
            </a:pPr>
            <a:r>
              <a:rPr lang="en-US" sz="675" dirty="0">
                <a:solidFill>
                  <a:srgbClr val="334155"/>
                </a:solidFill>
                <a:latin typeface="Carlito" pitchFamily="34" charset="0"/>
                <a:ea typeface="Carlito" pitchFamily="34" charset="-122"/>
                <a:cs typeface="Carlito" pitchFamily="34" charset="-120"/>
              </a:rPr>
              <a:t> حموضة المعدة pH 1.5-3.5 — قوية بما يكفي لإذابة الشمع، لكن المخاط يحمي جدارها</a:t>
            </a:r>
            <a:endParaRPr lang="en-US" sz="675" dirty="0"/>
          </a:p>
        </p:txBody>
      </p:sp>
      <p:sp>
        <p:nvSpPr>
          <p:cNvPr id="95" name="Text 90"/>
          <p:cNvSpPr/>
          <p:nvPr/>
        </p:nvSpPr>
        <p:spPr>
          <a:xfrm>
            <a:off x="378428" y="4979194"/>
            <a:ext cx="340477" cy="164306"/>
          </a:xfrm>
          <a:prstGeom prst="rect">
            <a:avLst/>
          </a:prstGeom>
          <a:noFill/>
          <a:ln/>
        </p:spPr>
        <p:txBody>
          <a:bodyPr wrap="square" lIns="0" tIns="0" rIns="0" bIns="0" rtlCol="0" anchor="t"/>
          <a:lstStyle/>
          <a:p>
            <a:pPr algn="l" indent="0" marL="0">
              <a:lnSpc>
                <a:spcPts val="844"/>
              </a:lnSpc>
              <a:buNone/>
            </a:pPr>
            <a:r>
              <a:rPr lang="en-US" sz="600" dirty="0">
                <a:solidFill>
                  <a:srgbClr val="64748B">
                    <a:alpha val="70000"/>
                  </a:srgbClr>
                </a:solidFill>
                <a:latin typeface="Liberation Sans Narrow" pitchFamily="34" charset="0"/>
                <a:ea typeface="Liberation Sans Narrow" pitchFamily="34" charset="-122"/>
                <a:cs typeface="Liberation Sans Narrow" pitchFamily="34" charset="-120"/>
              </a:rPr>
              <a:t>11 / 14</a:t>
            </a:r>
            <a:endParaRPr lang="en-US" sz="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7789366" y="187223"/>
            <a:ext cx="954584" cy="250631"/>
          </a:xfrm>
          <a:prstGeom prst="roundRect">
            <a:avLst>
              <a:gd name="adj" fmla="val 3796607"/>
            </a:avLst>
          </a:prstGeom>
          <a:solidFill>
            <a:srgbClr val="CCFBF1"/>
          </a:solidFill>
          <a:ln/>
        </p:spPr>
        <p:txBody>
          <a:bodyPr wrap="square" rtlCol="0" anchor="ctr"/>
          <a:lstStyle/>
          <a:p>
            <a:pPr indent="0" marL="0">
              <a:buNone/>
            </a:pPr>
            <a:endParaRPr lang="en-US" dirty="0"/>
          </a:p>
        </p:txBody>
      </p:sp>
      <p:sp>
        <p:nvSpPr>
          <p:cNvPr id="5" name="Text 1"/>
          <p:cNvSpPr/>
          <p:nvPr/>
        </p:nvSpPr>
        <p:spPr>
          <a:xfrm>
            <a:off x="7889379" y="257175"/>
            <a:ext cx="854571" cy="126609"/>
          </a:xfrm>
          <a:prstGeom prst="rect">
            <a:avLst/>
          </a:prstGeom>
          <a:noFill/>
          <a:ln/>
        </p:spPr>
        <p:txBody>
          <a:bodyPr wrap="none" lIns="0" tIns="0" rIns="0" bIns="0" rtlCol="0" anchor="t"/>
          <a:lstStyle/>
          <a:p>
            <a:pPr algn="l" indent="0" marL="0">
              <a:lnSpc>
                <a:spcPts val="1097"/>
              </a:lnSpc>
              <a:buNone/>
            </a:pPr>
            <a:r>
              <a:rPr lang="en-US" sz="800" dirty="0">
                <a:solidFill>
                  <a:srgbClr val="0D9488"/>
                </a:solidFill>
                <a:latin typeface="Carlito" pitchFamily="34" charset="0"/>
                <a:ea typeface="Carlito" pitchFamily="34" charset="-122"/>
                <a:cs typeface="Carlito" pitchFamily="34" charset="-120"/>
              </a:rPr>
              <a:t>مفهوم متقدم</a:t>
            </a:r>
            <a:endParaRPr lang="en-US" sz="800" dirty="0"/>
          </a:p>
        </p:txBody>
      </p:sp>
      <p:sp>
        <p:nvSpPr>
          <p:cNvPr id="6" name="Text 2"/>
          <p:cNvSpPr/>
          <p:nvPr/>
        </p:nvSpPr>
        <p:spPr>
          <a:xfrm>
            <a:off x="8529638" y="255389"/>
            <a:ext cx="114300" cy="114300"/>
          </a:xfrm>
          <a:prstGeom prst="rect">
            <a:avLst/>
          </a:prstGeom>
          <a:noFill/>
          <a:ln/>
        </p:spPr>
        <p:txBody>
          <a:bodyPr wrap="none" lIns="0" tIns="0" rIns="0" bIns="0" rtlCol="0" anchor="ctr"/>
          <a:lstStyle/>
          <a:p>
            <a:pPr algn="ctr" indent="0" marL="0">
              <a:buNone/>
            </a:pPr>
            <a:r>
              <a:rPr lang="en-US" sz="1125" dirty="0">
                <a:solidFill>
                  <a:srgbClr val="0D9488"/>
                </a:solidFill>
                <a:latin typeface="Segoe UI Symbol" pitchFamily="34" charset="0"/>
                <a:ea typeface="Segoe UI Symbol" pitchFamily="34" charset="-122"/>
                <a:cs typeface="Segoe UI Symbol" pitchFamily="34" charset="-120"/>
              </a:rPr>
              <a:t>↻</a:t>
            </a:r>
            <a:endParaRPr lang="en-US" sz="1125" dirty="0"/>
          </a:p>
        </p:txBody>
      </p:sp>
      <p:sp>
        <p:nvSpPr>
          <p:cNvPr id="7" name="Text 3"/>
          <p:cNvSpPr/>
          <p:nvPr/>
        </p:nvSpPr>
        <p:spPr>
          <a:xfrm>
            <a:off x="7012930" y="253603"/>
            <a:ext cx="809514" cy="164592"/>
          </a:xfrm>
          <a:prstGeom prst="rect">
            <a:avLst/>
          </a:prstGeom>
          <a:noFill/>
          <a:ln/>
        </p:spPr>
        <p:txBody>
          <a:bodyPr wrap="none" lIns="0" tIns="0" rIns="0" bIns="0" rtlCol="0" anchor="t"/>
          <a:lstStyle/>
          <a:p>
            <a:pPr algn="l" indent="0" marL="0">
              <a:lnSpc>
                <a:spcPts val="928"/>
              </a:lnSpc>
              <a:buNone/>
            </a:pPr>
            <a:r>
              <a:rPr lang="en-US" sz="619" dirty="0">
                <a:solidFill>
                  <a:srgbClr val="64748B"/>
                </a:solidFill>
                <a:latin typeface="Carlito" pitchFamily="34" charset="0"/>
                <a:ea typeface="Carlito" pitchFamily="34" charset="-122"/>
                <a:cs typeface="Carlito" pitchFamily="34" charset="-120"/>
              </a:rPr>
              <a:t>الشريحة 12 من 14</a:t>
            </a:r>
            <a:endParaRPr lang="en-US" sz="619" dirty="0"/>
          </a:p>
        </p:txBody>
      </p:sp>
      <p:sp>
        <p:nvSpPr>
          <p:cNvPr id="8" name="Text 4"/>
          <p:cNvSpPr/>
          <p:nvPr/>
        </p:nvSpPr>
        <p:spPr>
          <a:xfrm>
            <a:off x="5457713" y="482203"/>
            <a:ext cx="3450548" cy="291612"/>
          </a:xfrm>
          <a:prstGeom prst="rect">
            <a:avLst/>
          </a:prstGeom>
          <a:noFill/>
          <a:ln/>
        </p:spPr>
        <p:txBody>
          <a:bodyPr wrap="none" lIns="0" tIns="0" rIns="0" bIns="0" rtlCol="0" anchor="t"/>
          <a:lstStyle/>
          <a:p>
            <a:pPr algn="l" indent="0" marL="0">
              <a:lnSpc>
                <a:spcPts val="2126"/>
              </a:lnSpc>
              <a:buNone/>
            </a:pPr>
            <a:r>
              <a:rPr lang="en-US" sz="2025" b="1" dirty="0">
                <a:solidFill>
                  <a:srgbClr val="1E40AF"/>
                </a:solidFill>
                <a:latin typeface="Carlito" pitchFamily="34" charset="0"/>
                <a:ea typeface="Carlito" pitchFamily="34" charset="-122"/>
                <a:cs typeface="Carlito" pitchFamily="34" charset="-120"/>
              </a:rPr>
              <a:t>تكامل الأجهزة والاستتباب</a:t>
            </a:r>
            <a:endParaRPr lang="en-US" sz="2025" dirty="0"/>
          </a:p>
        </p:txBody>
      </p:sp>
      <p:sp>
        <p:nvSpPr>
          <p:cNvPr id="9" name="Text 5"/>
          <p:cNvSpPr/>
          <p:nvPr/>
        </p:nvSpPr>
        <p:spPr>
          <a:xfrm>
            <a:off x="3318383" y="573621"/>
            <a:ext cx="2187032" cy="195943"/>
          </a:xfrm>
          <a:prstGeom prst="rect">
            <a:avLst/>
          </a:prstGeom>
          <a:noFill/>
          <a:ln/>
        </p:spPr>
        <p:txBody>
          <a:bodyPr wrap="square" lIns="0" tIns="0" rIns="0" bIns="28575" rtlCol="0" anchor="t"/>
          <a:lstStyle/>
          <a:p>
            <a:pPr algn="l" indent="0" marL="0">
              <a:lnSpc>
                <a:spcPts val="1181"/>
              </a:lnSpc>
              <a:buNone/>
            </a:pPr>
            <a:r>
              <a:rPr lang="en-US" sz="788" i="1" dirty="0">
                <a:solidFill>
                  <a:srgbClr val="64748B"/>
                </a:solidFill>
                <a:latin typeface="Carlito" pitchFamily="34" charset="0"/>
                <a:ea typeface="Carlito" pitchFamily="34" charset="-122"/>
                <a:cs typeface="Carlito" pitchFamily="34" charset="-120"/>
              </a:rPr>
              <a:t>Homeostasis — How Systems Work Together</a:t>
            </a:r>
            <a:endParaRPr lang="en-US" sz="788" dirty="0"/>
          </a:p>
        </p:txBody>
      </p:sp>
      <p:sp>
        <p:nvSpPr>
          <p:cNvPr id="10" name="Text 6"/>
          <p:cNvSpPr/>
          <p:nvPr/>
        </p:nvSpPr>
        <p:spPr>
          <a:xfrm>
            <a:off x="8343900" y="795077"/>
            <a:ext cx="400050" cy="28575"/>
          </a:xfrm>
          <a:prstGeom prst="roundRect">
            <a:avLst>
              <a:gd name="adj" fmla="val 66667"/>
            </a:avLst>
          </a:prstGeom>
          <a:solidFill>
            <a:srgbClr val="DC2626"/>
          </a:solidFill>
          <a:ln/>
        </p:spPr>
        <p:txBody>
          <a:bodyPr wrap="square" rtlCol="0" anchor="ctr"/>
          <a:lstStyle/>
          <a:p>
            <a:pPr indent="0" marL="0">
              <a:buNone/>
            </a:pPr>
            <a:endParaRPr lang="en-US" dirty="0"/>
          </a:p>
        </p:txBody>
      </p:sp>
      <p:sp>
        <p:nvSpPr>
          <p:cNvPr id="11" name="Text 7"/>
          <p:cNvSpPr/>
          <p:nvPr/>
        </p:nvSpPr>
        <p:spPr>
          <a:xfrm>
            <a:off x="2457450" y="880802"/>
            <a:ext cx="6286500" cy="362004"/>
          </a:xfrm>
          <a:prstGeom prst="rect">
            <a:avLst/>
          </a:prstGeom>
          <a:noFill/>
          <a:ln/>
        </p:spPr>
        <p:txBody>
          <a:bodyPr wrap="square" lIns="0" tIns="0" rIns="0" bIns="0" rtlCol="0" anchor="t"/>
          <a:lstStyle/>
          <a:p>
            <a:pPr algn="l" indent="0" marL="0">
              <a:lnSpc>
                <a:spcPts val="1299"/>
              </a:lnSpc>
              <a:buNone/>
            </a:pPr>
            <a:r>
              <a:rPr lang="en-US" sz="800" dirty="0">
                <a:solidFill>
                  <a:srgbClr val="334155"/>
                </a:solidFill>
                <a:latin typeface="Carlito" pitchFamily="34" charset="0"/>
                <a:ea typeface="Carlito" pitchFamily="34" charset="-122"/>
                <a:cs typeface="Carlito" pitchFamily="34" charset="-120"/>
              </a:rPr>
              <a:t>الأجهزة لا تعمل بمعزل — كل جهاز يتبادل المعلومات والموارد مع غيره للحفاظ على بيئة داخلية مستقرة، عملية تُسمّى الاستتباب (Homeostasis).</a:t>
            </a:r>
            <a:endParaRPr lang="en-US" sz="800" dirty="0"/>
          </a:p>
        </p:txBody>
      </p:sp>
      <p:sp>
        <p:nvSpPr>
          <p:cNvPr id="12" name="Shape 8"/>
          <p:cNvSpPr/>
          <p:nvPr/>
        </p:nvSpPr>
        <p:spPr>
          <a:xfrm>
            <a:off x="2714625" y="2150269"/>
            <a:ext cx="857250" cy="0"/>
          </a:xfrm>
          <a:prstGeom prst="line">
            <a:avLst/>
          </a:prstGeom>
          <a:noFill/>
          <a:ln w="14288">
            <a:solidFill>
              <a:srgbClr val="64748B"/>
            </a:solidFill>
            <a:prstDash val="dash"/>
          </a:ln>
        </p:spPr>
      </p:sp>
      <p:sp>
        <p:nvSpPr>
          <p:cNvPr id="13" name="Shape 9"/>
          <p:cNvSpPr/>
          <p:nvPr/>
        </p:nvSpPr>
        <p:spPr>
          <a:xfrm>
            <a:off x="5572125" y="2150269"/>
            <a:ext cx="857250" cy="0"/>
          </a:xfrm>
          <a:prstGeom prst="line">
            <a:avLst/>
          </a:prstGeom>
          <a:noFill/>
          <a:ln w="14288">
            <a:solidFill>
              <a:srgbClr val="64748B"/>
            </a:solidFill>
            <a:prstDash val="dash"/>
          </a:ln>
        </p:spPr>
      </p:sp>
      <p:sp>
        <p:nvSpPr>
          <p:cNvPr id="14" name="Shape 10"/>
          <p:cNvSpPr/>
          <p:nvPr/>
        </p:nvSpPr>
        <p:spPr>
          <a:xfrm>
            <a:off x="2714625" y="3721894"/>
            <a:ext cx="857250" cy="0"/>
          </a:xfrm>
          <a:prstGeom prst="line">
            <a:avLst/>
          </a:prstGeom>
          <a:noFill/>
          <a:ln w="14288">
            <a:solidFill>
              <a:srgbClr val="64748B"/>
            </a:solidFill>
            <a:prstDash val="dash"/>
          </a:ln>
        </p:spPr>
      </p:sp>
      <p:sp>
        <p:nvSpPr>
          <p:cNvPr id="15" name="Shape 11"/>
          <p:cNvSpPr/>
          <p:nvPr/>
        </p:nvSpPr>
        <p:spPr>
          <a:xfrm>
            <a:off x="5572125" y="3721894"/>
            <a:ext cx="857250" cy="0"/>
          </a:xfrm>
          <a:prstGeom prst="line">
            <a:avLst/>
          </a:prstGeom>
          <a:noFill/>
          <a:ln w="14288">
            <a:solidFill>
              <a:srgbClr val="64748B"/>
            </a:solidFill>
            <a:prstDash val="dash"/>
          </a:ln>
        </p:spPr>
      </p:sp>
      <p:sp>
        <p:nvSpPr>
          <p:cNvPr id="16" name="Shape 12"/>
          <p:cNvSpPr/>
          <p:nvPr/>
        </p:nvSpPr>
        <p:spPr>
          <a:xfrm>
            <a:off x="6429375" y="1718072"/>
            <a:ext cx="2143125" cy="0"/>
          </a:xfrm>
          <a:prstGeom prst="line">
            <a:avLst/>
          </a:prstGeom>
          <a:noFill/>
          <a:ln w="7144">
            <a:solidFill>
              <a:srgbClr val="E2E8F0"/>
            </a:solidFill>
            <a:prstDash val="solid"/>
          </a:ln>
        </p:spPr>
      </p:sp>
      <p:sp>
        <p:nvSpPr>
          <p:cNvPr id="17" name="Shape 13"/>
          <p:cNvSpPr/>
          <p:nvPr/>
        </p:nvSpPr>
        <p:spPr>
          <a:xfrm>
            <a:off x="8558213" y="1714500"/>
            <a:ext cx="0" cy="857250"/>
          </a:xfrm>
          <a:prstGeom prst="line">
            <a:avLst/>
          </a:prstGeom>
          <a:noFill/>
          <a:ln w="28575">
            <a:solidFill>
              <a:srgbClr val="1E40AF"/>
            </a:solidFill>
            <a:prstDash val="solid"/>
          </a:ln>
        </p:spPr>
      </p:sp>
      <p:sp>
        <p:nvSpPr>
          <p:cNvPr id="18" name="Shape 14"/>
          <p:cNvSpPr/>
          <p:nvPr/>
        </p:nvSpPr>
        <p:spPr>
          <a:xfrm>
            <a:off x="6429375" y="2568178"/>
            <a:ext cx="2143125" cy="0"/>
          </a:xfrm>
          <a:prstGeom prst="line">
            <a:avLst/>
          </a:prstGeom>
          <a:noFill/>
          <a:ln w="7144">
            <a:solidFill>
              <a:srgbClr val="E2E8F0"/>
            </a:solidFill>
            <a:prstDash val="solid"/>
          </a:ln>
        </p:spPr>
      </p:sp>
      <p:sp>
        <p:nvSpPr>
          <p:cNvPr id="19" name="Shape 15"/>
          <p:cNvSpPr/>
          <p:nvPr/>
        </p:nvSpPr>
        <p:spPr>
          <a:xfrm>
            <a:off x="6432947" y="1714500"/>
            <a:ext cx="0" cy="857250"/>
          </a:xfrm>
          <a:prstGeom prst="line">
            <a:avLst/>
          </a:prstGeom>
          <a:noFill/>
          <a:ln w="7144">
            <a:solidFill>
              <a:srgbClr val="E2E8F0"/>
            </a:solidFill>
            <a:prstDash val="solid"/>
          </a:ln>
        </p:spPr>
      </p:sp>
      <p:sp>
        <p:nvSpPr>
          <p:cNvPr id="20" name="Shape 16"/>
          <p:cNvSpPr/>
          <p:nvPr/>
        </p:nvSpPr>
        <p:spPr>
          <a:xfrm>
            <a:off x="571500" y="1718072"/>
            <a:ext cx="2143125" cy="0"/>
          </a:xfrm>
          <a:prstGeom prst="line">
            <a:avLst/>
          </a:prstGeom>
          <a:noFill/>
          <a:ln w="7144">
            <a:solidFill>
              <a:srgbClr val="E2E8F0"/>
            </a:solidFill>
            <a:prstDash val="solid"/>
          </a:ln>
        </p:spPr>
      </p:sp>
      <p:sp>
        <p:nvSpPr>
          <p:cNvPr id="21" name="Shape 17"/>
          <p:cNvSpPr/>
          <p:nvPr/>
        </p:nvSpPr>
        <p:spPr>
          <a:xfrm>
            <a:off x="2700338" y="1714500"/>
            <a:ext cx="0" cy="857250"/>
          </a:xfrm>
          <a:prstGeom prst="line">
            <a:avLst/>
          </a:prstGeom>
          <a:noFill/>
          <a:ln w="28575">
            <a:solidFill>
              <a:srgbClr val="1E40AF"/>
            </a:solidFill>
            <a:prstDash val="solid"/>
          </a:ln>
        </p:spPr>
      </p:sp>
      <p:sp>
        <p:nvSpPr>
          <p:cNvPr id="22" name="Shape 18"/>
          <p:cNvSpPr/>
          <p:nvPr/>
        </p:nvSpPr>
        <p:spPr>
          <a:xfrm>
            <a:off x="571500" y="2568178"/>
            <a:ext cx="2143125" cy="0"/>
          </a:xfrm>
          <a:prstGeom prst="line">
            <a:avLst/>
          </a:prstGeom>
          <a:noFill/>
          <a:ln w="7144">
            <a:solidFill>
              <a:srgbClr val="E2E8F0"/>
            </a:solidFill>
            <a:prstDash val="solid"/>
          </a:ln>
        </p:spPr>
      </p:sp>
      <p:sp>
        <p:nvSpPr>
          <p:cNvPr id="23" name="Shape 19"/>
          <p:cNvSpPr/>
          <p:nvPr/>
        </p:nvSpPr>
        <p:spPr>
          <a:xfrm>
            <a:off x="575072" y="1714500"/>
            <a:ext cx="0" cy="857250"/>
          </a:xfrm>
          <a:prstGeom prst="line">
            <a:avLst/>
          </a:prstGeom>
          <a:noFill/>
          <a:ln w="7144">
            <a:solidFill>
              <a:srgbClr val="E2E8F0"/>
            </a:solidFill>
            <a:prstDash val="solid"/>
          </a:ln>
        </p:spPr>
      </p:sp>
      <p:sp>
        <p:nvSpPr>
          <p:cNvPr id="24" name="Shape 20"/>
          <p:cNvSpPr/>
          <p:nvPr/>
        </p:nvSpPr>
        <p:spPr>
          <a:xfrm>
            <a:off x="6429375" y="3289697"/>
            <a:ext cx="2143125" cy="0"/>
          </a:xfrm>
          <a:prstGeom prst="line">
            <a:avLst/>
          </a:prstGeom>
          <a:noFill/>
          <a:ln w="7144">
            <a:solidFill>
              <a:srgbClr val="E2E8F0"/>
            </a:solidFill>
            <a:prstDash val="solid"/>
          </a:ln>
        </p:spPr>
      </p:sp>
      <p:sp>
        <p:nvSpPr>
          <p:cNvPr id="25" name="Shape 21"/>
          <p:cNvSpPr/>
          <p:nvPr/>
        </p:nvSpPr>
        <p:spPr>
          <a:xfrm>
            <a:off x="8558213" y="3286125"/>
            <a:ext cx="0" cy="857250"/>
          </a:xfrm>
          <a:prstGeom prst="line">
            <a:avLst/>
          </a:prstGeom>
          <a:noFill/>
          <a:ln w="28575">
            <a:solidFill>
              <a:srgbClr val="DC2626"/>
            </a:solidFill>
            <a:prstDash val="solid"/>
          </a:ln>
        </p:spPr>
      </p:sp>
      <p:sp>
        <p:nvSpPr>
          <p:cNvPr id="26" name="Shape 22"/>
          <p:cNvSpPr/>
          <p:nvPr/>
        </p:nvSpPr>
        <p:spPr>
          <a:xfrm>
            <a:off x="6429375" y="4139803"/>
            <a:ext cx="2143125" cy="0"/>
          </a:xfrm>
          <a:prstGeom prst="line">
            <a:avLst/>
          </a:prstGeom>
          <a:noFill/>
          <a:ln w="7144">
            <a:solidFill>
              <a:srgbClr val="E2E8F0"/>
            </a:solidFill>
            <a:prstDash val="solid"/>
          </a:ln>
        </p:spPr>
      </p:sp>
      <p:sp>
        <p:nvSpPr>
          <p:cNvPr id="27" name="Shape 23"/>
          <p:cNvSpPr/>
          <p:nvPr/>
        </p:nvSpPr>
        <p:spPr>
          <a:xfrm>
            <a:off x="6432947" y="3286125"/>
            <a:ext cx="0" cy="857250"/>
          </a:xfrm>
          <a:prstGeom prst="line">
            <a:avLst/>
          </a:prstGeom>
          <a:noFill/>
          <a:ln w="7144">
            <a:solidFill>
              <a:srgbClr val="E2E8F0"/>
            </a:solidFill>
            <a:prstDash val="solid"/>
          </a:ln>
        </p:spPr>
      </p:sp>
      <p:sp>
        <p:nvSpPr>
          <p:cNvPr id="28" name="Shape 24"/>
          <p:cNvSpPr/>
          <p:nvPr/>
        </p:nvSpPr>
        <p:spPr>
          <a:xfrm>
            <a:off x="571500" y="3289697"/>
            <a:ext cx="2143125" cy="0"/>
          </a:xfrm>
          <a:prstGeom prst="line">
            <a:avLst/>
          </a:prstGeom>
          <a:noFill/>
          <a:ln w="7144">
            <a:solidFill>
              <a:srgbClr val="E2E8F0"/>
            </a:solidFill>
            <a:prstDash val="solid"/>
          </a:ln>
        </p:spPr>
      </p:sp>
      <p:sp>
        <p:nvSpPr>
          <p:cNvPr id="29" name="Shape 25"/>
          <p:cNvSpPr/>
          <p:nvPr/>
        </p:nvSpPr>
        <p:spPr>
          <a:xfrm>
            <a:off x="2700338" y="3286125"/>
            <a:ext cx="0" cy="857250"/>
          </a:xfrm>
          <a:prstGeom prst="line">
            <a:avLst/>
          </a:prstGeom>
          <a:noFill/>
          <a:ln w="28575">
            <a:solidFill>
              <a:srgbClr val="DC2626"/>
            </a:solidFill>
            <a:prstDash val="solid"/>
          </a:ln>
        </p:spPr>
      </p:sp>
      <p:sp>
        <p:nvSpPr>
          <p:cNvPr id="30" name="Shape 26"/>
          <p:cNvSpPr/>
          <p:nvPr/>
        </p:nvSpPr>
        <p:spPr>
          <a:xfrm>
            <a:off x="571500" y="4139803"/>
            <a:ext cx="2143125" cy="0"/>
          </a:xfrm>
          <a:prstGeom prst="line">
            <a:avLst/>
          </a:prstGeom>
          <a:noFill/>
          <a:ln w="7144">
            <a:solidFill>
              <a:srgbClr val="E2E8F0"/>
            </a:solidFill>
            <a:prstDash val="solid"/>
          </a:ln>
        </p:spPr>
      </p:sp>
      <p:sp>
        <p:nvSpPr>
          <p:cNvPr id="31" name="Shape 27"/>
          <p:cNvSpPr/>
          <p:nvPr/>
        </p:nvSpPr>
        <p:spPr>
          <a:xfrm>
            <a:off x="575072" y="3286125"/>
            <a:ext cx="0" cy="857250"/>
          </a:xfrm>
          <a:prstGeom prst="line">
            <a:avLst/>
          </a:prstGeom>
          <a:noFill/>
          <a:ln w="7144">
            <a:solidFill>
              <a:srgbClr val="E2E8F0"/>
            </a:solidFill>
            <a:prstDash val="solid"/>
          </a:ln>
        </p:spPr>
      </p:sp>
      <p:sp>
        <p:nvSpPr>
          <p:cNvPr id="32" name="Text 28"/>
          <p:cNvSpPr/>
          <p:nvPr/>
        </p:nvSpPr>
        <p:spPr>
          <a:xfrm>
            <a:off x="403622" y="4689872"/>
            <a:ext cx="8336756" cy="292894"/>
          </a:xfrm>
          <a:prstGeom prst="roundRect">
            <a:avLst>
              <a:gd name="adj" fmla="val 32520"/>
            </a:avLst>
          </a:prstGeom>
          <a:solidFill>
            <a:srgbClr val="E2E8F0"/>
          </a:solidFill>
          <a:ln w="7144">
            <a:solidFill>
              <a:srgbClr val="E2E8F0"/>
            </a:solidFill>
            <a:prstDash val="solid"/>
          </a:ln>
        </p:spPr>
        <p:txBody>
          <a:bodyPr wrap="square" rtlCol="0" anchor="ctr"/>
          <a:lstStyle/>
          <a:p>
            <a:pPr indent="0" marL="0">
              <a:buNone/>
            </a:pPr>
            <a:endParaRPr lang="en-US" dirty="0"/>
          </a:p>
        </p:txBody>
      </p:sp>
      <p:sp>
        <p:nvSpPr>
          <p:cNvPr id="33" name="Text 29"/>
          <p:cNvSpPr/>
          <p:nvPr/>
        </p:nvSpPr>
        <p:spPr>
          <a:xfrm>
            <a:off x="8479631" y="4764881"/>
            <a:ext cx="142875" cy="142875"/>
          </a:xfrm>
          <a:prstGeom prst="rect">
            <a:avLst/>
          </a:prstGeom>
          <a:noFill/>
          <a:ln/>
        </p:spPr>
        <p:txBody>
          <a:bodyPr wrap="none" lIns="0" tIns="0" rIns="0" bIns="0" rtlCol="0" anchor="ctr"/>
          <a:lstStyle/>
          <a:p>
            <a:pPr algn="ctr" indent="0" marL="0">
              <a:buNone/>
            </a:pPr>
            <a:r>
              <a:rPr lang="en-US" sz="1406" dirty="0">
                <a:solidFill>
                  <a:srgbClr val="1E40AF"/>
                </a:solidFill>
                <a:latin typeface="Segoe UI Symbol" pitchFamily="34" charset="0"/>
                <a:ea typeface="Segoe UI Symbol" pitchFamily="34" charset="-122"/>
                <a:cs typeface="Segoe UI Symbol" pitchFamily="34" charset="-120"/>
              </a:rPr>
              <a:t>✦</a:t>
            </a:r>
            <a:endParaRPr lang="en-US" sz="1406" dirty="0"/>
          </a:p>
        </p:txBody>
      </p:sp>
      <p:sp>
        <p:nvSpPr>
          <p:cNvPr id="34" name="Text 30"/>
          <p:cNvSpPr/>
          <p:nvPr/>
        </p:nvSpPr>
        <p:spPr>
          <a:xfrm>
            <a:off x="3731605" y="4766667"/>
            <a:ext cx="4712308" cy="141089"/>
          </a:xfrm>
          <a:prstGeom prst="rect">
            <a:avLst/>
          </a:prstGeom>
          <a:noFill/>
          <a:ln/>
        </p:spPr>
        <p:txBody>
          <a:bodyPr wrap="square" lIns="0" tIns="0" rIns="0" bIns="0" rtlCol="0" anchor="t"/>
          <a:lstStyle/>
          <a:p>
            <a:pPr algn="l" indent="0" marL="0">
              <a:lnSpc>
                <a:spcPts val="1097"/>
              </a:lnSpc>
              <a:buNone/>
            </a:pPr>
            <a:r>
              <a:rPr lang="en-US" sz="800" b="1" dirty="0">
                <a:solidFill>
                  <a:srgbClr val="0F172A"/>
                </a:solidFill>
                <a:latin typeface="Carlito" pitchFamily="34" charset="0"/>
                <a:ea typeface="Carlito" pitchFamily="34" charset="-122"/>
                <a:cs typeface="Carlito" pitchFamily="34" charset="-120"/>
              </a:rPr>
              <a:t>الأنظمة تتواصل عبر مسارين:</a:t>
            </a:r>
            <a:pPr algn="l" indent="0" marL="0">
              <a:lnSpc>
                <a:spcPts val="1097"/>
              </a:lnSpc>
              <a:buNone/>
            </a:pPr>
            <a:r>
              <a:rPr lang="en-US" sz="800" dirty="0">
                <a:solidFill>
                  <a:srgbClr val="334155"/>
                </a:solidFill>
                <a:latin typeface="Carlito" pitchFamily="34" charset="0"/>
                <a:ea typeface="Carlito" pitchFamily="34" charset="-122"/>
                <a:cs typeface="Carlito" pitchFamily="34" charset="-120"/>
              </a:rPr>
              <a:t> الجهاز العصبي </a:t>
            </a:r>
            <a:pPr algn="l" indent="0" marL="0">
              <a:lnSpc>
                <a:spcPts val="1097"/>
              </a:lnSpc>
              <a:buNone/>
            </a:pPr>
            <a:r>
              <a:rPr lang="en-US" sz="800" dirty="0">
                <a:solidFill>
                  <a:srgbClr val="1E40AF"/>
                </a:solidFill>
                <a:latin typeface="Carlito" pitchFamily="34" charset="0"/>
                <a:ea typeface="Carlito" pitchFamily="34" charset="-122"/>
                <a:cs typeface="Carlito" pitchFamily="34" charset="-120"/>
              </a:rPr>
              <a:t>(سريع — كهربائي)</a:t>
            </a:r>
            <a:pPr algn="l" indent="0" marL="0">
              <a:lnSpc>
                <a:spcPts val="1097"/>
              </a:lnSpc>
              <a:buNone/>
            </a:pPr>
            <a:r>
              <a:rPr lang="en-US" sz="800" dirty="0">
                <a:solidFill>
                  <a:srgbClr val="334155"/>
                </a:solidFill>
                <a:latin typeface="Carlito" pitchFamily="34" charset="0"/>
                <a:ea typeface="Carlito" pitchFamily="34" charset="-122"/>
                <a:cs typeface="Carlito" pitchFamily="34" charset="-120"/>
              </a:rPr>
              <a:t> والجهاز الهرموني </a:t>
            </a:r>
            <a:pPr algn="l" indent="0" marL="0">
              <a:lnSpc>
                <a:spcPts val="1097"/>
              </a:lnSpc>
              <a:buNone/>
            </a:pPr>
            <a:r>
              <a:rPr lang="en-US" sz="800" dirty="0">
                <a:solidFill>
                  <a:srgbClr val="DC2626"/>
                </a:solidFill>
                <a:latin typeface="Carlito" pitchFamily="34" charset="0"/>
                <a:ea typeface="Carlito" pitchFamily="34" charset="-122"/>
                <a:cs typeface="Carlito" pitchFamily="34" charset="-120"/>
              </a:rPr>
              <a:t>(بطيء — كيميائي)</a:t>
            </a:r>
            <a:endParaRPr lang="en-US" sz="800" dirty="0"/>
          </a:p>
        </p:txBody>
      </p:sp>
      <p:sp>
        <p:nvSpPr>
          <p:cNvPr id="35" name="Text 31"/>
          <p:cNvSpPr/>
          <p:nvPr/>
        </p:nvSpPr>
        <p:spPr>
          <a:xfrm>
            <a:off x="521494" y="4777383"/>
            <a:ext cx="3174392" cy="130373"/>
          </a:xfrm>
          <a:prstGeom prst="rect">
            <a:avLst/>
          </a:prstGeom>
          <a:noFill/>
          <a:ln/>
        </p:spPr>
        <p:txBody>
          <a:bodyPr wrap="square" lIns="0" tIns="0" rIns="0" bIns="0" rtlCol="0" anchor="t"/>
          <a:lstStyle/>
          <a:p>
            <a:pPr algn="l" indent="0" marL="0">
              <a:lnSpc>
                <a:spcPts val="928"/>
              </a:lnSpc>
              <a:buNone/>
            </a:pPr>
            <a:r>
              <a:rPr lang="en-US" sz="800" dirty="0">
                <a:solidFill>
                  <a:srgbClr val="64748B"/>
                </a:solidFill>
                <a:latin typeface="Liberation Sans Narrow" pitchFamily="34" charset="0"/>
                <a:ea typeface="Liberation Sans Narrow" pitchFamily="34" charset="-122"/>
                <a:cs typeface="Liberation Sans Narrow" pitchFamily="34" charset="-120"/>
              </a:rPr>
              <a:t>12 / 14</a:t>
            </a:r>
            <a:endParaRPr lang="en-US" sz="800" dirty="0"/>
          </a:p>
        </p:txBody>
      </p:sp>
      <p:sp>
        <p:nvSpPr>
          <p:cNvPr id="36" name="Text 32"/>
          <p:cNvSpPr/>
          <p:nvPr/>
        </p:nvSpPr>
        <p:spPr>
          <a:xfrm>
            <a:off x="6429375" y="1714500"/>
            <a:ext cx="2143125" cy="857250"/>
          </a:xfrm>
          <a:prstGeom prst="roundRect">
            <a:avLst>
              <a:gd name="adj" fmla="val 15556"/>
            </a:avLst>
          </a:prstGeom>
          <a:solidFill>
            <a:srgbClr val="F8FAFC"/>
          </a:solidFill>
          <a:ln/>
          <a:effectLst>
            <a:outerShdw sx="100000" sy="100000" kx="0" ky="0" algn="bl" rotWithShape="0" blurRad="228600" dist="57150" dir="5400000">
              <a:srgbClr val="0F172A">
                <a:alpha val="6000"/>
              </a:srgbClr>
            </a:outerShdw>
          </a:effectLst>
        </p:spPr>
        <p:txBody>
          <a:bodyPr wrap="square" rtlCol="0" anchor="ctr"/>
          <a:lstStyle/>
          <a:p>
            <a:pPr indent="0" marL="0">
              <a:buNone/>
            </a:pPr>
            <a:endParaRPr lang="en-US" dirty="0"/>
          </a:p>
        </p:txBody>
      </p:sp>
      <p:sp>
        <p:nvSpPr>
          <p:cNvPr id="37" name="Text 33"/>
          <p:cNvSpPr/>
          <p:nvPr/>
        </p:nvSpPr>
        <p:spPr>
          <a:xfrm>
            <a:off x="8201025" y="1821656"/>
            <a:ext cx="228600" cy="228600"/>
          </a:xfrm>
          <a:prstGeom prst="roundRect">
            <a:avLst>
              <a:gd name="adj" fmla="val 33333"/>
            </a:avLst>
          </a:prstGeom>
          <a:solidFill>
            <a:srgbClr val="DBEAFE"/>
          </a:solidFill>
          <a:ln/>
        </p:spPr>
        <p:txBody>
          <a:bodyPr wrap="square" rtlCol="0" anchor="ctr"/>
          <a:lstStyle/>
          <a:p>
            <a:pPr indent="0" marL="0">
              <a:buNone/>
            </a:pPr>
            <a:endParaRPr lang="en-US" dirty="0"/>
          </a:p>
        </p:txBody>
      </p:sp>
      <p:sp>
        <p:nvSpPr>
          <p:cNvPr id="38" name="Text 34"/>
          <p:cNvSpPr/>
          <p:nvPr/>
        </p:nvSpPr>
        <p:spPr>
          <a:xfrm>
            <a:off x="8211741" y="1832372"/>
            <a:ext cx="207169" cy="207169"/>
          </a:xfrm>
          <a:prstGeom prst="rect">
            <a:avLst/>
          </a:prstGeom>
          <a:noFill/>
          <a:ln/>
        </p:spPr>
        <p:txBody>
          <a:bodyPr wrap="none" lIns="0" tIns="0" rIns="0" bIns="0" rtlCol="0" anchor="ctr"/>
          <a:lstStyle/>
          <a:p>
            <a:pPr algn="ctr" indent="0" marL="0">
              <a:buNone/>
            </a:pPr>
            <a:r>
              <a:rPr lang="en-US" sz="1406" dirty="0">
                <a:solidFill>
                  <a:srgbClr val="1E40AF"/>
                </a:solidFill>
                <a:latin typeface="Segoe UI Symbol" pitchFamily="34" charset="0"/>
                <a:ea typeface="Segoe UI Symbol" pitchFamily="34" charset="-122"/>
                <a:cs typeface="Segoe UI Symbol" pitchFamily="34" charset="-120"/>
              </a:rPr>
              <a:t>✦</a:t>
            </a:r>
            <a:endParaRPr lang="en-US" sz="1406" dirty="0"/>
          </a:p>
        </p:txBody>
      </p:sp>
      <p:sp>
        <p:nvSpPr>
          <p:cNvPr id="39" name="Text 35"/>
          <p:cNvSpPr/>
          <p:nvPr/>
        </p:nvSpPr>
        <p:spPr>
          <a:xfrm>
            <a:off x="7254813" y="1873114"/>
            <a:ext cx="1111328" cy="135740"/>
          </a:xfrm>
          <a:prstGeom prst="rect">
            <a:avLst/>
          </a:prstGeom>
          <a:noFill/>
          <a:ln/>
        </p:spPr>
        <p:txBody>
          <a:bodyPr wrap="none" lIns="0" tIns="0" rIns="0" bIns="0" rtlCol="0" anchor="t"/>
          <a:lstStyle/>
          <a:p>
            <a:pPr algn="l" indent="0" marL="0">
              <a:lnSpc>
                <a:spcPts val="990"/>
              </a:lnSpc>
              <a:buNone/>
            </a:pPr>
            <a:r>
              <a:rPr lang="en-US" sz="900" b="1" dirty="0">
                <a:solidFill>
                  <a:srgbClr val="0F172A"/>
                </a:solidFill>
                <a:latin typeface="Carlito" pitchFamily="34" charset="0"/>
                <a:ea typeface="Carlito" pitchFamily="34" charset="-122"/>
                <a:cs typeface="Carlito" pitchFamily="34" charset="-120"/>
              </a:rPr>
              <a:t>تنظيم الحرارة</a:t>
            </a:r>
            <a:endParaRPr lang="en-US" sz="900" dirty="0"/>
          </a:p>
        </p:txBody>
      </p:sp>
      <p:sp>
        <p:nvSpPr>
          <p:cNvPr id="40" name="Text 36"/>
          <p:cNvSpPr/>
          <p:nvPr/>
        </p:nvSpPr>
        <p:spPr>
          <a:xfrm>
            <a:off x="6550819" y="2093119"/>
            <a:ext cx="1878806" cy="329184"/>
          </a:xfrm>
          <a:prstGeom prst="rect">
            <a:avLst/>
          </a:prstGeom>
          <a:noFill/>
          <a:ln/>
        </p:spPr>
        <p:txBody>
          <a:bodyPr wrap="square" lIns="0" tIns="0" rIns="0" bIns="0" rtlCol="0" anchor="t"/>
          <a:lstStyle/>
          <a:p>
            <a:pPr algn="l" indent="0" marL="0">
              <a:lnSpc>
                <a:spcPts val="1055"/>
              </a:lnSpc>
              <a:buNone/>
            </a:pPr>
            <a:r>
              <a:rPr lang="en-US" sz="800" dirty="0">
                <a:solidFill>
                  <a:srgbClr val="334155"/>
                </a:solidFill>
                <a:latin typeface="Carlito" pitchFamily="34" charset="0"/>
                <a:ea typeface="Carlito" pitchFamily="34" charset="-122"/>
                <a:cs typeface="Carlito" pitchFamily="34" charset="-120"/>
              </a:rPr>
              <a:t>العَرَق والتعرّض للبرد — الجلد والأوعية والعضلات تحافظ على </a:t>
            </a:r>
            <a:pPr algn="l" indent="0" marL="0">
              <a:lnSpc>
                <a:spcPts val="1055"/>
              </a:lnSpc>
              <a:buNone/>
            </a:pPr>
            <a:r>
              <a:rPr lang="en-US" sz="800" b="1" dirty="0">
                <a:solidFill>
                  <a:srgbClr val="1E40AF"/>
                </a:solidFill>
                <a:latin typeface="Carlito" pitchFamily="34" charset="0"/>
                <a:ea typeface="Carlito" pitchFamily="34" charset="-122"/>
                <a:cs typeface="Carlito" pitchFamily="34" charset="-120"/>
              </a:rPr>
              <a:t>37°م</a:t>
            </a:r>
            <a:endParaRPr lang="en-US" sz="800" dirty="0"/>
          </a:p>
        </p:txBody>
      </p:sp>
      <p:sp>
        <p:nvSpPr>
          <p:cNvPr id="41" name="Text 37"/>
          <p:cNvSpPr/>
          <p:nvPr/>
        </p:nvSpPr>
        <p:spPr>
          <a:xfrm>
            <a:off x="571500" y="1714500"/>
            <a:ext cx="2143125" cy="857250"/>
          </a:xfrm>
          <a:prstGeom prst="roundRect">
            <a:avLst>
              <a:gd name="adj" fmla="val 15556"/>
            </a:avLst>
          </a:prstGeom>
          <a:solidFill>
            <a:srgbClr val="F8FAFC"/>
          </a:solidFill>
          <a:ln/>
          <a:effectLst>
            <a:outerShdw sx="100000" sy="100000" kx="0" ky="0" algn="bl" rotWithShape="0" blurRad="228600" dist="57150" dir="5400000">
              <a:srgbClr val="0F172A">
                <a:alpha val="6000"/>
              </a:srgbClr>
            </a:outerShdw>
          </a:effectLst>
        </p:spPr>
        <p:txBody>
          <a:bodyPr wrap="square" rtlCol="0" anchor="ctr"/>
          <a:lstStyle/>
          <a:p>
            <a:pPr indent="0" marL="0">
              <a:buNone/>
            </a:pPr>
            <a:endParaRPr lang="en-US" dirty="0"/>
          </a:p>
        </p:txBody>
      </p:sp>
      <p:sp>
        <p:nvSpPr>
          <p:cNvPr id="42" name="Text 38"/>
          <p:cNvSpPr/>
          <p:nvPr/>
        </p:nvSpPr>
        <p:spPr>
          <a:xfrm>
            <a:off x="2343150" y="1821656"/>
            <a:ext cx="228600" cy="228600"/>
          </a:xfrm>
          <a:prstGeom prst="roundRect">
            <a:avLst>
              <a:gd name="adj" fmla="val 33333"/>
            </a:avLst>
          </a:prstGeom>
          <a:solidFill>
            <a:srgbClr val="DBEAFE"/>
          </a:solidFill>
          <a:ln/>
        </p:spPr>
        <p:txBody>
          <a:bodyPr wrap="square" rtlCol="0" anchor="ctr"/>
          <a:lstStyle/>
          <a:p>
            <a:pPr indent="0" marL="0">
              <a:buNone/>
            </a:pPr>
            <a:endParaRPr lang="en-US" dirty="0"/>
          </a:p>
        </p:txBody>
      </p:sp>
      <p:sp>
        <p:nvSpPr>
          <p:cNvPr id="43" name="Text 39"/>
          <p:cNvSpPr/>
          <p:nvPr/>
        </p:nvSpPr>
        <p:spPr>
          <a:xfrm>
            <a:off x="2353866" y="1832372"/>
            <a:ext cx="207169" cy="207169"/>
          </a:xfrm>
          <a:prstGeom prst="rect">
            <a:avLst/>
          </a:prstGeom>
          <a:noFill/>
          <a:ln/>
        </p:spPr>
        <p:txBody>
          <a:bodyPr wrap="none" lIns="0" tIns="0" rIns="0" bIns="0" rtlCol="0" anchor="ctr"/>
          <a:lstStyle/>
          <a:p>
            <a:pPr algn="ctr" indent="0" marL="0">
              <a:buNone/>
            </a:pPr>
            <a:r>
              <a:rPr lang="en-US" sz="1406" dirty="0">
                <a:solidFill>
                  <a:srgbClr val="1E40AF"/>
                </a:solidFill>
                <a:latin typeface="Segoe UI Symbol" pitchFamily="34" charset="0"/>
                <a:ea typeface="Segoe UI Symbol" pitchFamily="34" charset="-122"/>
                <a:cs typeface="Segoe UI Symbol" pitchFamily="34" charset="-120"/>
              </a:rPr>
              <a:t>⚗</a:t>
            </a:r>
            <a:endParaRPr lang="en-US" sz="1406" dirty="0"/>
          </a:p>
        </p:txBody>
      </p:sp>
      <p:sp>
        <p:nvSpPr>
          <p:cNvPr id="44" name="Text 40"/>
          <p:cNvSpPr/>
          <p:nvPr/>
        </p:nvSpPr>
        <p:spPr>
          <a:xfrm>
            <a:off x="1744638" y="1873114"/>
            <a:ext cx="774148" cy="135740"/>
          </a:xfrm>
          <a:prstGeom prst="rect">
            <a:avLst/>
          </a:prstGeom>
          <a:noFill/>
          <a:ln/>
        </p:spPr>
        <p:txBody>
          <a:bodyPr wrap="none" lIns="0" tIns="0" rIns="0" bIns="0" rtlCol="0" anchor="t"/>
          <a:lstStyle/>
          <a:p>
            <a:pPr algn="l" indent="0" marL="0">
              <a:lnSpc>
                <a:spcPts val="990"/>
              </a:lnSpc>
              <a:buNone/>
            </a:pPr>
            <a:r>
              <a:rPr lang="en-US" sz="900" b="1" dirty="0">
                <a:solidFill>
                  <a:srgbClr val="0F172A"/>
                </a:solidFill>
                <a:latin typeface="Carlito" pitchFamily="34" charset="0"/>
                <a:ea typeface="Carlito" pitchFamily="34" charset="-122"/>
                <a:cs typeface="Carlito" pitchFamily="34" charset="-120"/>
              </a:rPr>
              <a:t>توازن pH</a:t>
            </a:r>
            <a:endParaRPr lang="en-US" sz="900" dirty="0"/>
          </a:p>
        </p:txBody>
      </p:sp>
      <p:sp>
        <p:nvSpPr>
          <p:cNvPr id="45" name="Text 41"/>
          <p:cNvSpPr/>
          <p:nvPr/>
        </p:nvSpPr>
        <p:spPr>
          <a:xfrm>
            <a:off x="692944" y="2093119"/>
            <a:ext cx="1878806" cy="329184"/>
          </a:xfrm>
          <a:prstGeom prst="rect">
            <a:avLst/>
          </a:prstGeom>
          <a:noFill/>
          <a:ln/>
        </p:spPr>
        <p:txBody>
          <a:bodyPr wrap="square" lIns="0" tIns="0" rIns="0" bIns="0" rtlCol="0" anchor="t"/>
          <a:lstStyle/>
          <a:p>
            <a:pPr algn="l" indent="0" marL="0">
              <a:lnSpc>
                <a:spcPts val="1055"/>
              </a:lnSpc>
              <a:buNone/>
            </a:pPr>
            <a:r>
              <a:rPr lang="en-US" sz="800" dirty="0">
                <a:solidFill>
                  <a:srgbClr val="334155"/>
                </a:solidFill>
                <a:latin typeface="Carlito" pitchFamily="34" charset="0"/>
                <a:ea typeface="Carlito" pitchFamily="34" charset="-122"/>
                <a:cs typeface="Carlito" pitchFamily="34" charset="-120"/>
              </a:rPr>
              <a:t>الرئتان (CO₂) والكليتان (أيونات) — تحافظ على </a:t>
            </a:r>
            <a:pPr algn="l" indent="0" marL="0">
              <a:lnSpc>
                <a:spcPts val="1055"/>
              </a:lnSpc>
              <a:buNone/>
            </a:pPr>
            <a:r>
              <a:rPr lang="en-US" sz="800" b="1" dirty="0">
                <a:solidFill>
                  <a:srgbClr val="1E40AF"/>
                </a:solidFill>
                <a:latin typeface="Liberation Sans Narrow" pitchFamily="34" charset="0"/>
                <a:ea typeface="Liberation Sans Narrow" pitchFamily="34" charset="-122"/>
                <a:cs typeface="Liberation Sans Narrow" pitchFamily="34" charset="-120"/>
              </a:rPr>
              <a:t>pH 7.35-7.45</a:t>
            </a:r>
            <a:pPr algn="l" indent="0" marL="0">
              <a:lnSpc>
                <a:spcPts val="1055"/>
              </a:lnSpc>
              <a:buNone/>
            </a:pPr>
            <a:r>
              <a:rPr lang="en-US" sz="800" dirty="0">
                <a:solidFill>
                  <a:srgbClr val="334155"/>
                </a:solidFill>
                <a:latin typeface="Carlito" pitchFamily="34" charset="0"/>
                <a:ea typeface="Carlito" pitchFamily="34" charset="-122"/>
                <a:cs typeface="Carlito" pitchFamily="34" charset="-120"/>
              </a:rPr>
              <a:t> في الدم</a:t>
            </a:r>
            <a:endParaRPr lang="en-US" sz="800" dirty="0"/>
          </a:p>
        </p:txBody>
      </p:sp>
      <p:sp>
        <p:nvSpPr>
          <p:cNvPr id="46" name="Text 42"/>
          <p:cNvSpPr/>
          <p:nvPr/>
        </p:nvSpPr>
        <p:spPr>
          <a:xfrm>
            <a:off x="6429375" y="3286125"/>
            <a:ext cx="2143125" cy="857250"/>
          </a:xfrm>
          <a:prstGeom prst="roundRect">
            <a:avLst>
              <a:gd name="adj" fmla="val 15556"/>
            </a:avLst>
          </a:prstGeom>
          <a:solidFill>
            <a:srgbClr val="F8FAFC"/>
          </a:solidFill>
          <a:ln/>
          <a:effectLst>
            <a:outerShdw sx="100000" sy="100000" kx="0" ky="0" algn="bl" rotWithShape="0" blurRad="228600" dist="57150" dir="5400000">
              <a:srgbClr val="0F172A">
                <a:alpha val="6000"/>
              </a:srgbClr>
            </a:outerShdw>
          </a:effectLst>
        </p:spPr>
        <p:txBody>
          <a:bodyPr wrap="square" rtlCol="0" anchor="ctr"/>
          <a:lstStyle/>
          <a:p>
            <a:pPr indent="0" marL="0">
              <a:buNone/>
            </a:pPr>
            <a:endParaRPr lang="en-US" dirty="0"/>
          </a:p>
        </p:txBody>
      </p:sp>
      <p:sp>
        <p:nvSpPr>
          <p:cNvPr id="47" name="Text 43"/>
          <p:cNvSpPr/>
          <p:nvPr/>
        </p:nvSpPr>
        <p:spPr>
          <a:xfrm>
            <a:off x="8201025" y="3393281"/>
            <a:ext cx="228600" cy="228600"/>
          </a:xfrm>
          <a:prstGeom prst="roundRect">
            <a:avLst>
              <a:gd name="adj" fmla="val 33333"/>
            </a:avLst>
          </a:prstGeom>
          <a:solidFill>
            <a:srgbClr val="FEE2E2"/>
          </a:solidFill>
          <a:ln/>
        </p:spPr>
        <p:txBody>
          <a:bodyPr wrap="square" rtlCol="0" anchor="ctr"/>
          <a:lstStyle/>
          <a:p>
            <a:pPr indent="0" marL="0">
              <a:buNone/>
            </a:pPr>
            <a:endParaRPr lang="en-US" dirty="0"/>
          </a:p>
        </p:txBody>
      </p:sp>
      <p:sp>
        <p:nvSpPr>
          <p:cNvPr id="48" name="Text 44"/>
          <p:cNvSpPr/>
          <p:nvPr/>
        </p:nvSpPr>
        <p:spPr>
          <a:xfrm>
            <a:off x="8211741" y="3403997"/>
            <a:ext cx="207169" cy="207169"/>
          </a:xfrm>
          <a:prstGeom prst="rect">
            <a:avLst/>
          </a:prstGeom>
          <a:noFill/>
          <a:ln/>
        </p:spPr>
        <p:txBody>
          <a:bodyPr wrap="none" lIns="0" tIns="0" rIns="0" bIns="0" rtlCol="0" anchor="ctr"/>
          <a:lstStyle/>
          <a:p>
            <a:pPr algn="ctr" indent="0" marL="0">
              <a:buNone/>
            </a:pPr>
            <a:r>
              <a:rPr lang="en-US" sz="1406" dirty="0">
                <a:solidFill>
                  <a:srgbClr val="DC2626"/>
                </a:solidFill>
                <a:latin typeface="Segoe UI Symbol" pitchFamily="34" charset="0"/>
                <a:ea typeface="Segoe UI Symbol" pitchFamily="34" charset="-122"/>
                <a:cs typeface="Segoe UI Symbol" pitchFamily="34" charset="-120"/>
              </a:rPr>
              <a:t>◐</a:t>
            </a:r>
            <a:endParaRPr lang="en-US" sz="1406" dirty="0"/>
          </a:p>
        </p:txBody>
      </p:sp>
      <p:sp>
        <p:nvSpPr>
          <p:cNvPr id="49" name="Text 45"/>
          <p:cNvSpPr/>
          <p:nvPr/>
        </p:nvSpPr>
        <p:spPr>
          <a:xfrm>
            <a:off x="7612000" y="3444739"/>
            <a:ext cx="760581" cy="135740"/>
          </a:xfrm>
          <a:prstGeom prst="rect">
            <a:avLst/>
          </a:prstGeom>
          <a:noFill/>
          <a:ln/>
        </p:spPr>
        <p:txBody>
          <a:bodyPr wrap="none" lIns="0" tIns="0" rIns="0" bIns="0" rtlCol="0" anchor="t"/>
          <a:lstStyle/>
          <a:p>
            <a:pPr algn="l" indent="0" marL="0">
              <a:lnSpc>
                <a:spcPts val="990"/>
              </a:lnSpc>
              <a:buNone/>
            </a:pPr>
            <a:r>
              <a:rPr lang="en-US" sz="900" b="1" dirty="0">
                <a:solidFill>
                  <a:srgbClr val="0F172A"/>
                </a:solidFill>
                <a:latin typeface="Carlito" pitchFamily="34" charset="0"/>
                <a:ea typeface="Carlito" pitchFamily="34" charset="-122"/>
                <a:cs typeface="Carlito" pitchFamily="34" charset="-120"/>
              </a:rPr>
              <a:t>سكر الدم</a:t>
            </a:r>
            <a:endParaRPr lang="en-US" sz="900" dirty="0"/>
          </a:p>
        </p:txBody>
      </p:sp>
      <p:sp>
        <p:nvSpPr>
          <p:cNvPr id="50" name="Text 46"/>
          <p:cNvSpPr/>
          <p:nvPr/>
        </p:nvSpPr>
        <p:spPr>
          <a:xfrm>
            <a:off x="6550819" y="3664744"/>
            <a:ext cx="1878806" cy="329184"/>
          </a:xfrm>
          <a:prstGeom prst="rect">
            <a:avLst/>
          </a:prstGeom>
          <a:noFill/>
          <a:ln/>
        </p:spPr>
        <p:txBody>
          <a:bodyPr wrap="square" lIns="0" tIns="0" rIns="0" bIns="0" rtlCol="0" anchor="t"/>
          <a:lstStyle/>
          <a:p>
            <a:pPr algn="l" indent="0" marL="0">
              <a:lnSpc>
                <a:spcPts val="1055"/>
              </a:lnSpc>
              <a:buNone/>
            </a:pPr>
            <a:r>
              <a:rPr lang="en-US" sz="800" dirty="0">
                <a:solidFill>
                  <a:srgbClr val="334155"/>
                </a:solidFill>
                <a:latin typeface="Carlito" pitchFamily="34" charset="0"/>
                <a:ea typeface="Carlito" pitchFamily="34" charset="-122"/>
                <a:cs typeface="Carlito" pitchFamily="34" charset="-120"/>
              </a:rPr>
              <a:t>البنكرياس يفرز الإنسولين والجلوكاجون — يحافظ على </a:t>
            </a:r>
            <a:pPr algn="l" indent="0" marL="0">
              <a:lnSpc>
                <a:spcPts val="1055"/>
              </a:lnSpc>
              <a:buNone/>
            </a:pPr>
            <a:r>
              <a:rPr lang="en-US" sz="800" b="1" dirty="0">
                <a:solidFill>
                  <a:srgbClr val="DC2626"/>
                </a:solidFill>
                <a:latin typeface="Carlito" pitchFamily="34" charset="0"/>
                <a:ea typeface="Carlito" pitchFamily="34" charset="-122"/>
                <a:cs typeface="Carlito" pitchFamily="34" charset="-120"/>
              </a:rPr>
              <a:t>70-110 مغ/دل</a:t>
            </a:r>
            <a:endParaRPr lang="en-US" sz="800" dirty="0"/>
          </a:p>
        </p:txBody>
      </p:sp>
      <p:sp>
        <p:nvSpPr>
          <p:cNvPr id="51" name="Text 47"/>
          <p:cNvSpPr/>
          <p:nvPr/>
        </p:nvSpPr>
        <p:spPr>
          <a:xfrm>
            <a:off x="571500" y="3286125"/>
            <a:ext cx="2143125" cy="857250"/>
          </a:xfrm>
          <a:prstGeom prst="roundRect">
            <a:avLst>
              <a:gd name="adj" fmla="val 15556"/>
            </a:avLst>
          </a:prstGeom>
          <a:solidFill>
            <a:srgbClr val="F8FAFC"/>
          </a:solidFill>
          <a:ln/>
          <a:effectLst>
            <a:outerShdw sx="100000" sy="100000" kx="0" ky="0" algn="bl" rotWithShape="0" blurRad="228600" dist="57150" dir="5400000">
              <a:srgbClr val="0F172A">
                <a:alpha val="6000"/>
              </a:srgbClr>
            </a:outerShdw>
          </a:effectLst>
        </p:spPr>
        <p:txBody>
          <a:bodyPr wrap="square" rtlCol="0" anchor="ctr"/>
          <a:lstStyle/>
          <a:p>
            <a:pPr indent="0" marL="0">
              <a:buNone/>
            </a:pPr>
            <a:endParaRPr lang="en-US" dirty="0"/>
          </a:p>
        </p:txBody>
      </p:sp>
      <p:sp>
        <p:nvSpPr>
          <p:cNvPr id="52" name="Text 48"/>
          <p:cNvSpPr/>
          <p:nvPr/>
        </p:nvSpPr>
        <p:spPr>
          <a:xfrm>
            <a:off x="2343150" y="3393281"/>
            <a:ext cx="228600" cy="228600"/>
          </a:xfrm>
          <a:prstGeom prst="roundRect">
            <a:avLst>
              <a:gd name="adj" fmla="val 33333"/>
            </a:avLst>
          </a:prstGeom>
          <a:solidFill>
            <a:srgbClr val="FEE2E2"/>
          </a:solidFill>
          <a:ln/>
        </p:spPr>
        <p:txBody>
          <a:bodyPr wrap="square" rtlCol="0" anchor="ctr"/>
          <a:lstStyle/>
          <a:p>
            <a:pPr indent="0" marL="0">
              <a:buNone/>
            </a:pPr>
            <a:endParaRPr lang="en-US" dirty="0"/>
          </a:p>
        </p:txBody>
      </p:sp>
      <p:sp>
        <p:nvSpPr>
          <p:cNvPr id="53" name="Text 49"/>
          <p:cNvSpPr/>
          <p:nvPr/>
        </p:nvSpPr>
        <p:spPr>
          <a:xfrm>
            <a:off x="2353866" y="3403997"/>
            <a:ext cx="207169" cy="207169"/>
          </a:xfrm>
          <a:prstGeom prst="rect">
            <a:avLst/>
          </a:prstGeom>
          <a:noFill/>
          <a:ln/>
        </p:spPr>
        <p:txBody>
          <a:bodyPr wrap="none" lIns="0" tIns="0" rIns="0" bIns="0" rtlCol="0" anchor="ctr"/>
          <a:lstStyle/>
          <a:p>
            <a:pPr algn="ctr" indent="0" marL="0">
              <a:buNone/>
            </a:pPr>
            <a:r>
              <a:rPr lang="en-US" sz="1406" dirty="0">
                <a:solidFill>
                  <a:srgbClr val="DC2626"/>
                </a:solidFill>
                <a:latin typeface="Segoe UI Symbol" pitchFamily="34" charset="0"/>
                <a:ea typeface="Segoe UI Symbol" pitchFamily="34" charset="-122"/>
                <a:cs typeface="Segoe UI Symbol" pitchFamily="34" charset="-120"/>
              </a:rPr>
              <a:t>♥</a:t>
            </a:r>
            <a:endParaRPr lang="en-US" sz="1406" dirty="0"/>
          </a:p>
        </p:txBody>
      </p:sp>
      <p:sp>
        <p:nvSpPr>
          <p:cNvPr id="54" name="Text 50"/>
          <p:cNvSpPr/>
          <p:nvPr/>
        </p:nvSpPr>
        <p:spPr>
          <a:xfrm>
            <a:off x="1754125" y="3444739"/>
            <a:ext cx="760581" cy="135740"/>
          </a:xfrm>
          <a:prstGeom prst="rect">
            <a:avLst/>
          </a:prstGeom>
          <a:noFill/>
          <a:ln/>
        </p:spPr>
        <p:txBody>
          <a:bodyPr wrap="none" lIns="0" tIns="0" rIns="0" bIns="0" rtlCol="0" anchor="t"/>
          <a:lstStyle/>
          <a:p>
            <a:pPr algn="l" indent="0" marL="0">
              <a:lnSpc>
                <a:spcPts val="990"/>
              </a:lnSpc>
              <a:buNone/>
            </a:pPr>
            <a:r>
              <a:rPr lang="en-US" sz="900" b="1" dirty="0">
                <a:solidFill>
                  <a:srgbClr val="0F172A"/>
                </a:solidFill>
                <a:latin typeface="Carlito" pitchFamily="34" charset="0"/>
                <a:ea typeface="Carlito" pitchFamily="34" charset="-122"/>
                <a:cs typeface="Carlito" pitchFamily="34" charset="-120"/>
              </a:rPr>
              <a:t>ضغط الدم</a:t>
            </a:r>
            <a:endParaRPr lang="en-US" sz="900" dirty="0"/>
          </a:p>
        </p:txBody>
      </p:sp>
      <p:sp>
        <p:nvSpPr>
          <p:cNvPr id="55" name="Text 51"/>
          <p:cNvSpPr/>
          <p:nvPr/>
        </p:nvSpPr>
        <p:spPr>
          <a:xfrm>
            <a:off x="692944" y="3664744"/>
            <a:ext cx="1878806" cy="329184"/>
          </a:xfrm>
          <a:prstGeom prst="rect">
            <a:avLst/>
          </a:prstGeom>
          <a:noFill/>
          <a:ln/>
        </p:spPr>
        <p:txBody>
          <a:bodyPr wrap="square" lIns="0" tIns="0" rIns="0" bIns="0" rtlCol="0" anchor="t"/>
          <a:lstStyle/>
          <a:p>
            <a:pPr algn="l" indent="0" marL="0">
              <a:lnSpc>
                <a:spcPts val="1055"/>
              </a:lnSpc>
              <a:buNone/>
            </a:pPr>
            <a:r>
              <a:rPr lang="en-US" sz="800" dirty="0">
                <a:solidFill>
                  <a:srgbClr val="334155"/>
                </a:solidFill>
                <a:latin typeface="Carlito" pitchFamily="34" charset="0"/>
                <a:ea typeface="Carlito" pitchFamily="34" charset="-122"/>
                <a:cs typeface="Carlito" pitchFamily="34" charset="-120"/>
              </a:rPr>
              <a:t>القلب والأوعية والكلى — تنظم ضغط الدم عند </a:t>
            </a:r>
            <a:pPr algn="l" indent="0" marL="0">
              <a:lnSpc>
                <a:spcPts val="1055"/>
              </a:lnSpc>
              <a:buNone/>
            </a:pPr>
            <a:r>
              <a:rPr lang="en-US" sz="800" b="1" dirty="0">
                <a:solidFill>
                  <a:srgbClr val="DC2626"/>
                </a:solidFill>
                <a:latin typeface="Carlito" pitchFamily="34" charset="0"/>
                <a:ea typeface="Carlito" pitchFamily="34" charset="-122"/>
                <a:cs typeface="Carlito" pitchFamily="34" charset="-120"/>
              </a:rPr>
              <a:t>120/80 ملم زئبق</a:t>
            </a:r>
            <a:endParaRPr lang="en-US" sz="800" dirty="0"/>
          </a:p>
        </p:txBody>
      </p:sp>
      <p:pic>
        <p:nvPicPr>
          <p:cNvPr id="56" name="Image 2" descr="preencoded.png">    </p:cNvPr>
          <p:cNvPicPr>
            <a:picLocks noChangeAspect="1"/>
          </p:cNvPicPr>
          <p:nvPr/>
        </p:nvPicPr>
        <p:blipFill>
          <a:blip r:embed="rId3"/>
          <a:stretch>
            <a:fillRect/>
          </a:stretch>
        </p:blipFill>
        <p:spPr>
          <a:xfrm>
            <a:off x="3571875" y="2214563"/>
            <a:ext cx="2000250" cy="1428750"/>
          </a:xfrm>
          <a:prstGeom prst="rect">
            <a:avLst/>
          </a:prstGeom>
        </p:spPr>
      </p:pic>
      <p:sp>
        <p:nvSpPr>
          <p:cNvPr id="57" name="Text 52"/>
          <p:cNvSpPr/>
          <p:nvPr/>
        </p:nvSpPr>
        <p:spPr>
          <a:xfrm>
            <a:off x="3575447" y="2218134"/>
            <a:ext cx="1993106" cy="1421606"/>
          </a:xfrm>
          <a:prstGeom prst="roundRect">
            <a:avLst>
              <a:gd name="adj" fmla="val 14740"/>
            </a:avLst>
          </a:prstGeom>
          <a:noFill/>
          <a:ln w="7144">
            <a:solidFill>
              <a:srgbClr val="FFFFFF"/>
            </a:solidFill>
            <a:prstDash val="solid"/>
          </a:ln>
          <a:effectLst>
            <a:outerShdw sx="100000" sy="100000" kx="0" ky="0" algn="bl" rotWithShape="0" blurRad="361950" dist="133350" dir="5400000">
              <a:srgbClr val="1E40AF">
                <a:alpha val="35000"/>
              </a:srgbClr>
            </a:outerShdw>
          </a:effectLst>
        </p:spPr>
        <p:txBody>
          <a:bodyPr wrap="square" rtlCol="0" anchor="ctr"/>
          <a:lstStyle/>
          <a:p>
            <a:pPr indent="0" marL="0">
              <a:buNone/>
            </a:pPr>
            <a:endParaRPr lang="en-US" dirty="0"/>
          </a:p>
        </p:txBody>
      </p:sp>
      <p:sp>
        <p:nvSpPr>
          <p:cNvPr id="58" name="Text 53"/>
          <p:cNvSpPr/>
          <p:nvPr/>
        </p:nvSpPr>
        <p:spPr>
          <a:xfrm>
            <a:off x="3514725" y="2157413"/>
            <a:ext cx="2114550" cy="1543050"/>
          </a:xfrm>
          <a:prstGeom prst="roundRect">
            <a:avLst>
              <a:gd name="adj" fmla="val 18519"/>
            </a:avLst>
          </a:prstGeom>
          <a:noFill/>
          <a:ln w="14288">
            <a:solidFill>
              <a:srgbClr val="1E40AF"/>
            </a:solidFill>
            <a:prstDash val="dash"/>
          </a:ln>
          <a:effectLst>
            <a:outerShdw sx="100000" sy="100000" kx="0" ky="0" algn="bl" rotWithShape="0" blurRad="101600" dist="50800" dir="16200000">
              <a:srgbClr val="FFFFFF">
                <a:alpha val="50000"/>
              </a:srgbClr>
            </a:outerShdw>
          </a:effectLst>
        </p:spPr>
        <p:txBody>
          <a:bodyPr wrap="square" rtlCol="0" anchor="ctr"/>
          <a:lstStyle/>
          <a:p>
            <a:pPr indent="0" marL="0">
              <a:buNone/>
            </a:pPr>
            <a:endParaRPr lang="en-US" dirty="0"/>
          </a:p>
        </p:txBody>
      </p:sp>
      <p:sp>
        <p:nvSpPr>
          <p:cNvPr id="59" name="Text 54"/>
          <p:cNvSpPr/>
          <p:nvPr/>
        </p:nvSpPr>
        <p:spPr>
          <a:xfrm>
            <a:off x="4343400" y="2378869"/>
            <a:ext cx="457200" cy="457200"/>
          </a:xfrm>
          <a:prstGeom prst="ellipse">
            <a:avLst/>
          </a:prstGeom>
          <a:solidFill>
            <a:srgbClr val="FFFFFF">
              <a:alpha val="12000"/>
            </a:srgbClr>
          </a:solidFill>
          <a:ln/>
        </p:spPr>
        <p:txBody>
          <a:bodyPr wrap="square" rtlCol="0" anchor="ctr"/>
          <a:lstStyle/>
          <a:p>
            <a:pPr indent="0" marL="0">
              <a:buNone/>
            </a:pPr>
            <a:endParaRPr lang="en-US" dirty="0"/>
          </a:p>
        </p:txBody>
      </p:sp>
      <p:sp>
        <p:nvSpPr>
          <p:cNvPr id="60" name="Text 55"/>
          <p:cNvSpPr/>
          <p:nvPr/>
        </p:nvSpPr>
        <p:spPr>
          <a:xfrm>
            <a:off x="4385548" y="2421017"/>
            <a:ext cx="372904" cy="372904"/>
          </a:xfrm>
          <a:prstGeom prst="rect">
            <a:avLst/>
          </a:prstGeom>
          <a:noFill/>
          <a:ln/>
        </p:spPr>
        <p:txBody>
          <a:bodyPr wrap="none" lIns="0" tIns="0" rIns="0" bIns="0" rtlCol="0" anchor="ctr"/>
          <a:lstStyle/>
          <a:p>
            <a:pPr algn="ctr" indent="0" marL="0">
              <a:buNone/>
            </a:pPr>
            <a:r>
              <a:rPr lang="en-US" sz="2531" dirty="0">
                <a:solidFill>
                  <a:srgbClr val="FFFFFF"/>
                </a:solidFill>
                <a:latin typeface="Segoe UI Symbol" pitchFamily="34" charset="0"/>
                <a:ea typeface="Segoe UI Symbol" pitchFamily="34" charset="-122"/>
                <a:cs typeface="Segoe UI Symbol" pitchFamily="34" charset="-120"/>
              </a:rPr>
              <a:t>↻</a:t>
            </a:r>
            <a:endParaRPr lang="en-US" sz="2531" dirty="0"/>
          </a:p>
        </p:txBody>
      </p:sp>
      <p:sp>
        <p:nvSpPr>
          <p:cNvPr id="61" name="Text 56"/>
          <p:cNvSpPr/>
          <p:nvPr/>
        </p:nvSpPr>
        <p:spPr>
          <a:xfrm>
            <a:off x="4059936" y="2878931"/>
            <a:ext cx="1024128" cy="189671"/>
          </a:xfrm>
          <a:prstGeom prst="rect">
            <a:avLst/>
          </a:prstGeom>
          <a:noFill/>
          <a:ln/>
        </p:spPr>
        <p:txBody>
          <a:bodyPr wrap="none" lIns="0" tIns="0" rIns="0" bIns="0" rtlCol="0" anchor="t">
            <a:normAutofit/>
          </a:bodyPr>
          <a:lstStyle/>
          <a:p>
            <a:pPr algn="ctr" indent="0" marL="0">
              <a:lnSpc>
                <a:spcPts val="1485"/>
              </a:lnSpc>
              <a:buNone/>
            </a:pPr>
            <a:r>
              <a:rPr lang="en-US" sz="1350" b="1" dirty="0">
                <a:solidFill>
                  <a:srgbClr val="FFFFFF"/>
                </a:solidFill>
                <a:latin typeface="Carlito" pitchFamily="34" charset="0"/>
                <a:ea typeface="Carlito" pitchFamily="34" charset="-122"/>
                <a:cs typeface="Carlito" pitchFamily="34" charset="-120"/>
              </a:rPr>
              <a:t>الاستتباب</a:t>
            </a:r>
            <a:endParaRPr lang="en-US" sz="1350" dirty="0"/>
          </a:p>
        </p:txBody>
      </p:sp>
      <p:sp>
        <p:nvSpPr>
          <p:cNvPr id="62" name="Text 57"/>
          <p:cNvSpPr/>
          <p:nvPr/>
        </p:nvSpPr>
        <p:spPr>
          <a:xfrm>
            <a:off x="3820366" y="3096034"/>
            <a:ext cx="1503268" cy="145357"/>
          </a:xfrm>
          <a:prstGeom prst="rect">
            <a:avLst/>
          </a:prstGeom>
          <a:noFill/>
          <a:ln/>
        </p:spPr>
        <p:txBody>
          <a:bodyPr wrap="square" lIns="0" tIns="0" rIns="0" bIns="0" rtlCol="0" anchor="t">
            <a:normAutofit/>
          </a:bodyPr>
          <a:lstStyle/>
          <a:p>
            <a:pPr algn="ctr" indent="0" marL="0">
              <a:lnSpc>
                <a:spcPts val="1024"/>
              </a:lnSpc>
              <a:buNone/>
            </a:pPr>
            <a:r>
              <a:rPr lang="en-US" sz="800" dirty="0">
                <a:solidFill>
                  <a:srgbClr val="FFFFFF">
                    <a:alpha val="85000"/>
                  </a:srgbClr>
                </a:solidFill>
                <a:latin typeface="Carlito" pitchFamily="34" charset="0"/>
                <a:ea typeface="Carlito" pitchFamily="34" charset="-122"/>
                <a:cs typeface="Carlito" pitchFamily="34" charset="-120"/>
              </a:rPr>
              <a:t>الحفاظ على التوازن الداخلي</a:t>
            </a:r>
            <a:endParaRPr lang="en-US" sz="800" dirty="0"/>
          </a:p>
        </p:txBody>
      </p:sp>
      <p:sp>
        <p:nvSpPr>
          <p:cNvPr id="63" name="Text 58"/>
          <p:cNvSpPr/>
          <p:nvPr/>
        </p:nvSpPr>
        <p:spPr>
          <a:xfrm>
            <a:off x="3805275" y="3272396"/>
            <a:ext cx="1533451" cy="187523"/>
          </a:xfrm>
          <a:prstGeom prst="roundRect">
            <a:avLst>
              <a:gd name="adj" fmla="val 5074298"/>
            </a:avLst>
          </a:prstGeom>
          <a:noFill/>
          <a:ln w="7144">
            <a:solidFill>
              <a:srgbClr val="FFFFFF"/>
            </a:solidFill>
            <a:prstDash val="solid"/>
          </a:ln>
        </p:spPr>
        <p:txBody>
          <a:bodyPr wrap="square" rtlCol="0" anchor="ctr"/>
          <a:lstStyle/>
          <a:p>
            <a:pPr indent="0" marL="0">
              <a:buNone/>
            </a:pPr>
            <a:endParaRPr lang="en-US" dirty="0"/>
          </a:p>
        </p:txBody>
      </p:sp>
      <p:sp>
        <p:nvSpPr>
          <p:cNvPr id="64" name="Text 59"/>
          <p:cNvSpPr/>
          <p:nvPr/>
        </p:nvSpPr>
        <p:spPr>
          <a:xfrm>
            <a:off x="3801703" y="3268824"/>
            <a:ext cx="1540594" cy="238758"/>
          </a:xfrm>
          <a:prstGeom prst="rect">
            <a:avLst/>
          </a:prstGeom>
          <a:noFill/>
          <a:ln/>
        </p:spPr>
        <p:txBody>
          <a:bodyPr wrap="square" lIns="71438" tIns="28575" rIns="71438" bIns="28575" rtlCol="0" anchor="t"/>
          <a:lstStyle/>
          <a:p>
            <a:pPr algn="ctr" indent="0" marL="0">
              <a:lnSpc>
                <a:spcPts val="970"/>
              </a:lnSpc>
              <a:buNone/>
            </a:pPr>
            <a:r>
              <a:rPr lang="en-US" sz="647" dirty="0">
                <a:solidFill>
                  <a:srgbClr val="FFFFFF">
                    <a:alpha val="65000"/>
                  </a:srgbClr>
                </a:solidFill>
                <a:latin typeface="Carlito" pitchFamily="34" charset="0"/>
                <a:ea typeface="Carlito" pitchFamily="34" charset="-122"/>
                <a:cs typeface="Carlito" pitchFamily="34" charset="-120"/>
              </a:rPr>
              <a:t>درجة الحرارة · pH · السكر · الضغط</a:t>
            </a:r>
            <a:endParaRPr lang="en-US" sz="647"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7960816" y="187223"/>
            <a:ext cx="783134" cy="250631"/>
          </a:xfrm>
          <a:prstGeom prst="roundRect">
            <a:avLst>
              <a:gd name="adj" fmla="val 3796607"/>
            </a:avLst>
          </a:prstGeom>
          <a:solidFill>
            <a:srgbClr val="FEE2E2"/>
          </a:solidFill>
          <a:ln/>
        </p:spPr>
        <p:txBody>
          <a:bodyPr wrap="square" rtlCol="0" anchor="ctr"/>
          <a:lstStyle/>
          <a:p>
            <a:pPr indent="0" marL="0">
              <a:buNone/>
            </a:pPr>
            <a:endParaRPr lang="en-US" dirty="0"/>
          </a:p>
        </p:txBody>
      </p:sp>
      <p:sp>
        <p:nvSpPr>
          <p:cNvPr id="5" name="Text 1"/>
          <p:cNvSpPr/>
          <p:nvPr/>
        </p:nvSpPr>
        <p:spPr>
          <a:xfrm>
            <a:off x="8060829" y="257175"/>
            <a:ext cx="683121" cy="126609"/>
          </a:xfrm>
          <a:prstGeom prst="rect">
            <a:avLst/>
          </a:prstGeom>
          <a:noFill/>
          <a:ln/>
        </p:spPr>
        <p:txBody>
          <a:bodyPr wrap="none" lIns="0" tIns="0" rIns="0" bIns="0" rtlCol="0" anchor="t"/>
          <a:lstStyle/>
          <a:p>
            <a:pPr algn="l" indent="0" marL="0">
              <a:lnSpc>
                <a:spcPts val="1097"/>
              </a:lnSpc>
              <a:buNone/>
            </a:pPr>
            <a:r>
              <a:rPr lang="en-US" sz="800" dirty="0">
                <a:solidFill>
                  <a:srgbClr val="DC2626"/>
                </a:solidFill>
                <a:latin typeface="Carlito" pitchFamily="34" charset="0"/>
                <a:ea typeface="Carlito" pitchFamily="34" charset="-122"/>
                <a:cs typeface="Carlito" pitchFamily="34" charset="-120"/>
              </a:rPr>
              <a:t>هل تعلم؟</a:t>
            </a:r>
            <a:endParaRPr lang="en-US" sz="800" dirty="0"/>
          </a:p>
        </p:txBody>
      </p:sp>
      <p:sp>
        <p:nvSpPr>
          <p:cNvPr id="6" name="Text 2"/>
          <p:cNvSpPr/>
          <p:nvPr/>
        </p:nvSpPr>
        <p:spPr>
          <a:xfrm>
            <a:off x="8529638" y="255389"/>
            <a:ext cx="114300" cy="114300"/>
          </a:xfrm>
          <a:prstGeom prst="rect">
            <a:avLst/>
          </a:prstGeom>
          <a:noFill/>
          <a:ln/>
        </p:spPr>
        <p:txBody>
          <a:bodyPr wrap="none" lIns="0" tIns="0" rIns="0" bIns="0" rtlCol="0" anchor="ctr"/>
          <a:lstStyle/>
          <a:p>
            <a:pPr algn="ctr" indent="0" marL="0">
              <a:buNone/>
            </a:pPr>
            <a:r>
              <a:rPr lang="en-US" sz="1125" dirty="0">
                <a:solidFill>
                  <a:srgbClr val="DC2626"/>
                </a:solidFill>
                <a:latin typeface="Segoe UI Symbol" pitchFamily="34" charset="0"/>
                <a:ea typeface="Segoe UI Symbol" pitchFamily="34" charset="-122"/>
                <a:cs typeface="Segoe UI Symbol" pitchFamily="34" charset="-120"/>
              </a:rPr>
              <a:t>✦</a:t>
            </a:r>
            <a:endParaRPr lang="en-US" sz="1125" dirty="0"/>
          </a:p>
        </p:txBody>
      </p:sp>
      <p:sp>
        <p:nvSpPr>
          <p:cNvPr id="7" name="Text 3"/>
          <p:cNvSpPr/>
          <p:nvPr/>
        </p:nvSpPr>
        <p:spPr>
          <a:xfrm>
            <a:off x="7184380" y="253603"/>
            <a:ext cx="809514" cy="164592"/>
          </a:xfrm>
          <a:prstGeom prst="rect">
            <a:avLst/>
          </a:prstGeom>
          <a:noFill/>
          <a:ln/>
        </p:spPr>
        <p:txBody>
          <a:bodyPr wrap="none" lIns="0" tIns="0" rIns="0" bIns="0" rtlCol="0" anchor="t"/>
          <a:lstStyle/>
          <a:p>
            <a:pPr algn="l" indent="0" marL="0">
              <a:lnSpc>
                <a:spcPts val="928"/>
              </a:lnSpc>
              <a:buNone/>
            </a:pPr>
            <a:r>
              <a:rPr lang="en-US" sz="619" dirty="0">
                <a:solidFill>
                  <a:srgbClr val="64748B"/>
                </a:solidFill>
                <a:latin typeface="Carlito" pitchFamily="34" charset="0"/>
                <a:ea typeface="Carlito" pitchFamily="34" charset="-122"/>
                <a:cs typeface="Carlito" pitchFamily="34" charset="-120"/>
              </a:rPr>
              <a:t>الشريحة 13 من 14</a:t>
            </a:r>
            <a:endParaRPr lang="en-US" sz="619" dirty="0"/>
          </a:p>
        </p:txBody>
      </p:sp>
      <p:sp>
        <p:nvSpPr>
          <p:cNvPr id="8" name="Text 4"/>
          <p:cNvSpPr/>
          <p:nvPr/>
        </p:nvSpPr>
        <p:spPr>
          <a:xfrm>
            <a:off x="5670463" y="482203"/>
            <a:ext cx="3227161" cy="324041"/>
          </a:xfrm>
          <a:prstGeom prst="rect">
            <a:avLst/>
          </a:prstGeom>
          <a:noFill/>
          <a:ln/>
        </p:spPr>
        <p:txBody>
          <a:bodyPr wrap="none" lIns="0" tIns="0" rIns="0" bIns="0" rtlCol="0" anchor="t"/>
          <a:lstStyle/>
          <a:p>
            <a:pPr algn="l" indent="0" marL="0">
              <a:lnSpc>
                <a:spcPts val="2363"/>
              </a:lnSpc>
              <a:buNone/>
            </a:pPr>
            <a:r>
              <a:rPr lang="en-US" sz="2250" b="1" dirty="0">
                <a:solidFill>
                  <a:srgbClr val="1E40AF"/>
                </a:solidFill>
                <a:latin typeface="Carlito" pitchFamily="34" charset="0"/>
                <a:ea typeface="Carlito" pitchFamily="34" charset="-122"/>
                <a:cs typeface="Carlito" pitchFamily="34" charset="-120"/>
              </a:rPr>
              <a:t>حقائق تشريحية مذهلة</a:t>
            </a:r>
            <a:endParaRPr lang="en-US" sz="2250" dirty="0"/>
          </a:p>
        </p:txBody>
      </p:sp>
      <p:sp>
        <p:nvSpPr>
          <p:cNvPr id="9" name="Text 5"/>
          <p:cNvSpPr/>
          <p:nvPr/>
        </p:nvSpPr>
        <p:spPr>
          <a:xfrm>
            <a:off x="8343900" y="839391"/>
            <a:ext cx="400050" cy="28575"/>
          </a:xfrm>
          <a:prstGeom prst="roundRect">
            <a:avLst>
              <a:gd name="adj" fmla="val 66667"/>
            </a:avLst>
          </a:prstGeom>
          <a:solidFill>
            <a:srgbClr val="DC2626"/>
          </a:solidFill>
          <a:ln/>
        </p:spPr>
        <p:txBody>
          <a:bodyPr wrap="square" rtlCol="0" anchor="ctr"/>
          <a:lstStyle/>
          <a:p>
            <a:pPr indent="0" marL="0">
              <a:buNone/>
            </a:pPr>
            <a:endParaRPr lang="en-US" dirty="0"/>
          </a:p>
        </p:txBody>
      </p:sp>
      <p:sp>
        <p:nvSpPr>
          <p:cNvPr id="10" name="Text 6"/>
          <p:cNvSpPr/>
          <p:nvPr/>
        </p:nvSpPr>
        <p:spPr>
          <a:xfrm>
            <a:off x="400050" y="925116"/>
            <a:ext cx="8636000" cy="185166"/>
          </a:xfrm>
          <a:prstGeom prst="rect">
            <a:avLst/>
          </a:prstGeom>
          <a:noFill/>
          <a:ln/>
        </p:spPr>
        <p:txBody>
          <a:bodyPr wrap="square" lIns="0" tIns="0" rIns="0" bIns="0" rtlCol="0" anchor="t"/>
          <a:lstStyle/>
          <a:p>
            <a:pPr algn="l" indent="0" marL="0">
              <a:lnSpc>
                <a:spcPts val="1350"/>
              </a:lnSpc>
              <a:buNone/>
            </a:pPr>
            <a:r>
              <a:rPr lang="en-US" sz="844" dirty="0">
                <a:solidFill>
                  <a:srgbClr val="334155"/>
                </a:solidFill>
                <a:latin typeface="Carlito" pitchFamily="34" charset="0"/>
                <a:ea typeface="Carlito" pitchFamily="34" charset="-122"/>
                <a:cs typeface="Carlito" pitchFamily="34" charset="-120"/>
              </a:rPr>
              <a:t>أرقام تجسّد عبقرية تصميم الجسم البشري</a:t>
            </a:r>
            <a:endParaRPr lang="en-US" sz="844" dirty="0"/>
          </a:p>
        </p:txBody>
      </p:sp>
      <p:sp>
        <p:nvSpPr>
          <p:cNvPr id="11" name="Text 7"/>
          <p:cNvSpPr/>
          <p:nvPr/>
        </p:nvSpPr>
        <p:spPr>
          <a:xfrm>
            <a:off x="4629150" y="1239441"/>
            <a:ext cx="4114800" cy="1571625"/>
          </a:xfrm>
          <a:prstGeom prst="roundRect">
            <a:avLst>
              <a:gd name="adj" fmla="val 10909"/>
            </a:avLst>
          </a:prstGeom>
          <a:solidFill>
            <a:srgbClr val="F8FAFC"/>
          </a:solidFill>
          <a:ln/>
          <a:effectLst>
            <a:outerShdw sx="100000" sy="100000" kx="0" ky="0" algn="bl" rotWithShape="0" blurRad="228600" dist="57150" dir="5400000">
              <a:srgbClr val="0F172A">
                <a:alpha val="5000"/>
              </a:srgbClr>
            </a:outerShdw>
          </a:effectLst>
        </p:spPr>
        <p:txBody>
          <a:bodyPr wrap="square" rtlCol="0" anchor="ctr"/>
          <a:lstStyle/>
          <a:p>
            <a:pPr indent="0" marL="0">
              <a:buNone/>
            </a:pPr>
            <a:endParaRPr lang="en-US" dirty="0"/>
          </a:p>
        </p:txBody>
      </p:sp>
      <p:sp>
        <p:nvSpPr>
          <p:cNvPr id="12" name="Shape 8"/>
          <p:cNvSpPr/>
          <p:nvPr/>
        </p:nvSpPr>
        <p:spPr>
          <a:xfrm>
            <a:off x="4629150" y="1243013"/>
            <a:ext cx="4114800" cy="0"/>
          </a:xfrm>
          <a:prstGeom prst="line">
            <a:avLst/>
          </a:prstGeom>
          <a:noFill/>
          <a:ln w="7144">
            <a:solidFill>
              <a:srgbClr val="E2E8F0"/>
            </a:solidFill>
            <a:prstDash val="solid"/>
          </a:ln>
        </p:spPr>
      </p:sp>
      <p:sp>
        <p:nvSpPr>
          <p:cNvPr id="13" name="Shape 9"/>
          <p:cNvSpPr/>
          <p:nvPr/>
        </p:nvSpPr>
        <p:spPr>
          <a:xfrm>
            <a:off x="8726091" y="1239441"/>
            <a:ext cx="0" cy="1571625"/>
          </a:xfrm>
          <a:prstGeom prst="line">
            <a:avLst/>
          </a:prstGeom>
          <a:noFill/>
          <a:ln w="35719">
            <a:solidFill>
              <a:srgbClr val="1E40AF"/>
            </a:solidFill>
            <a:prstDash val="solid"/>
          </a:ln>
        </p:spPr>
      </p:sp>
      <p:sp>
        <p:nvSpPr>
          <p:cNvPr id="14" name="Shape 10"/>
          <p:cNvSpPr/>
          <p:nvPr/>
        </p:nvSpPr>
        <p:spPr>
          <a:xfrm>
            <a:off x="4629150" y="2807494"/>
            <a:ext cx="4114800" cy="0"/>
          </a:xfrm>
          <a:prstGeom prst="line">
            <a:avLst/>
          </a:prstGeom>
          <a:noFill/>
          <a:ln w="7144">
            <a:solidFill>
              <a:srgbClr val="E2E8F0"/>
            </a:solidFill>
            <a:prstDash val="solid"/>
          </a:ln>
        </p:spPr>
      </p:sp>
      <p:sp>
        <p:nvSpPr>
          <p:cNvPr id="15" name="Shape 11"/>
          <p:cNvSpPr/>
          <p:nvPr/>
        </p:nvSpPr>
        <p:spPr>
          <a:xfrm>
            <a:off x="4632722" y="1239441"/>
            <a:ext cx="0" cy="1571625"/>
          </a:xfrm>
          <a:prstGeom prst="line">
            <a:avLst/>
          </a:prstGeom>
          <a:noFill/>
          <a:ln w="7144">
            <a:solidFill>
              <a:srgbClr val="E2E8F0"/>
            </a:solidFill>
            <a:prstDash val="solid"/>
          </a:ln>
        </p:spPr>
      </p:sp>
      <p:sp>
        <p:nvSpPr>
          <p:cNvPr id="16" name="Text 12"/>
          <p:cNvSpPr/>
          <p:nvPr/>
        </p:nvSpPr>
        <p:spPr>
          <a:xfrm>
            <a:off x="4764881" y="1346597"/>
            <a:ext cx="928688" cy="928688"/>
          </a:xfrm>
          <a:prstGeom prst="rect">
            <a:avLst/>
          </a:prstGeom>
          <a:noFill/>
          <a:ln/>
        </p:spPr>
        <p:txBody>
          <a:bodyPr wrap="none" lIns="0" tIns="0" rIns="0" bIns="0" rtlCol="0" anchor="ctr"/>
          <a:lstStyle/>
          <a:p>
            <a:pPr algn="ctr" indent="0" marL="0">
              <a:buNone/>
            </a:pPr>
            <a:r>
              <a:rPr lang="en-US" sz="4800" dirty="0">
                <a:solidFill>
                  <a:srgbClr val="1E40AF"/>
                </a:solidFill>
                <a:latin typeface="Segoe UI Symbol" pitchFamily="34" charset="0"/>
                <a:ea typeface="Segoe UI Symbol" pitchFamily="34" charset="-122"/>
                <a:cs typeface="Segoe UI Symbol" pitchFamily="34" charset="-120"/>
              </a:rPr>
              <a:t>◐</a:t>
            </a:r>
            <a:endParaRPr lang="en-US" sz="4800" dirty="0"/>
          </a:p>
        </p:txBody>
      </p:sp>
      <p:sp>
        <p:nvSpPr>
          <p:cNvPr id="17" name="Text 13"/>
          <p:cNvSpPr/>
          <p:nvPr/>
        </p:nvSpPr>
        <p:spPr>
          <a:xfrm>
            <a:off x="400050" y="1239441"/>
            <a:ext cx="4114800" cy="1571625"/>
          </a:xfrm>
          <a:prstGeom prst="roundRect">
            <a:avLst>
              <a:gd name="adj" fmla="val 10909"/>
            </a:avLst>
          </a:prstGeom>
          <a:solidFill>
            <a:srgbClr val="F8FAFC"/>
          </a:solidFill>
          <a:ln/>
          <a:effectLst>
            <a:outerShdw sx="100000" sy="100000" kx="0" ky="0" algn="bl" rotWithShape="0" blurRad="228600" dist="57150" dir="5400000">
              <a:srgbClr val="0F172A">
                <a:alpha val="5000"/>
              </a:srgbClr>
            </a:outerShdw>
          </a:effectLst>
        </p:spPr>
        <p:txBody>
          <a:bodyPr wrap="square" rtlCol="0" anchor="ctr"/>
          <a:lstStyle/>
          <a:p>
            <a:pPr indent="0" marL="0">
              <a:buNone/>
            </a:pPr>
            <a:endParaRPr lang="en-US" dirty="0"/>
          </a:p>
        </p:txBody>
      </p:sp>
      <p:sp>
        <p:nvSpPr>
          <p:cNvPr id="18" name="Shape 14"/>
          <p:cNvSpPr/>
          <p:nvPr/>
        </p:nvSpPr>
        <p:spPr>
          <a:xfrm>
            <a:off x="400050" y="1243013"/>
            <a:ext cx="4114800" cy="0"/>
          </a:xfrm>
          <a:prstGeom prst="line">
            <a:avLst/>
          </a:prstGeom>
          <a:noFill/>
          <a:ln w="7144">
            <a:solidFill>
              <a:srgbClr val="E2E8F0"/>
            </a:solidFill>
            <a:prstDash val="solid"/>
          </a:ln>
        </p:spPr>
      </p:sp>
      <p:sp>
        <p:nvSpPr>
          <p:cNvPr id="19" name="Shape 15"/>
          <p:cNvSpPr/>
          <p:nvPr/>
        </p:nvSpPr>
        <p:spPr>
          <a:xfrm>
            <a:off x="4496991" y="1239441"/>
            <a:ext cx="0" cy="1571625"/>
          </a:xfrm>
          <a:prstGeom prst="line">
            <a:avLst/>
          </a:prstGeom>
          <a:noFill/>
          <a:ln w="35719">
            <a:solidFill>
              <a:srgbClr val="DC2626"/>
            </a:solidFill>
            <a:prstDash val="solid"/>
          </a:ln>
        </p:spPr>
      </p:sp>
      <p:sp>
        <p:nvSpPr>
          <p:cNvPr id="20" name="Shape 16"/>
          <p:cNvSpPr/>
          <p:nvPr/>
        </p:nvSpPr>
        <p:spPr>
          <a:xfrm>
            <a:off x="400050" y="2807494"/>
            <a:ext cx="4114800" cy="0"/>
          </a:xfrm>
          <a:prstGeom prst="line">
            <a:avLst/>
          </a:prstGeom>
          <a:noFill/>
          <a:ln w="7144">
            <a:solidFill>
              <a:srgbClr val="E2E8F0"/>
            </a:solidFill>
            <a:prstDash val="solid"/>
          </a:ln>
        </p:spPr>
      </p:sp>
      <p:sp>
        <p:nvSpPr>
          <p:cNvPr id="21" name="Shape 17"/>
          <p:cNvSpPr/>
          <p:nvPr/>
        </p:nvSpPr>
        <p:spPr>
          <a:xfrm>
            <a:off x="403622" y="1239441"/>
            <a:ext cx="0" cy="1571625"/>
          </a:xfrm>
          <a:prstGeom prst="line">
            <a:avLst/>
          </a:prstGeom>
          <a:noFill/>
          <a:ln w="7144">
            <a:solidFill>
              <a:srgbClr val="E2E8F0"/>
            </a:solidFill>
            <a:prstDash val="solid"/>
          </a:ln>
        </p:spPr>
      </p:sp>
      <p:sp>
        <p:nvSpPr>
          <p:cNvPr id="22" name="Text 18"/>
          <p:cNvSpPr/>
          <p:nvPr/>
        </p:nvSpPr>
        <p:spPr>
          <a:xfrm>
            <a:off x="535781" y="1346597"/>
            <a:ext cx="928688" cy="928688"/>
          </a:xfrm>
          <a:prstGeom prst="rect">
            <a:avLst/>
          </a:prstGeom>
          <a:noFill/>
          <a:ln/>
        </p:spPr>
        <p:txBody>
          <a:bodyPr wrap="none" lIns="0" tIns="0" rIns="0" bIns="0" rtlCol="0" anchor="ctr"/>
          <a:lstStyle/>
          <a:p>
            <a:pPr algn="ctr" indent="0" marL="0">
              <a:buNone/>
            </a:pPr>
            <a:r>
              <a:rPr lang="en-US" sz="4800" dirty="0">
                <a:solidFill>
                  <a:srgbClr val="DC2626"/>
                </a:solidFill>
                <a:latin typeface="Segoe UI Symbol" pitchFamily="34" charset="0"/>
                <a:ea typeface="Segoe UI Symbol" pitchFamily="34" charset="-122"/>
                <a:cs typeface="Segoe UI Symbol" pitchFamily="34" charset="-120"/>
              </a:rPr>
              <a:t>♥</a:t>
            </a:r>
            <a:endParaRPr lang="en-US" sz="4800" dirty="0"/>
          </a:p>
        </p:txBody>
      </p:sp>
      <p:sp>
        <p:nvSpPr>
          <p:cNvPr id="23" name="Text 19"/>
          <p:cNvSpPr/>
          <p:nvPr/>
        </p:nvSpPr>
        <p:spPr>
          <a:xfrm>
            <a:off x="4629150" y="2925366"/>
            <a:ext cx="4114800" cy="1571625"/>
          </a:xfrm>
          <a:prstGeom prst="roundRect">
            <a:avLst>
              <a:gd name="adj" fmla="val 10909"/>
            </a:avLst>
          </a:prstGeom>
          <a:solidFill>
            <a:srgbClr val="F8FAFC"/>
          </a:solidFill>
          <a:ln/>
          <a:effectLst>
            <a:outerShdw sx="100000" sy="100000" kx="0" ky="0" algn="bl" rotWithShape="0" blurRad="228600" dist="57150" dir="5400000">
              <a:srgbClr val="0F172A">
                <a:alpha val="5000"/>
              </a:srgbClr>
            </a:outerShdw>
          </a:effectLst>
        </p:spPr>
        <p:txBody>
          <a:bodyPr wrap="square" rtlCol="0" anchor="ctr"/>
          <a:lstStyle/>
          <a:p>
            <a:pPr indent="0" marL="0">
              <a:buNone/>
            </a:pPr>
            <a:endParaRPr lang="en-US" dirty="0"/>
          </a:p>
        </p:txBody>
      </p:sp>
      <p:sp>
        <p:nvSpPr>
          <p:cNvPr id="24" name="Shape 20"/>
          <p:cNvSpPr/>
          <p:nvPr/>
        </p:nvSpPr>
        <p:spPr>
          <a:xfrm>
            <a:off x="4629150" y="2928938"/>
            <a:ext cx="4114800" cy="0"/>
          </a:xfrm>
          <a:prstGeom prst="line">
            <a:avLst/>
          </a:prstGeom>
          <a:noFill/>
          <a:ln w="7144">
            <a:solidFill>
              <a:srgbClr val="E2E8F0"/>
            </a:solidFill>
            <a:prstDash val="solid"/>
          </a:ln>
        </p:spPr>
      </p:sp>
      <p:sp>
        <p:nvSpPr>
          <p:cNvPr id="25" name="Shape 21"/>
          <p:cNvSpPr/>
          <p:nvPr/>
        </p:nvSpPr>
        <p:spPr>
          <a:xfrm>
            <a:off x="8726091" y="2925366"/>
            <a:ext cx="0" cy="1571625"/>
          </a:xfrm>
          <a:prstGeom prst="line">
            <a:avLst/>
          </a:prstGeom>
          <a:noFill/>
          <a:ln w="35719">
            <a:solidFill>
              <a:srgbClr val="0D9488"/>
            </a:solidFill>
            <a:prstDash val="solid"/>
          </a:ln>
        </p:spPr>
      </p:sp>
      <p:sp>
        <p:nvSpPr>
          <p:cNvPr id="26" name="Shape 22"/>
          <p:cNvSpPr/>
          <p:nvPr/>
        </p:nvSpPr>
        <p:spPr>
          <a:xfrm>
            <a:off x="4629150" y="4493419"/>
            <a:ext cx="4114800" cy="0"/>
          </a:xfrm>
          <a:prstGeom prst="line">
            <a:avLst/>
          </a:prstGeom>
          <a:noFill/>
          <a:ln w="7144">
            <a:solidFill>
              <a:srgbClr val="E2E8F0"/>
            </a:solidFill>
            <a:prstDash val="solid"/>
          </a:ln>
        </p:spPr>
      </p:sp>
      <p:sp>
        <p:nvSpPr>
          <p:cNvPr id="27" name="Shape 23"/>
          <p:cNvSpPr/>
          <p:nvPr/>
        </p:nvSpPr>
        <p:spPr>
          <a:xfrm>
            <a:off x="4632722" y="2925366"/>
            <a:ext cx="0" cy="1571625"/>
          </a:xfrm>
          <a:prstGeom prst="line">
            <a:avLst/>
          </a:prstGeom>
          <a:noFill/>
          <a:ln w="7144">
            <a:solidFill>
              <a:srgbClr val="E2E8F0"/>
            </a:solidFill>
            <a:prstDash val="solid"/>
          </a:ln>
        </p:spPr>
      </p:sp>
      <p:sp>
        <p:nvSpPr>
          <p:cNvPr id="28" name="Text 24"/>
          <p:cNvSpPr/>
          <p:nvPr/>
        </p:nvSpPr>
        <p:spPr>
          <a:xfrm>
            <a:off x="4764881" y="3032522"/>
            <a:ext cx="928688" cy="928688"/>
          </a:xfrm>
          <a:prstGeom prst="rect">
            <a:avLst/>
          </a:prstGeom>
          <a:noFill/>
          <a:ln/>
        </p:spPr>
        <p:txBody>
          <a:bodyPr wrap="none" lIns="0" tIns="0" rIns="0" bIns="0" rtlCol="0" anchor="ctr"/>
          <a:lstStyle/>
          <a:p>
            <a:pPr algn="ctr" indent="0" marL="0">
              <a:buNone/>
            </a:pPr>
            <a:r>
              <a:rPr lang="en-US" sz="4800" dirty="0">
                <a:solidFill>
                  <a:srgbClr val="0D9488"/>
                </a:solidFill>
                <a:latin typeface="Segoe UI Symbol" pitchFamily="34" charset="0"/>
                <a:ea typeface="Segoe UI Symbol" pitchFamily="34" charset="-122"/>
                <a:cs typeface="Segoe UI Symbol" pitchFamily="34" charset="-120"/>
              </a:rPr>
              <a:t>◯</a:t>
            </a:r>
            <a:endParaRPr lang="en-US" sz="4800" dirty="0"/>
          </a:p>
        </p:txBody>
      </p:sp>
      <p:sp>
        <p:nvSpPr>
          <p:cNvPr id="29" name="Text 25"/>
          <p:cNvSpPr/>
          <p:nvPr/>
        </p:nvSpPr>
        <p:spPr>
          <a:xfrm>
            <a:off x="400050" y="2925366"/>
            <a:ext cx="4114800" cy="1571625"/>
          </a:xfrm>
          <a:prstGeom prst="roundRect">
            <a:avLst>
              <a:gd name="adj" fmla="val 10909"/>
            </a:avLst>
          </a:prstGeom>
          <a:solidFill>
            <a:srgbClr val="F8FAFC"/>
          </a:solidFill>
          <a:ln/>
          <a:effectLst>
            <a:outerShdw sx="100000" sy="100000" kx="0" ky="0" algn="bl" rotWithShape="0" blurRad="228600" dist="57150" dir="5400000">
              <a:srgbClr val="0F172A">
                <a:alpha val="5000"/>
              </a:srgbClr>
            </a:outerShdw>
          </a:effectLst>
        </p:spPr>
        <p:txBody>
          <a:bodyPr wrap="square" rtlCol="0" anchor="ctr"/>
          <a:lstStyle/>
          <a:p>
            <a:pPr indent="0" marL="0">
              <a:buNone/>
            </a:pPr>
            <a:endParaRPr lang="en-US" dirty="0"/>
          </a:p>
        </p:txBody>
      </p:sp>
      <p:sp>
        <p:nvSpPr>
          <p:cNvPr id="30" name="Shape 26"/>
          <p:cNvSpPr/>
          <p:nvPr/>
        </p:nvSpPr>
        <p:spPr>
          <a:xfrm>
            <a:off x="400050" y="2928938"/>
            <a:ext cx="4114800" cy="0"/>
          </a:xfrm>
          <a:prstGeom prst="line">
            <a:avLst/>
          </a:prstGeom>
          <a:noFill/>
          <a:ln w="7144">
            <a:solidFill>
              <a:srgbClr val="E2E8F0"/>
            </a:solidFill>
            <a:prstDash val="solid"/>
          </a:ln>
        </p:spPr>
      </p:sp>
      <p:sp>
        <p:nvSpPr>
          <p:cNvPr id="31" name="Shape 27"/>
          <p:cNvSpPr/>
          <p:nvPr/>
        </p:nvSpPr>
        <p:spPr>
          <a:xfrm>
            <a:off x="4496991" y="2925366"/>
            <a:ext cx="0" cy="1571625"/>
          </a:xfrm>
          <a:prstGeom prst="line">
            <a:avLst/>
          </a:prstGeom>
          <a:noFill/>
          <a:ln w="35719">
            <a:solidFill>
              <a:srgbClr val="1E40AF"/>
            </a:solidFill>
            <a:prstDash val="solid"/>
          </a:ln>
        </p:spPr>
      </p:sp>
      <p:sp>
        <p:nvSpPr>
          <p:cNvPr id="32" name="Shape 28"/>
          <p:cNvSpPr/>
          <p:nvPr/>
        </p:nvSpPr>
        <p:spPr>
          <a:xfrm>
            <a:off x="400050" y="4493419"/>
            <a:ext cx="4114800" cy="0"/>
          </a:xfrm>
          <a:prstGeom prst="line">
            <a:avLst/>
          </a:prstGeom>
          <a:noFill/>
          <a:ln w="7144">
            <a:solidFill>
              <a:srgbClr val="E2E8F0"/>
            </a:solidFill>
            <a:prstDash val="solid"/>
          </a:ln>
        </p:spPr>
      </p:sp>
      <p:sp>
        <p:nvSpPr>
          <p:cNvPr id="33" name="Shape 29"/>
          <p:cNvSpPr/>
          <p:nvPr/>
        </p:nvSpPr>
        <p:spPr>
          <a:xfrm>
            <a:off x="403622" y="2925366"/>
            <a:ext cx="0" cy="1571625"/>
          </a:xfrm>
          <a:prstGeom prst="line">
            <a:avLst/>
          </a:prstGeom>
          <a:noFill/>
          <a:ln w="7144">
            <a:solidFill>
              <a:srgbClr val="E2E8F0"/>
            </a:solidFill>
            <a:prstDash val="solid"/>
          </a:ln>
        </p:spPr>
      </p:sp>
      <p:sp>
        <p:nvSpPr>
          <p:cNvPr id="34" name="Text 30"/>
          <p:cNvSpPr/>
          <p:nvPr/>
        </p:nvSpPr>
        <p:spPr>
          <a:xfrm>
            <a:off x="535781" y="3032522"/>
            <a:ext cx="928688" cy="928688"/>
          </a:xfrm>
          <a:prstGeom prst="rect">
            <a:avLst/>
          </a:prstGeom>
          <a:noFill/>
          <a:ln/>
        </p:spPr>
        <p:txBody>
          <a:bodyPr wrap="none" lIns="0" tIns="0" rIns="0" bIns="0" rtlCol="0" anchor="ctr"/>
          <a:lstStyle/>
          <a:p>
            <a:pPr algn="ctr" indent="0" marL="0">
              <a:buNone/>
            </a:pPr>
            <a:r>
              <a:rPr lang="en-US" sz="4800" dirty="0">
                <a:solidFill>
                  <a:srgbClr val="1E40AF"/>
                </a:solidFill>
                <a:latin typeface="Segoe UI Symbol" pitchFamily="34" charset="0"/>
                <a:ea typeface="Segoe UI Symbol" pitchFamily="34" charset="-122"/>
                <a:cs typeface="Segoe UI Symbol" pitchFamily="34" charset="-120"/>
              </a:rPr>
              <a:t>◐</a:t>
            </a:r>
            <a:endParaRPr lang="en-US" sz="4800" dirty="0"/>
          </a:p>
        </p:txBody>
      </p:sp>
      <p:sp>
        <p:nvSpPr>
          <p:cNvPr id="35" name="Text 31"/>
          <p:cNvSpPr/>
          <p:nvPr/>
        </p:nvSpPr>
        <p:spPr>
          <a:xfrm>
            <a:off x="403622" y="4732734"/>
            <a:ext cx="8336756" cy="278606"/>
          </a:xfrm>
          <a:prstGeom prst="roundRect">
            <a:avLst>
              <a:gd name="adj" fmla="val 34188"/>
            </a:avLst>
          </a:prstGeom>
          <a:solidFill>
            <a:srgbClr val="E2E8F0"/>
          </a:solidFill>
          <a:ln w="7144">
            <a:solidFill>
              <a:srgbClr val="E2E8F0"/>
            </a:solidFill>
            <a:prstDash val="solid"/>
          </a:ln>
        </p:spPr>
        <p:txBody>
          <a:bodyPr wrap="square" rtlCol="0" anchor="ctr"/>
          <a:lstStyle/>
          <a:p>
            <a:pPr indent="0" marL="0">
              <a:buNone/>
            </a:pPr>
            <a:endParaRPr lang="en-US" dirty="0"/>
          </a:p>
        </p:txBody>
      </p:sp>
      <p:sp>
        <p:nvSpPr>
          <p:cNvPr id="36" name="Text 32"/>
          <p:cNvSpPr/>
          <p:nvPr/>
        </p:nvSpPr>
        <p:spPr>
          <a:xfrm>
            <a:off x="8479631" y="4800600"/>
            <a:ext cx="142875" cy="142875"/>
          </a:xfrm>
          <a:prstGeom prst="rect">
            <a:avLst/>
          </a:prstGeom>
          <a:noFill/>
          <a:ln/>
        </p:spPr>
        <p:txBody>
          <a:bodyPr wrap="none" lIns="0" tIns="0" rIns="0" bIns="0" rtlCol="0" anchor="ctr"/>
          <a:lstStyle/>
          <a:p>
            <a:pPr algn="ctr" indent="0" marL="0">
              <a:buNone/>
            </a:pPr>
            <a:r>
              <a:rPr lang="en-US" sz="1406" dirty="0">
                <a:solidFill>
                  <a:srgbClr val="DC2626"/>
                </a:solidFill>
                <a:latin typeface="Segoe UI Symbol" pitchFamily="34" charset="0"/>
                <a:ea typeface="Segoe UI Symbol" pitchFamily="34" charset="-122"/>
                <a:cs typeface="Segoe UI Symbol" pitchFamily="34" charset="-120"/>
              </a:rPr>
              <a:t>◆</a:t>
            </a:r>
            <a:endParaRPr lang="en-US" sz="1406" dirty="0"/>
          </a:p>
        </p:txBody>
      </p:sp>
      <p:sp>
        <p:nvSpPr>
          <p:cNvPr id="37" name="Text 33"/>
          <p:cNvSpPr/>
          <p:nvPr/>
        </p:nvSpPr>
        <p:spPr>
          <a:xfrm>
            <a:off x="5879864" y="4802386"/>
            <a:ext cx="2730596" cy="141089"/>
          </a:xfrm>
          <a:prstGeom prst="rect">
            <a:avLst/>
          </a:prstGeom>
          <a:noFill/>
          <a:ln/>
        </p:spPr>
        <p:txBody>
          <a:bodyPr wrap="square" lIns="0" tIns="0" rIns="0" bIns="0" rtlCol="0" anchor="t"/>
          <a:lstStyle/>
          <a:p>
            <a:pPr algn="l" indent="0" marL="0">
              <a:lnSpc>
                <a:spcPts val="1097"/>
              </a:lnSpc>
              <a:buNone/>
            </a:pPr>
            <a:r>
              <a:rPr lang="en-US" sz="800" b="1" dirty="0">
                <a:solidFill>
                  <a:srgbClr val="0F172A"/>
                </a:solidFill>
                <a:latin typeface="Carlito" pitchFamily="34" charset="0"/>
                <a:ea typeface="Carlito" pitchFamily="34" charset="-122"/>
                <a:cs typeface="Carlito" pitchFamily="34" charset="-120"/>
              </a:rPr>
              <a:t>الجسم البشري</a:t>
            </a:r>
            <a:pPr algn="l" indent="0" marL="0">
              <a:lnSpc>
                <a:spcPts val="1097"/>
              </a:lnSpc>
              <a:buNone/>
            </a:pPr>
            <a:r>
              <a:rPr lang="en-US" sz="800" dirty="0">
                <a:solidFill>
                  <a:srgbClr val="334155"/>
                </a:solidFill>
                <a:latin typeface="Carlito" pitchFamily="34" charset="0"/>
                <a:ea typeface="Carlito" pitchFamily="34" charset="-122"/>
                <a:cs typeface="Carlito" pitchFamily="34" charset="-120"/>
              </a:rPr>
              <a:t> — أعقد آلة بيولوجية معروفة في الكون</a:t>
            </a:r>
            <a:endParaRPr lang="en-US" sz="800" dirty="0"/>
          </a:p>
        </p:txBody>
      </p:sp>
      <p:sp>
        <p:nvSpPr>
          <p:cNvPr id="38" name="Text 34"/>
          <p:cNvSpPr/>
          <p:nvPr/>
        </p:nvSpPr>
        <p:spPr>
          <a:xfrm>
            <a:off x="521494" y="4813102"/>
            <a:ext cx="5322652" cy="130373"/>
          </a:xfrm>
          <a:prstGeom prst="rect">
            <a:avLst/>
          </a:prstGeom>
          <a:noFill/>
          <a:ln/>
        </p:spPr>
        <p:txBody>
          <a:bodyPr wrap="square" lIns="0" tIns="0" rIns="0" bIns="0" rtlCol="0" anchor="t"/>
          <a:lstStyle/>
          <a:p>
            <a:pPr algn="l" indent="0" marL="0">
              <a:lnSpc>
                <a:spcPts val="928"/>
              </a:lnSpc>
              <a:buNone/>
            </a:pPr>
            <a:r>
              <a:rPr lang="en-US" sz="800" dirty="0">
                <a:solidFill>
                  <a:srgbClr val="64748B"/>
                </a:solidFill>
                <a:latin typeface="Liberation Sans Narrow" pitchFamily="34" charset="0"/>
                <a:ea typeface="Liberation Sans Narrow" pitchFamily="34" charset="-122"/>
                <a:cs typeface="Liberation Sans Narrow" pitchFamily="34" charset="-120"/>
              </a:rPr>
              <a:t>13 / 14</a:t>
            </a:r>
            <a:endParaRPr lang="en-US" sz="800" dirty="0"/>
          </a:p>
        </p:txBody>
      </p:sp>
      <p:sp>
        <p:nvSpPr>
          <p:cNvPr id="39" name="Text 35"/>
          <p:cNvSpPr/>
          <p:nvPr/>
        </p:nvSpPr>
        <p:spPr>
          <a:xfrm>
            <a:off x="4836319" y="1494272"/>
            <a:ext cx="3671888" cy="472631"/>
          </a:xfrm>
          <a:prstGeom prst="rect">
            <a:avLst/>
          </a:prstGeom>
          <a:noFill/>
          <a:ln/>
        </p:spPr>
        <p:txBody>
          <a:bodyPr wrap="none" lIns="0" tIns="0" rIns="0" bIns="0" rtlCol="0" anchor="t">
            <a:normAutofit/>
          </a:bodyPr>
          <a:lstStyle/>
          <a:p>
            <a:pPr algn="l" indent="0" marL="0">
              <a:lnSpc>
                <a:spcPts val="3600"/>
              </a:lnSpc>
              <a:buNone/>
            </a:pPr>
            <a:r>
              <a:rPr lang="en-US" sz="3600" b="1" spc="-56" kern="0" dirty="0">
                <a:solidFill>
                  <a:srgbClr val="1E40AF"/>
                </a:solidFill>
                <a:latin typeface="Liberation Sans Narrow" pitchFamily="34" charset="0"/>
                <a:ea typeface="Liberation Sans Narrow" pitchFamily="34" charset="-122"/>
                <a:cs typeface="Liberation Sans Narrow" pitchFamily="34" charset="-120"/>
              </a:rPr>
              <a:t>100,000</a:t>
            </a:r>
            <a:endParaRPr lang="en-US" sz="3600" dirty="0"/>
          </a:p>
        </p:txBody>
      </p:sp>
      <p:sp>
        <p:nvSpPr>
          <p:cNvPr id="40" name="Text 36"/>
          <p:cNvSpPr/>
          <p:nvPr/>
        </p:nvSpPr>
        <p:spPr>
          <a:xfrm>
            <a:off x="4836319" y="1994334"/>
            <a:ext cx="3671888" cy="164592"/>
          </a:xfrm>
          <a:prstGeom prst="rect">
            <a:avLst/>
          </a:prstGeom>
          <a:noFill/>
          <a:ln/>
        </p:spPr>
        <p:txBody>
          <a:bodyPr wrap="none" lIns="0" tIns="0" rIns="0" bIns="0" rtlCol="0" anchor="t"/>
          <a:lstStyle/>
          <a:p>
            <a:pPr algn="l" indent="0" marL="0">
              <a:lnSpc>
                <a:spcPts val="1013"/>
              </a:lnSpc>
              <a:buNone/>
            </a:pPr>
            <a:r>
              <a:rPr lang="en-US" sz="800" spc="23" kern="0" dirty="0">
                <a:solidFill>
                  <a:srgbClr val="64748B"/>
                </a:solidFill>
                <a:latin typeface="Carlito" pitchFamily="34" charset="0"/>
                <a:ea typeface="Carlito" pitchFamily="34" charset="-122"/>
                <a:cs typeface="Carlito" pitchFamily="34" charset="-120"/>
              </a:rPr>
              <a:t>كيلومتر</a:t>
            </a:r>
            <a:endParaRPr lang="en-US" sz="800" dirty="0"/>
          </a:p>
        </p:txBody>
      </p:sp>
      <p:sp>
        <p:nvSpPr>
          <p:cNvPr id="41" name="Text 37"/>
          <p:cNvSpPr/>
          <p:nvPr/>
        </p:nvSpPr>
        <p:spPr>
          <a:xfrm>
            <a:off x="4836319" y="2208647"/>
            <a:ext cx="3671888" cy="173593"/>
          </a:xfrm>
          <a:prstGeom prst="rect">
            <a:avLst/>
          </a:prstGeom>
          <a:noFill/>
          <a:ln/>
        </p:spPr>
        <p:txBody>
          <a:bodyPr wrap="none" lIns="0" tIns="0" rIns="0" bIns="0" rtlCol="0" anchor="t"/>
          <a:lstStyle/>
          <a:p>
            <a:pPr algn="l" indent="0" marL="0">
              <a:lnSpc>
                <a:spcPts val="1266"/>
              </a:lnSpc>
              <a:buNone/>
            </a:pPr>
            <a:r>
              <a:rPr lang="en-US" sz="1013" b="1" dirty="0">
                <a:solidFill>
                  <a:srgbClr val="0F172A"/>
                </a:solidFill>
                <a:latin typeface="Carlito" pitchFamily="34" charset="0"/>
                <a:ea typeface="Carlito" pitchFamily="34" charset="-122"/>
                <a:cs typeface="Carlito" pitchFamily="34" charset="-120"/>
              </a:rPr>
              <a:t>طول الأوعية الدموية</a:t>
            </a:r>
            <a:endParaRPr lang="en-US" sz="1013" dirty="0"/>
          </a:p>
        </p:txBody>
      </p:sp>
      <p:sp>
        <p:nvSpPr>
          <p:cNvPr id="42" name="Text 38"/>
          <p:cNvSpPr/>
          <p:nvPr/>
        </p:nvSpPr>
        <p:spPr>
          <a:xfrm>
            <a:off x="4836319" y="2412243"/>
            <a:ext cx="3781616" cy="169999"/>
          </a:xfrm>
          <a:prstGeom prst="rect">
            <a:avLst/>
          </a:prstGeom>
          <a:noFill/>
          <a:ln/>
        </p:spPr>
        <p:txBody>
          <a:bodyPr wrap="square" lIns="0" tIns="0" rIns="0" bIns="0" rtlCol="0" anchor="t"/>
          <a:lstStyle/>
          <a:p>
            <a:pPr algn="l" indent="0" marL="0">
              <a:lnSpc>
                <a:spcPts val="1133"/>
              </a:lnSpc>
              <a:buNone/>
            </a:pPr>
            <a:r>
              <a:rPr lang="en-US" sz="800" dirty="0">
                <a:solidFill>
                  <a:srgbClr val="334155"/>
                </a:solidFill>
                <a:latin typeface="Carlito" pitchFamily="34" charset="0"/>
                <a:ea typeface="Carlito" pitchFamily="34" charset="-122"/>
                <a:cs typeface="Carlito" pitchFamily="34" charset="-120"/>
              </a:rPr>
              <a:t>يكفي للف حول الأرض 2.5 مرة — كلها داخل جسمك</a:t>
            </a:r>
            <a:endParaRPr lang="en-US" sz="800" dirty="0"/>
          </a:p>
        </p:txBody>
      </p:sp>
      <p:sp>
        <p:nvSpPr>
          <p:cNvPr id="43" name="Text 39"/>
          <p:cNvSpPr/>
          <p:nvPr/>
        </p:nvSpPr>
        <p:spPr>
          <a:xfrm>
            <a:off x="607219" y="1494272"/>
            <a:ext cx="3671888" cy="472631"/>
          </a:xfrm>
          <a:prstGeom prst="rect">
            <a:avLst/>
          </a:prstGeom>
          <a:noFill/>
          <a:ln/>
        </p:spPr>
        <p:txBody>
          <a:bodyPr wrap="none" lIns="0" tIns="0" rIns="0" bIns="0" rtlCol="0" anchor="t">
            <a:normAutofit/>
          </a:bodyPr>
          <a:lstStyle/>
          <a:p>
            <a:pPr algn="l" indent="0" marL="0">
              <a:lnSpc>
                <a:spcPts val="3600"/>
              </a:lnSpc>
              <a:buNone/>
            </a:pPr>
            <a:r>
              <a:rPr lang="en-US" sz="3600" b="1" spc="-56" kern="0" dirty="0">
                <a:solidFill>
                  <a:srgbClr val="DC2626"/>
                </a:solidFill>
                <a:latin typeface="Liberation Sans Narrow" pitchFamily="34" charset="0"/>
                <a:ea typeface="Liberation Sans Narrow" pitchFamily="34" charset="-122"/>
                <a:cs typeface="Liberation Sans Narrow" pitchFamily="34" charset="-120"/>
              </a:rPr>
              <a:t>2.5</a:t>
            </a:r>
            <a:endParaRPr lang="en-US" sz="3600" dirty="0"/>
          </a:p>
        </p:txBody>
      </p:sp>
      <p:sp>
        <p:nvSpPr>
          <p:cNvPr id="44" name="Text 40"/>
          <p:cNvSpPr/>
          <p:nvPr/>
        </p:nvSpPr>
        <p:spPr>
          <a:xfrm>
            <a:off x="607219" y="1994334"/>
            <a:ext cx="3671888" cy="164592"/>
          </a:xfrm>
          <a:prstGeom prst="rect">
            <a:avLst/>
          </a:prstGeom>
          <a:noFill/>
          <a:ln/>
        </p:spPr>
        <p:txBody>
          <a:bodyPr wrap="none" lIns="0" tIns="0" rIns="0" bIns="0" rtlCol="0" anchor="t"/>
          <a:lstStyle/>
          <a:p>
            <a:pPr algn="l" indent="0" marL="0">
              <a:lnSpc>
                <a:spcPts val="1013"/>
              </a:lnSpc>
              <a:buNone/>
            </a:pPr>
            <a:r>
              <a:rPr lang="en-US" sz="800" spc="23" kern="0" dirty="0">
                <a:solidFill>
                  <a:srgbClr val="64748B"/>
                </a:solidFill>
                <a:latin typeface="Carlito" pitchFamily="34" charset="0"/>
                <a:ea typeface="Carlito" pitchFamily="34" charset="-122"/>
                <a:cs typeface="Carlito" pitchFamily="34" charset="-120"/>
              </a:rPr>
              <a:t>مليار نبضة</a:t>
            </a:r>
            <a:endParaRPr lang="en-US" sz="800" dirty="0"/>
          </a:p>
        </p:txBody>
      </p:sp>
      <p:sp>
        <p:nvSpPr>
          <p:cNvPr id="45" name="Text 41"/>
          <p:cNvSpPr/>
          <p:nvPr/>
        </p:nvSpPr>
        <p:spPr>
          <a:xfrm>
            <a:off x="607219" y="2208647"/>
            <a:ext cx="3671888" cy="173593"/>
          </a:xfrm>
          <a:prstGeom prst="rect">
            <a:avLst/>
          </a:prstGeom>
          <a:noFill/>
          <a:ln/>
        </p:spPr>
        <p:txBody>
          <a:bodyPr wrap="none" lIns="0" tIns="0" rIns="0" bIns="0" rtlCol="0" anchor="t"/>
          <a:lstStyle/>
          <a:p>
            <a:pPr algn="l" indent="0" marL="0">
              <a:lnSpc>
                <a:spcPts val="1266"/>
              </a:lnSpc>
              <a:buNone/>
            </a:pPr>
            <a:r>
              <a:rPr lang="en-US" sz="1013" b="1" dirty="0">
                <a:solidFill>
                  <a:srgbClr val="0F172A"/>
                </a:solidFill>
                <a:latin typeface="Carlito" pitchFamily="34" charset="0"/>
                <a:ea typeface="Carlito" pitchFamily="34" charset="-122"/>
                <a:cs typeface="Carlito" pitchFamily="34" charset="-120"/>
              </a:rPr>
              <a:t>نبضات القلب في 70 سنة</a:t>
            </a:r>
            <a:endParaRPr lang="en-US" sz="1013" dirty="0"/>
          </a:p>
        </p:txBody>
      </p:sp>
      <p:sp>
        <p:nvSpPr>
          <p:cNvPr id="46" name="Text 42"/>
          <p:cNvSpPr/>
          <p:nvPr/>
        </p:nvSpPr>
        <p:spPr>
          <a:xfrm>
            <a:off x="607219" y="2412243"/>
            <a:ext cx="3781616" cy="169999"/>
          </a:xfrm>
          <a:prstGeom prst="rect">
            <a:avLst/>
          </a:prstGeom>
          <a:noFill/>
          <a:ln/>
        </p:spPr>
        <p:txBody>
          <a:bodyPr wrap="square" lIns="0" tIns="0" rIns="0" bIns="0" rtlCol="0" anchor="t"/>
          <a:lstStyle/>
          <a:p>
            <a:pPr algn="l" indent="0" marL="0">
              <a:lnSpc>
                <a:spcPts val="1133"/>
              </a:lnSpc>
              <a:buNone/>
            </a:pPr>
            <a:r>
              <a:rPr lang="en-US" sz="800" dirty="0">
                <a:solidFill>
                  <a:srgbClr val="334155"/>
                </a:solidFill>
                <a:latin typeface="Carlito" pitchFamily="34" charset="0"/>
                <a:ea typeface="Carlito" pitchFamily="34" charset="-122"/>
                <a:cs typeface="Carlito" pitchFamily="34" charset="-120"/>
              </a:rPr>
              <a:t>مضخة لا تتوقف — تعمل دون توقف منذ قبل ولادتك</a:t>
            </a:r>
            <a:endParaRPr lang="en-US" sz="800" dirty="0"/>
          </a:p>
        </p:txBody>
      </p:sp>
      <p:sp>
        <p:nvSpPr>
          <p:cNvPr id="47" name="Text 43"/>
          <p:cNvSpPr/>
          <p:nvPr/>
        </p:nvSpPr>
        <p:spPr>
          <a:xfrm>
            <a:off x="4836319" y="3180197"/>
            <a:ext cx="3671887" cy="472631"/>
          </a:xfrm>
          <a:prstGeom prst="rect">
            <a:avLst/>
          </a:prstGeom>
          <a:noFill/>
          <a:ln/>
        </p:spPr>
        <p:txBody>
          <a:bodyPr wrap="none" lIns="0" tIns="0" rIns="0" bIns="0" rtlCol="0" anchor="t">
            <a:normAutofit/>
          </a:bodyPr>
          <a:lstStyle/>
          <a:p>
            <a:pPr algn="l" indent="0" marL="0">
              <a:lnSpc>
                <a:spcPts val="3600"/>
              </a:lnSpc>
              <a:buNone/>
            </a:pPr>
            <a:r>
              <a:rPr lang="en-US" sz="3600" b="1" spc="-56" kern="0" dirty="0">
                <a:solidFill>
                  <a:srgbClr val="0D9488"/>
                </a:solidFill>
                <a:latin typeface="Liberation Sans Narrow" pitchFamily="34" charset="0"/>
                <a:ea typeface="Liberation Sans Narrow" pitchFamily="34" charset="-122"/>
                <a:cs typeface="Liberation Sans Narrow" pitchFamily="34" charset="-120"/>
              </a:rPr>
              <a:t>86</a:t>
            </a:r>
            <a:endParaRPr lang="en-US" sz="3600" dirty="0"/>
          </a:p>
        </p:txBody>
      </p:sp>
      <p:sp>
        <p:nvSpPr>
          <p:cNvPr id="48" name="Text 44"/>
          <p:cNvSpPr/>
          <p:nvPr/>
        </p:nvSpPr>
        <p:spPr>
          <a:xfrm>
            <a:off x="4836319" y="3680259"/>
            <a:ext cx="3671887" cy="164592"/>
          </a:xfrm>
          <a:prstGeom prst="rect">
            <a:avLst/>
          </a:prstGeom>
          <a:noFill/>
          <a:ln/>
        </p:spPr>
        <p:txBody>
          <a:bodyPr wrap="none" lIns="0" tIns="0" rIns="0" bIns="0" rtlCol="0" anchor="t"/>
          <a:lstStyle/>
          <a:p>
            <a:pPr algn="l" indent="0" marL="0">
              <a:lnSpc>
                <a:spcPts val="1013"/>
              </a:lnSpc>
              <a:buNone/>
            </a:pPr>
            <a:r>
              <a:rPr lang="en-US" sz="800" spc="23" kern="0" dirty="0">
                <a:solidFill>
                  <a:srgbClr val="64748B"/>
                </a:solidFill>
                <a:latin typeface="Carlito" pitchFamily="34" charset="0"/>
                <a:ea typeface="Carlito" pitchFamily="34" charset="-122"/>
                <a:cs typeface="Carlito" pitchFamily="34" charset="-120"/>
              </a:rPr>
              <a:t>مليار خلية</a:t>
            </a:r>
            <a:endParaRPr lang="en-US" sz="800" dirty="0"/>
          </a:p>
        </p:txBody>
      </p:sp>
      <p:sp>
        <p:nvSpPr>
          <p:cNvPr id="49" name="Text 45"/>
          <p:cNvSpPr/>
          <p:nvPr/>
        </p:nvSpPr>
        <p:spPr>
          <a:xfrm>
            <a:off x="4836319" y="3894572"/>
            <a:ext cx="3671888" cy="173593"/>
          </a:xfrm>
          <a:prstGeom prst="rect">
            <a:avLst/>
          </a:prstGeom>
          <a:noFill/>
          <a:ln/>
        </p:spPr>
        <p:txBody>
          <a:bodyPr wrap="none" lIns="0" tIns="0" rIns="0" bIns="0" rtlCol="0" anchor="t"/>
          <a:lstStyle/>
          <a:p>
            <a:pPr algn="l" indent="0" marL="0">
              <a:lnSpc>
                <a:spcPts val="1266"/>
              </a:lnSpc>
              <a:buNone/>
            </a:pPr>
            <a:r>
              <a:rPr lang="en-US" sz="1013" b="1" dirty="0">
                <a:solidFill>
                  <a:srgbClr val="0F172A"/>
                </a:solidFill>
                <a:latin typeface="Carlito" pitchFamily="34" charset="0"/>
                <a:ea typeface="Carlito" pitchFamily="34" charset="-122"/>
                <a:cs typeface="Carlito" pitchFamily="34" charset="-120"/>
              </a:rPr>
              <a:t>خلايا الدماغ العصبية</a:t>
            </a:r>
            <a:endParaRPr lang="en-US" sz="1013" dirty="0"/>
          </a:p>
        </p:txBody>
      </p:sp>
      <p:sp>
        <p:nvSpPr>
          <p:cNvPr id="50" name="Text 46"/>
          <p:cNvSpPr/>
          <p:nvPr/>
        </p:nvSpPr>
        <p:spPr>
          <a:xfrm>
            <a:off x="4836319" y="4098168"/>
            <a:ext cx="3671888" cy="169999"/>
          </a:xfrm>
          <a:prstGeom prst="rect">
            <a:avLst/>
          </a:prstGeom>
          <a:noFill/>
          <a:ln/>
        </p:spPr>
        <p:txBody>
          <a:bodyPr wrap="square" lIns="0" tIns="0" rIns="0" bIns="0" rtlCol="0" anchor="t"/>
          <a:lstStyle/>
          <a:p>
            <a:pPr algn="l" indent="0" marL="0">
              <a:lnSpc>
                <a:spcPts val="1133"/>
              </a:lnSpc>
              <a:buNone/>
            </a:pPr>
            <a:r>
              <a:rPr lang="en-US" sz="800" dirty="0">
                <a:solidFill>
                  <a:srgbClr val="334155"/>
                </a:solidFill>
                <a:latin typeface="Carlito" pitchFamily="34" charset="0"/>
                <a:ea typeface="Carlito" pitchFamily="34" charset="-122"/>
                <a:cs typeface="Carlito" pitchFamily="34" charset="-120"/>
              </a:rPr>
              <a:t>كل واحدة تتصل بـ 1000-10000 خلية أخرى = تريليونات الروابط</a:t>
            </a:r>
            <a:endParaRPr lang="en-US" sz="800" dirty="0"/>
          </a:p>
        </p:txBody>
      </p:sp>
      <p:sp>
        <p:nvSpPr>
          <p:cNvPr id="51" name="Text 47"/>
          <p:cNvSpPr/>
          <p:nvPr/>
        </p:nvSpPr>
        <p:spPr>
          <a:xfrm>
            <a:off x="607219" y="3180197"/>
            <a:ext cx="3671888" cy="472631"/>
          </a:xfrm>
          <a:prstGeom prst="rect">
            <a:avLst/>
          </a:prstGeom>
          <a:noFill/>
          <a:ln/>
        </p:spPr>
        <p:txBody>
          <a:bodyPr wrap="none" lIns="0" tIns="0" rIns="0" bIns="0" rtlCol="0" anchor="t">
            <a:normAutofit/>
          </a:bodyPr>
          <a:lstStyle/>
          <a:p>
            <a:pPr algn="l" indent="0" marL="0">
              <a:lnSpc>
                <a:spcPts val="3600"/>
              </a:lnSpc>
              <a:buNone/>
            </a:pPr>
            <a:r>
              <a:rPr lang="en-US" sz="3600" b="1" spc="-56" kern="0" dirty="0">
                <a:solidFill>
                  <a:srgbClr val="1E40AF"/>
                </a:solidFill>
                <a:latin typeface="Carlito" pitchFamily="34" charset="0"/>
                <a:ea typeface="Carlito" pitchFamily="34" charset="-122"/>
                <a:cs typeface="Carlito" pitchFamily="34" charset="-120"/>
              </a:rPr>
              <a:t>5×</a:t>
            </a:r>
            <a:endParaRPr lang="en-US" sz="3600" dirty="0"/>
          </a:p>
        </p:txBody>
      </p:sp>
      <p:sp>
        <p:nvSpPr>
          <p:cNvPr id="52" name="Text 48"/>
          <p:cNvSpPr/>
          <p:nvPr/>
        </p:nvSpPr>
        <p:spPr>
          <a:xfrm>
            <a:off x="607219" y="3680259"/>
            <a:ext cx="3671888" cy="164592"/>
          </a:xfrm>
          <a:prstGeom prst="rect">
            <a:avLst/>
          </a:prstGeom>
          <a:noFill/>
          <a:ln/>
        </p:spPr>
        <p:txBody>
          <a:bodyPr wrap="none" lIns="0" tIns="0" rIns="0" bIns="0" rtlCol="0" anchor="t"/>
          <a:lstStyle/>
          <a:p>
            <a:pPr algn="l" indent="0" marL="0">
              <a:lnSpc>
                <a:spcPts val="1013"/>
              </a:lnSpc>
              <a:buNone/>
            </a:pPr>
            <a:r>
              <a:rPr lang="en-US" sz="800" spc="23" kern="0" dirty="0">
                <a:solidFill>
                  <a:srgbClr val="64748B"/>
                </a:solidFill>
                <a:latin typeface="Carlito" pitchFamily="34" charset="0"/>
                <a:ea typeface="Carlito" pitchFamily="34" charset="-122"/>
                <a:cs typeface="Carlito" pitchFamily="34" charset="-120"/>
              </a:rPr>
              <a:t>أقوى من الفولاذ</a:t>
            </a:r>
            <a:endParaRPr lang="en-US" sz="800" dirty="0"/>
          </a:p>
        </p:txBody>
      </p:sp>
      <p:sp>
        <p:nvSpPr>
          <p:cNvPr id="53" name="Text 49"/>
          <p:cNvSpPr/>
          <p:nvPr/>
        </p:nvSpPr>
        <p:spPr>
          <a:xfrm>
            <a:off x="607219" y="3894572"/>
            <a:ext cx="3671888" cy="173593"/>
          </a:xfrm>
          <a:prstGeom prst="rect">
            <a:avLst/>
          </a:prstGeom>
          <a:noFill/>
          <a:ln/>
        </p:spPr>
        <p:txBody>
          <a:bodyPr wrap="none" lIns="0" tIns="0" rIns="0" bIns="0" rtlCol="0" anchor="t"/>
          <a:lstStyle/>
          <a:p>
            <a:pPr algn="l" indent="0" marL="0">
              <a:lnSpc>
                <a:spcPts val="1266"/>
              </a:lnSpc>
              <a:buNone/>
            </a:pPr>
            <a:r>
              <a:rPr lang="en-US" sz="1013" b="1" dirty="0">
                <a:solidFill>
                  <a:srgbClr val="0F172A"/>
                </a:solidFill>
                <a:latin typeface="Carlito" pitchFamily="34" charset="0"/>
                <a:ea typeface="Carlito" pitchFamily="34" charset="-122"/>
                <a:cs typeface="Carlito" pitchFamily="34" charset="-120"/>
              </a:rPr>
              <a:t>قوة العظم نسبياً</a:t>
            </a:r>
            <a:endParaRPr lang="en-US" sz="1013" dirty="0"/>
          </a:p>
        </p:txBody>
      </p:sp>
      <p:sp>
        <p:nvSpPr>
          <p:cNvPr id="54" name="Text 50"/>
          <p:cNvSpPr/>
          <p:nvPr/>
        </p:nvSpPr>
        <p:spPr>
          <a:xfrm>
            <a:off x="607219" y="4098168"/>
            <a:ext cx="3781616" cy="169999"/>
          </a:xfrm>
          <a:prstGeom prst="rect">
            <a:avLst/>
          </a:prstGeom>
          <a:noFill/>
          <a:ln/>
        </p:spPr>
        <p:txBody>
          <a:bodyPr wrap="square" lIns="0" tIns="0" rIns="0" bIns="0" rtlCol="0" anchor="t"/>
          <a:lstStyle/>
          <a:p>
            <a:pPr algn="l" indent="0" marL="0">
              <a:lnSpc>
                <a:spcPts val="1133"/>
              </a:lnSpc>
              <a:buNone/>
            </a:pPr>
            <a:r>
              <a:rPr lang="en-US" sz="800" dirty="0">
                <a:solidFill>
                  <a:srgbClr val="334155"/>
                </a:solidFill>
                <a:latin typeface="Carlito" pitchFamily="34" charset="0"/>
                <a:ea typeface="Carlito" pitchFamily="34" charset="-122"/>
                <a:cs typeface="Carlito" pitchFamily="34" charset="-120"/>
              </a:rPr>
              <a:t>العظم يتحمّل ضغطاً أعلى من الفولاذ عند تساوي الوزن</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pic>
        <p:nvPicPr>
          <p:cNvPr id="4" name="Image 2" descr="preencoded.png">    </p:cNvPr>
          <p:cNvPicPr>
            <a:picLocks noChangeAspect="1"/>
          </p:cNvPicPr>
          <p:nvPr/>
        </p:nvPicPr>
        <p:blipFill>
          <a:blip r:embed="rId3"/>
          <a:stretch>
            <a:fillRect/>
          </a:stretch>
        </p:blipFill>
        <p:spPr>
          <a:xfrm>
            <a:off x="6572250" y="-1285875"/>
            <a:ext cx="3714750" cy="3714750"/>
          </a:xfrm>
          <a:prstGeom prst="rect">
            <a:avLst/>
          </a:prstGeom>
        </p:spPr>
      </p:pic>
      <p:sp>
        <p:nvSpPr>
          <p:cNvPr id="5" name="Text 0"/>
          <p:cNvSpPr/>
          <p:nvPr/>
        </p:nvSpPr>
        <p:spPr>
          <a:xfrm>
            <a:off x="6572250" y="-1285875"/>
            <a:ext cx="3714750" cy="3714750"/>
          </a:xfrm>
          <a:prstGeom prst="ellipse">
            <a:avLst/>
          </a:prstGeom>
          <a:solidFill>
            <a:srgbClr val="FFFFFF">
              <a:alpha val="0"/>
            </a:srgbClr>
          </a:solidFill>
          <a:ln/>
        </p:spPr>
        <p:txBody>
          <a:bodyPr wrap="square" rtlCol="0" anchor="ctr"/>
          <a:lstStyle/>
          <a:p>
            <a:pPr indent="0" marL="0">
              <a:buNone/>
            </a:pPr>
            <a:endParaRPr lang="en-US" dirty="0"/>
          </a:p>
        </p:txBody>
      </p:sp>
      <p:pic>
        <p:nvPicPr>
          <p:cNvPr id="6" name="Image 3" descr="preencoded.png">    </p:cNvPr>
          <p:cNvPicPr>
            <a:picLocks noChangeAspect="1"/>
          </p:cNvPicPr>
          <p:nvPr/>
        </p:nvPicPr>
        <p:blipFill>
          <a:blip r:embed="rId4"/>
          <a:stretch>
            <a:fillRect/>
          </a:stretch>
        </p:blipFill>
        <p:spPr>
          <a:xfrm>
            <a:off x="-1000125" y="3143250"/>
            <a:ext cx="3286125" cy="3286125"/>
          </a:xfrm>
          <a:prstGeom prst="rect">
            <a:avLst/>
          </a:prstGeom>
        </p:spPr>
      </p:pic>
      <p:sp>
        <p:nvSpPr>
          <p:cNvPr id="7" name="Text 1"/>
          <p:cNvSpPr/>
          <p:nvPr/>
        </p:nvSpPr>
        <p:spPr>
          <a:xfrm>
            <a:off x="-1000125" y="3143250"/>
            <a:ext cx="3286125" cy="3286125"/>
          </a:xfrm>
          <a:prstGeom prst="ellipse">
            <a:avLst/>
          </a:prstGeom>
          <a:solidFill>
            <a:srgbClr val="FFFFFF">
              <a:alpha val="0"/>
            </a:srgbClr>
          </a:solidFill>
          <a:ln/>
        </p:spPr>
        <p:txBody>
          <a:bodyPr wrap="square" rtlCol="0" anchor="ctr"/>
          <a:lstStyle/>
          <a:p>
            <a:pPr indent="0" marL="0">
              <a:buNone/>
            </a:pPr>
            <a:endParaRPr lang="en-US" dirty="0"/>
          </a:p>
        </p:txBody>
      </p:sp>
      <p:pic>
        <p:nvPicPr>
          <p:cNvPr id="8" name="Image 4" descr="preencoded.png">    </p:cNvPr>
          <p:cNvPicPr>
            <a:picLocks noChangeAspect="1"/>
          </p:cNvPicPr>
          <p:nvPr/>
        </p:nvPicPr>
        <p:blipFill>
          <a:blip r:embed="rId5"/>
          <a:stretch>
            <a:fillRect/>
          </a:stretch>
        </p:blipFill>
        <p:spPr>
          <a:xfrm>
            <a:off x="0" y="0"/>
            <a:ext cx="9144000" cy="5143500"/>
          </a:xfrm>
          <a:prstGeom prst="rect">
            <a:avLst/>
          </a:prstGeom>
        </p:spPr>
      </p:pic>
      <p:sp>
        <p:nvSpPr>
          <p:cNvPr id="9" name="Text 2"/>
          <p:cNvSpPr/>
          <p:nvPr/>
        </p:nvSpPr>
        <p:spPr>
          <a:xfrm>
            <a:off x="3851843" y="387248"/>
            <a:ext cx="1440426" cy="293494"/>
          </a:xfrm>
          <a:prstGeom prst="roundRect">
            <a:avLst>
              <a:gd name="adj" fmla="val 3242136"/>
            </a:avLst>
          </a:prstGeom>
          <a:solidFill>
            <a:srgbClr val="1E40AF">
              <a:alpha val="5000"/>
            </a:srgbClr>
          </a:solidFill>
          <a:ln w="7144">
            <a:solidFill>
              <a:srgbClr val="1E40AF"/>
            </a:solidFill>
            <a:prstDash val="solid"/>
          </a:ln>
        </p:spPr>
        <p:txBody>
          <a:bodyPr wrap="square" rtlCol="0" anchor="ctr"/>
          <a:lstStyle/>
          <a:p>
            <a:pPr indent="0" marL="0">
              <a:buNone/>
            </a:pPr>
            <a:endParaRPr lang="en-US" dirty="0"/>
          </a:p>
        </p:txBody>
      </p:sp>
      <p:sp>
        <p:nvSpPr>
          <p:cNvPr id="10" name="Text 3"/>
          <p:cNvSpPr/>
          <p:nvPr/>
        </p:nvSpPr>
        <p:spPr>
          <a:xfrm>
            <a:off x="4010434" y="478631"/>
            <a:ext cx="958937" cy="126609"/>
          </a:xfrm>
          <a:prstGeom prst="rect">
            <a:avLst/>
          </a:prstGeom>
          <a:noFill/>
          <a:ln/>
        </p:spPr>
        <p:txBody>
          <a:bodyPr wrap="none" lIns="0" tIns="0" rIns="0" bIns="0" rtlCol="0" anchor="t"/>
          <a:lstStyle/>
          <a:p>
            <a:pPr algn="l" indent="0" marL="0">
              <a:lnSpc>
                <a:spcPts val="1097"/>
              </a:lnSpc>
              <a:buNone/>
            </a:pPr>
            <a:r>
              <a:rPr lang="en-US" sz="731" dirty="0">
                <a:solidFill>
                  <a:srgbClr val="1E40AF"/>
                </a:solidFill>
                <a:latin typeface="Carlito" pitchFamily="34" charset="0"/>
                <a:ea typeface="Carlito" pitchFamily="34" charset="-122"/>
                <a:cs typeface="Carlito" pitchFamily="34" charset="-120"/>
              </a:rPr>
              <a:t>نهاية العرض · 14 / 14</a:t>
            </a:r>
            <a:endParaRPr lang="en-US" sz="731" dirty="0"/>
          </a:p>
        </p:txBody>
      </p:sp>
      <p:sp>
        <p:nvSpPr>
          <p:cNvPr id="11" name="Text 4"/>
          <p:cNvSpPr/>
          <p:nvPr/>
        </p:nvSpPr>
        <p:spPr>
          <a:xfrm>
            <a:off x="5026521" y="480417"/>
            <a:ext cx="107156" cy="107156"/>
          </a:xfrm>
          <a:prstGeom prst="rect">
            <a:avLst/>
          </a:prstGeom>
          <a:noFill/>
          <a:ln/>
        </p:spPr>
        <p:txBody>
          <a:bodyPr wrap="none" lIns="0" tIns="0" rIns="0" bIns="0" rtlCol="0" anchor="ctr"/>
          <a:lstStyle/>
          <a:p>
            <a:pPr algn="ctr" indent="0" marL="0">
              <a:buNone/>
            </a:pPr>
            <a:r>
              <a:rPr lang="en-US" sz="1055" dirty="0">
                <a:solidFill>
                  <a:srgbClr val="DC2626"/>
                </a:solidFill>
                <a:latin typeface="Segoe UI Symbol" pitchFamily="34" charset="0"/>
                <a:ea typeface="Segoe UI Symbol" pitchFamily="34" charset="-122"/>
                <a:cs typeface="Segoe UI Symbol" pitchFamily="34" charset="-120"/>
              </a:rPr>
              <a:t>⚑</a:t>
            </a:r>
            <a:endParaRPr lang="en-US" sz="1055" dirty="0"/>
          </a:p>
        </p:txBody>
      </p:sp>
      <p:sp>
        <p:nvSpPr>
          <p:cNvPr id="12" name="Text 5"/>
          <p:cNvSpPr/>
          <p:nvPr/>
        </p:nvSpPr>
        <p:spPr>
          <a:xfrm>
            <a:off x="3026606" y="867966"/>
            <a:ext cx="3956352" cy="777673"/>
          </a:xfrm>
          <a:prstGeom prst="rect">
            <a:avLst/>
          </a:prstGeom>
          <a:noFill/>
          <a:ln/>
          <a:effectLst>
            <a:outerShdw sx="100000" sy="100000" kx="0" ky="0" algn="bl" rotWithShape="0" blurRad="152400" dist="38100" dir="5400000">
              <a:srgbClr val="1E40AF">
                <a:alpha val="12000"/>
              </a:srgbClr>
            </a:outerShdw>
          </a:effectLst>
        </p:spPr>
        <p:txBody>
          <a:bodyPr wrap="none" lIns="0" tIns="0" rIns="0" bIns="0" rtlCol="0" anchor="t"/>
          <a:lstStyle/>
          <a:p>
            <a:pPr algn="l" indent="0" marL="0">
              <a:lnSpc>
                <a:spcPts val="5670"/>
              </a:lnSpc>
              <a:buNone/>
            </a:pPr>
            <a:r>
              <a:rPr lang="en-US" sz="5400" b="1" spc="-112" kern="0" dirty="0">
                <a:solidFill>
                  <a:srgbClr val="1E40AF"/>
                </a:solidFill>
                <a:latin typeface="Carlito" pitchFamily="34" charset="0"/>
                <a:ea typeface="Carlito" pitchFamily="34" charset="-122"/>
                <a:cs typeface="Carlito" pitchFamily="34" charset="-120"/>
              </a:rPr>
              <a:t>شكراً لكم</a:t>
            </a:r>
            <a:endParaRPr lang="en-US" sz="5400" dirty="0"/>
          </a:p>
        </p:txBody>
      </p:sp>
      <p:sp>
        <p:nvSpPr>
          <p:cNvPr id="13" name="Text 6"/>
          <p:cNvSpPr/>
          <p:nvPr/>
        </p:nvSpPr>
        <p:spPr>
          <a:xfrm>
            <a:off x="1857375" y="1688046"/>
            <a:ext cx="5429250" cy="509207"/>
          </a:xfrm>
          <a:prstGeom prst="rect">
            <a:avLst/>
          </a:prstGeom>
          <a:noFill/>
          <a:ln/>
        </p:spPr>
        <p:txBody>
          <a:bodyPr wrap="square" lIns="0" tIns="0" rIns="0" bIns="0" rtlCol="0" anchor="t"/>
          <a:lstStyle/>
          <a:p>
            <a:pPr algn="ctr" indent="0" marL="0">
              <a:lnSpc>
                <a:spcPts val="1856"/>
              </a:lnSpc>
              <a:buNone/>
            </a:pPr>
            <a:r>
              <a:rPr lang="en-US" sz="1238" dirty="0">
                <a:solidFill>
                  <a:srgbClr val="334155"/>
                </a:solidFill>
                <a:latin typeface="Carlito" pitchFamily="34" charset="0"/>
                <a:ea typeface="Carlito" pitchFamily="34" charset="-122"/>
                <a:cs typeface="Carlito" pitchFamily="34" charset="-120"/>
              </a:rPr>
              <a:t>الجسم البشري تحفة بيولوجية — كل خلية، كل نسيج، كل جهاز يروي قصة عبقرية التصميم</a:t>
            </a:r>
            <a:endParaRPr lang="en-US" sz="1238" dirty="0"/>
          </a:p>
        </p:txBody>
      </p:sp>
      <p:sp>
        <p:nvSpPr>
          <p:cNvPr id="14" name="Text 7"/>
          <p:cNvSpPr/>
          <p:nvPr/>
        </p:nvSpPr>
        <p:spPr>
          <a:xfrm>
            <a:off x="4343400" y="2288121"/>
            <a:ext cx="457200" cy="28575"/>
          </a:xfrm>
          <a:prstGeom prst="roundRect">
            <a:avLst>
              <a:gd name="adj" fmla="val 66667"/>
            </a:avLst>
          </a:prstGeom>
          <a:solidFill>
            <a:srgbClr val="DC2626"/>
          </a:solidFill>
          <a:ln/>
        </p:spPr>
        <p:txBody>
          <a:bodyPr wrap="square" rtlCol="0" anchor="ctr"/>
          <a:lstStyle/>
          <a:p>
            <a:pPr indent="0" marL="0">
              <a:buNone/>
            </a:pPr>
            <a:endParaRPr lang="en-US" dirty="0"/>
          </a:p>
        </p:txBody>
      </p:sp>
      <p:sp>
        <p:nvSpPr>
          <p:cNvPr id="15" name="Text 8"/>
          <p:cNvSpPr/>
          <p:nvPr/>
        </p:nvSpPr>
        <p:spPr>
          <a:xfrm>
            <a:off x="2923348" y="2416708"/>
            <a:ext cx="3297305" cy="185166"/>
          </a:xfrm>
          <a:prstGeom prst="rect">
            <a:avLst/>
          </a:prstGeom>
          <a:noFill/>
          <a:ln/>
        </p:spPr>
        <p:txBody>
          <a:bodyPr wrap="square" lIns="0" tIns="0" rIns="0" bIns="0" rtlCol="0" anchor="t"/>
          <a:lstStyle/>
          <a:p>
            <a:pPr algn="ctr" indent="0" marL="0">
              <a:lnSpc>
                <a:spcPts val="1350"/>
              </a:lnSpc>
              <a:buNone/>
            </a:pPr>
            <a:r>
              <a:rPr lang="en-US" sz="900" i="1" dirty="0">
                <a:solidFill>
                  <a:srgbClr val="64748B"/>
                </a:solidFill>
                <a:latin typeface="Carlito" pitchFamily="34" charset="0"/>
                <a:ea typeface="Carlito" pitchFamily="34" charset="-122"/>
                <a:cs typeface="Carlito" pitchFamily="34" charset="-120"/>
              </a:rPr>
              <a:t>"من عرف جسمه، عرف نفسه" — علم التشريح طريق الفهم</a:t>
            </a:r>
            <a:endParaRPr lang="en-US" sz="900" dirty="0"/>
          </a:p>
        </p:txBody>
      </p:sp>
      <p:sp>
        <p:nvSpPr>
          <p:cNvPr id="16" name="Text 9"/>
          <p:cNvSpPr/>
          <p:nvPr/>
        </p:nvSpPr>
        <p:spPr>
          <a:xfrm>
            <a:off x="6628172" y="2848905"/>
            <a:ext cx="364331" cy="364331"/>
          </a:xfrm>
          <a:prstGeom prst="roundRect">
            <a:avLst>
              <a:gd name="adj" fmla="val 36601"/>
            </a:avLst>
          </a:prstGeom>
          <a:solidFill>
            <a:srgbClr val="1E40AF">
              <a:alpha val="8000"/>
            </a:srgbClr>
          </a:solidFill>
          <a:ln w="7144">
            <a:solidFill>
              <a:srgbClr val="1E40AF"/>
            </a:solidFill>
            <a:prstDash val="solid"/>
          </a:ln>
        </p:spPr>
        <p:txBody>
          <a:bodyPr wrap="square" rtlCol="0" anchor="ctr"/>
          <a:lstStyle/>
          <a:p>
            <a:pPr indent="0" marL="0">
              <a:buNone/>
            </a:pPr>
            <a:endParaRPr lang="en-US" dirty="0"/>
          </a:p>
        </p:txBody>
      </p:sp>
      <p:sp>
        <p:nvSpPr>
          <p:cNvPr id="17" name="Text 10"/>
          <p:cNvSpPr/>
          <p:nvPr/>
        </p:nvSpPr>
        <p:spPr>
          <a:xfrm>
            <a:off x="6675678" y="2896411"/>
            <a:ext cx="269319" cy="269319"/>
          </a:xfrm>
          <a:prstGeom prst="rect">
            <a:avLst/>
          </a:prstGeom>
          <a:noFill/>
          <a:ln/>
        </p:spPr>
        <p:txBody>
          <a:bodyPr wrap="none" lIns="0" tIns="0" rIns="0" bIns="0" rtlCol="0" anchor="ctr"/>
          <a:lstStyle/>
          <a:p>
            <a:pPr algn="ctr" indent="0" marL="0">
              <a:buNone/>
            </a:pPr>
            <a:r>
              <a:rPr lang="en-US" sz="1828" dirty="0">
                <a:solidFill>
                  <a:srgbClr val="1E40AF"/>
                </a:solidFill>
                <a:latin typeface="Segoe UI Symbol" pitchFamily="34" charset="0"/>
                <a:ea typeface="Segoe UI Symbol" pitchFamily="34" charset="-122"/>
                <a:cs typeface="Segoe UI Symbol" pitchFamily="34" charset="-120"/>
              </a:rPr>
              <a:t>✉</a:t>
            </a:r>
            <a:endParaRPr lang="en-US" sz="1828" dirty="0"/>
          </a:p>
        </p:txBody>
      </p:sp>
      <p:sp>
        <p:nvSpPr>
          <p:cNvPr id="18" name="Text 11"/>
          <p:cNvSpPr/>
          <p:nvPr/>
        </p:nvSpPr>
        <p:spPr>
          <a:xfrm>
            <a:off x="5845293" y="3302533"/>
            <a:ext cx="1930202" cy="172593"/>
          </a:xfrm>
          <a:prstGeom prst="rect">
            <a:avLst/>
          </a:prstGeom>
          <a:noFill/>
          <a:ln/>
        </p:spPr>
        <p:txBody>
          <a:bodyPr wrap="none" lIns="0" tIns="0" rIns="0" bIns="0" rtlCol="0" anchor="t">
            <a:normAutofit/>
          </a:bodyPr>
          <a:lstStyle/>
          <a:p>
            <a:pPr algn="ctr" indent="0" marL="0">
              <a:lnSpc>
                <a:spcPts val="1350"/>
              </a:lnSpc>
              <a:buNone/>
            </a:pPr>
            <a:r>
              <a:rPr lang="en-US" sz="900" b="1" dirty="0">
                <a:solidFill>
                  <a:srgbClr val="0F172A"/>
                </a:solidFill>
                <a:latin typeface="Carlito" pitchFamily="34" charset="0"/>
                <a:ea typeface="Carlito" pitchFamily="34" charset="-122"/>
                <a:cs typeface="Carlito" pitchFamily="34" charset="-120"/>
              </a:rPr>
              <a:t>الأسئلة والنقاش</a:t>
            </a:r>
            <a:endParaRPr lang="en-US" sz="900" dirty="0"/>
          </a:p>
        </p:txBody>
      </p:sp>
      <p:sp>
        <p:nvSpPr>
          <p:cNvPr id="19" name="Text 12"/>
          <p:cNvSpPr/>
          <p:nvPr/>
        </p:nvSpPr>
        <p:spPr>
          <a:xfrm>
            <a:off x="5845293" y="3502558"/>
            <a:ext cx="1930202" cy="164592"/>
          </a:xfrm>
          <a:prstGeom prst="rect">
            <a:avLst/>
          </a:prstGeom>
          <a:noFill/>
          <a:ln/>
        </p:spPr>
        <p:txBody>
          <a:bodyPr wrap="none" lIns="0" tIns="0" rIns="0" bIns="0" rtlCol="0" anchor="t"/>
          <a:lstStyle/>
          <a:p>
            <a:pPr algn="ctr" indent="0" marL="0">
              <a:lnSpc>
                <a:spcPts val="1055"/>
              </a:lnSpc>
              <a:buNone/>
            </a:pPr>
            <a:r>
              <a:rPr lang="en-US" sz="800" dirty="0">
                <a:solidFill>
                  <a:srgbClr val="64748B"/>
                </a:solidFill>
                <a:latin typeface="Carlito" pitchFamily="34" charset="0"/>
                <a:ea typeface="Carlito" pitchFamily="34" charset="-122"/>
                <a:cs typeface="Carlito" pitchFamily="34" charset="-120"/>
              </a:rPr>
              <a:t>مرحّب بأي استفسار</a:t>
            </a:r>
            <a:endParaRPr lang="en-US" sz="800" dirty="0"/>
          </a:p>
        </p:txBody>
      </p:sp>
      <p:sp>
        <p:nvSpPr>
          <p:cNvPr id="20" name="Text 13"/>
          <p:cNvSpPr/>
          <p:nvPr/>
        </p:nvSpPr>
        <p:spPr>
          <a:xfrm>
            <a:off x="4389834" y="2848905"/>
            <a:ext cx="364331" cy="364331"/>
          </a:xfrm>
          <a:prstGeom prst="roundRect">
            <a:avLst>
              <a:gd name="adj" fmla="val 36601"/>
            </a:avLst>
          </a:prstGeom>
          <a:solidFill>
            <a:srgbClr val="1E40AF">
              <a:alpha val="8000"/>
            </a:srgbClr>
          </a:solidFill>
          <a:ln w="7144">
            <a:solidFill>
              <a:srgbClr val="1E40AF"/>
            </a:solidFill>
            <a:prstDash val="solid"/>
          </a:ln>
        </p:spPr>
        <p:txBody>
          <a:bodyPr wrap="square" rtlCol="0" anchor="ctr"/>
          <a:lstStyle/>
          <a:p>
            <a:pPr indent="0" marL="0">
              <a:buNone/>
            </a:pPr>
            <a:endParaRPr lang="en-US" dirty="0"/>
          </a:p>
        </p:txBody>
      </p:sp>
      <p:sp>
        <p:nvSpPr>
          <p:cNvPr id="21" name="Text 14"/>
          <p:cNvSpPr/>
          <p:nvPr/>
        </p:nvSpPr>
        <p:spPr>
          <a:xfrm>
            <a:off x="4437340" y="2896411"/>
            <a:ext cx="269319" cy="269319"/>
          </a:xfrm>
          <a:prstGeom prst="rect">
            <a:avLst/>
          </a:prstGeom>
          <a:noFill/>
          <a:ln/>
        </p:spPr>
        <p:txBody>
          <a:bodyPr wrap="none" lIns="0" tIns="0" rIns="0" bIns="0" rtlCol="0" anchor="ctr"/>
          <a:lstStyle/>
          <a:p>
            <a:pPr algn="ctr" indent="0" marL="0">
              <a:buNone/>
            </a:pPr>
            <a:r>
              <a:rPr lang="en-US" sz="1828" dirty="0">
                <a:solidFill>
                  <a:srgbClr val="1E40AF"/>
                </a:solidFill>
                <a:latin typeface="Segoe UI Symbol" pitchFamily="34" charset="0"/>
                <a:ea typeface="Segoe UI Symbol" pitchFamily="34" charset="-122"/>
                <a:cs typeface="Segoe UI Symbol" pitchFamily="34" charset="-120"/>
              </a:rPr>
              <a:t>▤</a:t>
            </a:r>
            <a:endParaRPr lang="en-US" sz="1828" dirty="0"/>
          </a:p>
        </p:txBody>
      </p:sp>
      <p:sp>
        <p:nvSpPr>
          <p:cNvPr id="22" name="Text 15"/>
          <p:cNvSpPr/>
          <p:nvPr/>
        </p:nvSpPr>
        <p:spPr>
          <a:xfrm>
            <a:off x="3606840" y="3302533"/>
            <a:ext cx="1930319" cy="172593"/>
          </a:xfrm>
          <a:prstGeom prst="rect">
            <a:avLst/>
          </a:prstGeom>
          <a:noFill/>
          <a:ln/>
        </p:spPr>
        <p:txBody>
          <a:bodyPr wrap="none" lIns="0" tIns="0" rIns="0" bIns="0" rtlCol="0" anchor="t">
            <a:normAutofit/>
          </a:bodyPr>
          <a:lstStyle/>
          <a:p>
            <a:pPr algn="ctr" indent="0" marL="0">
              <a:lnSpc>
                <a:spcPts val="1350"/>
              </a:lnSpc>
              <a:buNone/>
            </a:pPr>
            <a:r>
              <a:rPr lang="en-US" sz="900" b="1" dirty="0">
                <a:solidFill>
                  <a:srgbClr val="0F172A"/>
                </a:solidFill>
                <a:latin typeface="Carlito" pitchFamily="34" charset="0"/>
                <a:ea typeface="Carlito" pitchFamily="34" charset="-122"/>
                <a:cs typeface="Carlito" pitchFamily="34" charset="-120"/>
              </a:rPr>
              <a:t>قراءة موصّى بها</a:t>
            </a:r>
            <a:endParaRPr lang="en-US" sz="900" dirty="0"/>
          </a:p>
        </p:txBody>
      </p:sp>
      <p:sp>
        <p:nvSpPr>
          <p:cNvPr id="23" name="Text 16"/>
          <p:cNvSpPr/>
          <p:nvPr/>
        </p:nvSpPr>
        <p:spPr>
          <a:xfrm>
            <a:off x="3579264" y="3502558"/>
            <a:ext cx="1985471" cy="164592"/>
          </a:xfrm>
          <a:prstGeom prst="rect">
            <a:avLst/>
          </a:prstGeom>
          <a:noFill/>
          <a:ln/>
        </p:spPr>
        <p:txBody>
          <a:bodyPr wrap="square" lIns="0" tIns="0" rIns="0" bIns="0" rtlCol="0" anchor="t"/>
          <a:lstStyle/>
          <a:p>
            <a:pPr algn="ctr" indent="0" marL="0">
              <a:lnSpc>
                <a:spcPts val="1055"/>
              </a:lnSpc>
              <a:buNone/>
            </a:pPr>
            <a:r>
              <a:rPr lang="en-US" sz="800" i="1" dirty="0">
                <a:solidFill>
                  <a:srgbClr val="64748B"/>
                </a:solidFill>
                <a:latin typeface="Carlito" pitchFamily="34" charset="0"/>
                <a:ea typeface="Carlito" pitchFamily="34" charset="-122"/>
                <a:cs typeface="Carlito" pitchFamily="34" charset="-120"/>
              </a:rPr>
              <a:t>Gray's Anatomy for Students</a:t>
            </a:r>
            <a:endParaRPr lang="en-US" sz="800" dirty="0"/>
          </a:p>
        </p:txBody>
      </p:sp>
      <p:sp>
        <p:nvSpPr>
          <p:cNvPr id="24" name="Text 17"/>
          <p:cNvSpPr/>
          <p:nvPr/>
        </p:nvSpPr>
        <p:spPr>
          <a:xfrm>
            <a:off x="2151385" y="2848905"/>
            <a:ext cx="364331" cy="364331"/>
          </a:xfrm>
          <a:prstGeom prst="roundRect">
            <a:avLst>
              <a:gd name="adj" fmla="val 36601"/>
            </a:avLst>
          </a:prstGeom>
          <a:solidFill>
            <a:srgbClr val="1E40AF">
              <a:alpha val="8000"/>
            </a:srgbClr>
          </a:solidFill>
          <a:ln w="7144">
            <a:solidFill>
              <a:srgbClr val="1E40AF"/>
            </a:solidFill>
            <a:prstDash val="solid"/>
          </a:ln>
        </p:spPr>
        <p:txBody>
          <a:bodyPr wrap="square" rtlCol="0" anchor="ctr"/>
          <a:lstStyle/>
          <a:p>
            <a:pPr indent="0" marL="0">
              <a:buNone/>
            </a:pPr>
            <a:endParaRPr lang="en-US" dirty="0"/>
          </a:p>
        </p:txBody>
      </p:sp>
      <p:sp>
        <p:nvSpPr>
          <p:cNvPr id="25" name="Text 18"/>
          <p:cNvSpPr/>
          <p:nvPr/>
        </p:nvSpPr>
        <p:spPr>
          <a:xfrm>
            <a:off x="2198891" y="2896411"/>
            <a:ext cx="269319" cy="269319"/>
          </a:xfrm>
          <a:prstGeom prst="rect">
            <a:avLst/>
          </a:prstGeom>
          <a:noFill/>
          <a:ln/>
        </p:spPr>
        <p:txBody>
          <a:bodyPr wrap="none" lIns="0" tIns="0" rIns="0" bIns="0" rtlCol="0" anchor="ctr"/>
          <a:lstStyle/>
          <a:p>
            <a:pPr algn="ctr" indent="0" marL="0">
              <a:buNone/>
            </a:pPr>
            <a:r>
              <a:rPr lang="en-US" sz="1828" dirty="0">
                <a:solidFill>
                  <a:srgbClr val="1E40AF"/>
                </a:solidFill>
                <a:latin typeface="Segoe UI Symbol" pitchFamily="34" charset="0"/>
                <a:ea typeface="Segoe UI Symbol" pitchFamily="34" charset="-122"/>
                <a:cs typeface="Segoe UI Symbol" pitchFamily="34" charset="-120"/>
              </a:rPr>
              <a:t>⌘</a:t>
            </a:r>
            <a:endParaRPr lang="en-US" sz="1828" dirty="0"/>
          </a:p>
        </p:txBody>
      </p:sp>
      <p:sp>
        <p:nvSpPr>
          <p:cNvPr id="26" name="Text 19"/>
          <p:cNvSpPr/>
          <p:nvPr/>
        </p:nvSpPr>
        <p:spPr>
          <a:xfrm>
            <a:off x="1256370" y="3302533"/>
            <a:ext cx="2154473" cy="172593"/>
          </a:xfrm>
          <a:prstGeom prst="rect">
            <a:avLst/>
          </a:prstGeom>
          <a:noFill/>
          <a:ln/>
        </p:spPr>
        <p:txBody>
          <a:bodyPr wrap="none" lIns="0" tIns="0" rIns="0" bIns="0" rtlCol="0" anchor="t">
            <a:normAutofit/>
          </a:bodyPr>
          <a:lstStyle/>
          <a:p>
            <a:pPr algn="ctr" indent="0" marL="0">
              <a:lnSpc>
                <a:spcPts val="1350"/>
              </a:lnSpc>
              <a:buNone/>
            </a:pPr>
            <a:r>
              <a:rPr lang="en-US" sz="900" b="1" dirty="0">
                <a:solidFill>
                  <a:srgbClr val="0F172A"/>
                </a:solidFill>
                <a:latin typeface="Carlito" pitchFamily="34" charset="0"/>
                <a:ea typeface="Carlito" pitchFamily="34" charset="-122"/>
                <a:cs typeface="Carlito" pitchFamily="34" charset="-120"/>
              </a:rPr>
              <a:t>مصادر الصور</a:t>
            </a:r>
            <a:endParaRPr lang="en-US" sz="900" dirty="0"/>
          </a:p>
        </p:txBody>
      </p:sp>
      <p:sp>
        <p:nvSpPr>
          <p:cNvPr id="27" name="Text 20"/>
          <p:cNvSpPr/>
          <p:nvPr/>
        </p:nvSpPr>
        <p:spPr>
          <a:xfrm>
            <a:off x="1340931" y="3502558"/>
            <a:ext cx="1985351" cy="164592"/>
          </a:xfrm>
          <a:prstGeom prst="rect">
            <a:avLst/>
          </a:prstGeom>
          <a:noFill/>
          <a:ln/>
        </p:spPr>
        <p:txBody>
          <a:bodyPr wrap="square" lIns="0" tIns="0" rIns="0" bIns="0" rtlCol="0" anchor="t"/>
          <a:lstStyle/>
          <a:p>
            <a:pPr algn="ctr" indent="0" marL="0">
              <a:lnSpc>
                <a:spcPts val="1055"/>
              </a:lnSpc>
              <a:buNone/>
            </a:pPr>
            <a:r>
              <a:rPr lang="en-US" sz="703" dirty="0">
                <a:solidFill>
                  <a:srgbClr val="64748B"/>
                </a:solidFill>
                <a:latin typeface="Carlito" pitchFamily="34" charset="0"/>
                <a:ea typeface="Carlito" pitchFamily="34" charset="-122"/>
                <a:cs typeface="Carlito" pitchFamily="34" charset="-120"/>
              </a:rPr>
              <a:t>Britannica · Cleveland Clinic · Innerbody</a:t>
            </a:r>
            <a:endParaRPr lang="en-US" sz="703" dirty="0"/>
          </a:p>
        </p:txBody>
      </p:sp>
      <p:sp>
        <p:nvSpPr>
          <p:cNvPr id="28" name="Text 21"/>
          <p:cNvSpPr/>
          <p:nvPr/>
        </p:nvSpPr>
        <p:spPr>
          <a:xfrm>
            <a:off x="3674977" y="4820245"/>
            <a:ext cx="1794157" cy="164592"/>
          </a:xfrm>
          <a:prstGeom prst="rect">
            <a:avLst/>
          </a:prstGeom>
          <a:noFill/>
          <a:ln/>
        </p:spPr>
        <p:txBody>
          <a:bodyPr wrap="square" lIns="0" tIns="0" rIns="0" bIns="0" rtlCol="0" anchor="t"/>
          <a:lstStyle/>
          <a:p>
            <a:pPr algn="ctr" indent="0" marL="0">
              <a:lnSpc>
                <a:spcPts val="970"/>
              </a:lnSpc>
              <a:buNone/>
            </a:pPr>
            <a:r>
              <a:rPr lang="en-US" sz="647" spc="23" kern="0" dirty="0">
                <a:solidFill>
                  <a:srgbClr val="64748B"/>
                </a:solidFill>
                <a:latin typeface="Carlito" pitchFamily="34" charset="0"/>
                <a:ea typeface="Carlito" pitchFamily="34" charset="-122"/>
                <a:cs typeface="Carlito" pitchFamily="34" charset="-120"/>
              </a:rPr>
              <a:t>علم التشريح البشري · عرض تعليمي · 2026</a:t>
            </a:r>
            <a:endParaRPr lang="en-US" sz="64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2026-09-17T08:36:51Z</dcterms:created>
  <dcterms:modified xsi:type="dcterms:W3CDTF">2026-09-17T08:36:51Z</dcterms:modified>
</cp:coreProperties>
</file>